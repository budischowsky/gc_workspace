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führung" id="{653a0d42-ab0b-5595-aaac-29f10fc88ff5}">
          <p14:sldIdLst>
            <p14:sldId id="256"/>
            <p14:sldId id="257"/>
            <p14:sldId id="258"/>
            <p14:sldId id="259"/>
          </p14:sldIdLst>
        </p14:section>
        <p14:section name="Datenbasis" id="{4cd1a797-a5a5-a91a-13e6-e27ccdf06511}">
          <p14:sldIdLst>
            <p14:sldId id="260"/>
            <p14:sldId id="261"/>
            <p14:sldId id="262"/>
          </p14:sldIdLst>
        </p14:section>
        <p14:section name="Identifizierung" id="{df67c360-da82-cf37-5b83-fb99a9364264}">
          <p14:sldIdLst>
            <p14:sldId id="263"/>
            <p14:sldId id="264"/>
            <p14:sldId id="265"/>
            <p14:sldId id="266"/>
            <p14:sldId id="267"/>
          </p14:sldIdLst>
        </p14:section>
        <p14:section name="Quantifizierung und Doppelbestimmung" id="{d809124c-aeb1-f9e1-7d58-33f65c35f885}">
          <p14:sldIdLst>
            <p14:sldId id="268"/>
            <p14:sldId id="269"/>
            <p14:sldId id="270"/>
          </p14:sldIdLst>
        </p14:section>
        <p14:section name="Automation" id="{31cd6a7f-5d07-199f-76df-e22e0323440a}">
          <p14:sldIdLst>
            <p14:sldId id="271"/>
            <p14:sldId id="272"/>
          </p14:sldIdLst>
        </p14:section>
        <p14:section name="Qualität und Fazit" id="{5247c543-01d2-6b42-06b2-c587cb30d627}">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1C24"/>
                </a:solidFill>
                <a:latin typeface="+mj-lt"/>
              </a:defRPr>
            </a:pPr>
            <a:r>
              <a:rPr sz="1200" b="0" i="0" u="none" strike="noStrike">
                <a:solidFill>
                  <a:srgbClr val="0F1C24"/>
                </a:solidFill>
                <a:latin typeface="+mj-lt"/>
              </a:rPr>
              <a:t>Zeilen zur Prüfung je Paar</a:t>
            </a:r>
          </a:p>
        </c:rich>
      </c:tx>
      <c:layout/>
      <c:overlay val="0"/>
    </c:title>
    <c:autoTitleDeleted val="0"/>
    <c:plotArea>
      <c:layout/>
      <c:barChart>
        <c:barDir val="bar"/>
        <c:grouping val="stacked"/>
        <c:varyColors val="0"/>
        <c:ser>
          <c:idx val="0"/>
          <c:order val="0"/>
          <c:tx>
            <c:strRef>
              <c:f>Sheet1!$B$1</c:f>
              <c:strCache>
                <c:ptCount val="1"/>
                <c:pt idx="0">
                  <c:v>rot</c:v>
                </c:pt>
              </c:strCache>
            </c:strRef>
          </c:tx>
          <c:spPr>
            <a:solidFill>
              <a:srgbClr val="E0705F"/>
            </a:solidFill>
            <a:effectLst/>
          </c:spPr>
          <c:invertIfNegative val="0"/>
          <c:dLbls>
            <c:numFmt formatCode="#,##0" sourceLinked="0"/>
            <c:txPr>
              <a:bodyPr/>
              <a:lstStyle/>
              <a:p>
                <a:pPr>
                  <a:defRPr b="0" i="0" strike="noStrike" sz="1100" u="none">
                    <a:solidFill>
                      <a:srgbClr val="0F1C24"/>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07/11 klassisch</c:v>
                  </c:pt>
                  <c:pt idx="1">
                    <c:v>07/11 Features</c:v>
                  </c:pt>
                  <c:pt idx="2">
                    <c:v>09/12 klassisch</c:v>
                  </c:pt>
                  <c:pt idx="3">
                    <c:v>09/12 Features</c:v>
                  </c:pt>
                </c:lvl>
              </c:multiLvlStrCache>
            </c:multiLvlStrRef>
          </c:cat>
          <c:val>
            <c:numRef>
              <c:f>Sheet1!$B$2:$B$5</c:f>
              <c:numCache>
                <c:formatCode>General</c:formatCode>
                <c:ptCount val="4"/>
                <c:pt idx="0">
                  <c:v>37</c:v>
                </c:pt>
                <c:pt idx="1">
                  <c:v>18</c:v>
                </c:pt>
                <c:pt idx="2">
                  <c:v>57</c:v>
                </c:pt>
                <c:pt idx="3">
                  <c:v>21</c:v>
                </c:pt>
              </c:numCache>
            </c:numRef>
          </c:val>
        </c:ser>
        <c:ser>
          <c:idx val="1"/>
          <c:order val="1"/>
          <c:tx>
            <c:strRef>
              <c:f>Sheet1!$C$1</c:f>
              <c:strCache>
                <c:ptCount val="1"/>
                <c:pt idx="0">
                  <c:v>gelb</c:v>
                </c:pt>
              </c:strCache>
            </c:strRef>
          </c:tx>
          <c:spPr>
            <a:solidFill>
              <a:srgbClr val="EDB443"/>
            </a:solidFill>
            <a:effectLst/>
          </c:spPr>
          <c:invertIfNegative val="0"/>
          <c:dLbls>
            <c:numFmt formatCode="#,##0" sourceLinked="0"/>
            <c:txPr>
              <a:bodyPr/>
              <a:lstStyle/>
              <a:p>
                <a:pPr>
                  <a:defRPr b="0" i="0" strike="noStrike" sz="1100" u="none">
                    <a:solidFill>
                      <a:srgbClr val="0F1C24"/>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07/11 klassisch</c:v>
                  </c:pt>
                  <c:pt idx="1">
                    <c:v>07/11 Features</c:v>
                  </c:pt>
                  <c:pt idx="2">
                    <c:v>09/12 klassisch</c:v>
                  </c:pt>
                  <c:pt idx="3">
                    <c:v>09/12 Features</c:v>
                  </c:pt>
                </c:lvl>
              </c:multiLvlStrCache>
            </c:multiLvlStrRef>
          </c:cat>
          <c:val>
            <c:numRef>
              <c:f>Sheet1!$C$2:$C$5</c:f>
              <c:numCache>
                <c:formatCode>General</c:formatCode>
                <c:ptCount val="4"/>
                <c:pt idx="0">
                  <c:v>35</c:v>
                </c:pt>
                <c:pt idx="1">
                  <c:v>13</c:v>
                </c:pt>
                <c:pt idx="2">
                  <c:v>24</c:v>
                </c:pt>
                <c:pt idx="3">
                  <c:v>15</c:v>
                </c:pt>
              </c:numCache>
            </c:numRef>
          </c:val>
        </c:ser>
        <c:dLbls>
          <c:numFmt formatCode="#,##0" sourceLinked="0"/>
          <c:txPr>
            <a:bodyPr/>
            <a:lstStyle/>
            <a:p>
              <a:pPr>
                <a:defRPr b="0" i="0" strike="noStrike" sz="1100" u="none">
                  <a:solidFill>
                    <a:srgbClr val="0F1C24"/>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A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A6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 Workspace ist eine eigenständige Desktop-Anwendung für GC-FID/GC-MS. Sie ersetzt die Kette ChemStation/MassHunter + RESULTS.CSV + NIAS-Skripte: alles wird direkt aus den Rohdaten berechnet. Der Vortrag geht den Datenfluss entlang: Rohdaten, Integration, Identifizierung, Quantifizierung, Doppelbestimmung,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Kennzahlen am Stand vom 9.10.2026. 52 870 Zeilen eigener Code plus rund 32 000 Zeilen vendored Referenz-Engines (NIAS/AutoLib-Arithmetik und SpectrAtlas-Suchmaschine), die unverändert bleiben und als Test-Orakel dienen. 921 gesammelte Tests. Die Beschleunigungen sind exakt: gleiche Treffer bzw. gleiche Komponenten wie die Referenz.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Prozessrollen: die GUI, der Watcher als eigener Hintergrundprozess mit Tray-Icon und pro Probe ein Job-Prozess ohne Fenster. Ein Absturz oder ein hängendes Office im Job kann den Watcher nicht stoppen. Die Kommunikation läuft über einen lokalen Socket (Befehle) und das SQLite-Journal (Zustand). Die Algorithmenpakete importieren kein Qt; nur der Workspace (Undo-Stapel, Einstellungen) braucht eine QApplication ohne Event-Loop.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Beide Panels teilen eine Zeitachse, festgelegt durch den Detektor von Chromatogramm 1. Der andere Detektor wird um den Delay jedes Laufs verschoben (Kreuzkorrelation von FID und TIC nach dem Solvent-Ende, wurzelkomprimiert auf 0,001-min-Raster), damit eine Substanz in beiden Panels an derselben Stelle liegt. Box-Zoom, Pan auf den Achsen und Intensitätsgesten sind wie in Agilent Enhanced Data Analysis synchronisiert. Light, Dark und Neon-Theme; jedes Panel dockbar, tabbar oder auf einen zweiten Bildschirm verschiebbar.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MassHunter-Layouts wurden Byte für Byte gegen data.ms und FID1A.ch derselben Injektion verifiziert. Alles, was diese Prüfungen nicht besteht, wird abgewiesen: ein falsches Layout würde ein plausibles, aber falsches Chromatogramm liefern. Shimadzu-QGD speichert jede Masse auf einem Detektor-Offset; nach der Validierung wird er pro Scan entfernt, damit HS-Spektren wie schwellwertbehaftete Agilent-Spektren aussehen. Der gespeicherte TIC bleibt unverändert.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Integrator ist eine klassische Steigungsdetektion als Zustandsmaschine (ca. 20 ms für 50 000 Punkte) mit Basislinien, Skims nach OpenLab/ChemStation-Kriterien und negativen Peaks. Entscheidend ist das Event-Modell: Manuelle Integration wird nie als fertiges Ergebnis gespeichert, sondern als Folge von Events, die auf jede neue Integration erneut angewendet werden. Dadurch überleben Korrekturen Parameteränderungen, und ein Projekt ist aus Rohdaten, Methode und Events vollständig reproduzierbar.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Blank-Spur wird per Kreuzkorrelation ausgerichtet (wurzelkomprimierte, basislinienbereinigte Spuren, 0,001-min-Raster), mehrere Blanks werden gemittelt. Die abgeleitete Spur wird wie jedes andere Signal integriert. Peaks der ISTD-Tabelle behalten ihr volles Signal. Die NIAS-mg/kg-Rechnung behält ihre eigene Blank-Korrektur; die Peak-Ebene markiert 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Suchmaschine ist SpectrAtlas' eigene Engine, in GC Workspace eingebaut (vendored). Ein Peakspektrum ist Apex minus Basislinie; in Clustern kommt der Hintergrund aus den nächsten Basislinien-Scans, und nur die Ionen des Tals, die nicht zum Peak gehören, werden abgezogen. Bibliotheken werden nie verändert; eigene Einträge gehen über Lib2NIST mit Backup und Gegenprüfung in NIST-User-Libraries.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Standardsuche liest für jeden Peak die ganze Bibliothek (Vorfilter über den invertierten Index). Fast Search expandiert den Index blockweise (16 384 Referenzen) in dichte Matrizen und multipliziert sie mit allen Peakspektren auf einmal - BLAS auf allen Kernen, ein zweiter Thread bereitet den nächsten Block vor. Pro Peak gibt es eine laufende Schwelle (k-bester Screening-Kosinus). Weil die Rundung der float32-Produkte nachweislich begrenzt ist, kann nichts verloren gehen. Ergebnis gemessen: identische Hits, Scores und Reihenfolge für jeden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MS-Dekonvolution (die konservative NIAS-Engine) liefert, wie viele Komponenten ein Peak enthält und wie ihre Elutionsprofile aussehen. Sie kann nicht sagen, wie der FID auf jede Komponente anspricht. Deshalb werden die Profile mit einem gemeinsamen Zeitversatz und einem gemeinsamen Breitenfaktor auf die FID-Spur gelegt und mit nichtnegativen Amplituden gefittet. Bei Isotopologen mit fast gleichem Profil entscheidet, wo das MS-Signal insgesamt zur Spur passt. Komponenten mit S/N &lt; 20 oder &lt; 1 % Anteil werden gelistet, aber nicht angehakt.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Nach Integration und manuellen Events wird der Lauf einmal komplett dekonvoluiert (gecacht, im Hintergrund) und jeder Peak mit zwei oder mehr Komponenten genauso gesplittet wie per Hand. Die Gates stammen aus mzmines GC-Spektraldekonvolution. Ein Closer Look dekonvoluiert Schultern erneut mit empfindlicheren Parametern und einer zweiten Wahrnehmung im Residuum, wie AMDIS. Die Array-Engine portiert gc_deconv.deconvolute auf Array-Operationen; die vendored Engine bleibt unverändert und dient als Testorakel. Gemessen identisch auf den Läufen 06, 07 und 09 in allen fünf Stufen.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Interpretation liefert Hinweise, keine Identifizierung. Isotopenmuster werden durch Faltung der Isotopenverteilungen der Elemente bei Einheitsmassenauflösung berechnet; weil data.ms nur Ionen über ca. 150 counts speichert, wird die absolute Nachweisgrenze relativ zum monoisotopischen Peak berücksichtigt. Laborspezifische Regeln und Substanzen lassen sich in data/interpret_rules.json ergänzen. Die optionale Peak-Tabellen-Spalte Klassenhinweis zeigt die Klasse für jeden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ISTD-Erkennung sucht nur die in der Tabelle definierten Standards. Jeder Peak bedient höchstens einen Standard. Der gemeinsame Run-Shift wird aus den Standards geschätzt, die über Name oder Spektrum sicher sind - eine gekürzte Säule verschiebt alle gleich. Die NIAS-mg/kg-Arithmetik ist die unveränderte NIAS/AutoLib-Rechnung, inklusive Migrationsbedingungen (Simulanz, Temperatur, Dauer, Zellfläche, Belegung, Volumen). Zusätzliche Einheiten µg/dm², µg/L, mg/L und mg/mL werden über das Extraktvolumen abgeleitet.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Determination A ist die Referenz. Schritt 1: globaler Shift aus einem gewichteten Histogramm der Differenzen der größten Peaks (bis 0,2 min), dann eine monotone, stückweise lineare Zeitkarte durch Anker. Schritt 2: Score aus RT-Nähe (Toleranz 0,05 min nach der Karte) und Composite-Kosinus der Pseudospektren mit NIST11-Gewichten; unter 0,6 ist es kein Paar. Die Zuordnung ist ein ordnungserhaltendes Maximum-Weight-Matching per dynamischer Programmierung. Schritt 3: Gap Filling nur mit Evidenz - sonst 'nicht nachweisbar', nie Fläche 0. Automatische Lückenfüllungen und Namen sind ein Undo-Schritt und werden protokolliert.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Vergleich zeigt dieselben Paare mit der klassischen AutoLib-Paarung (Name zuerst, dann RT) und dem Feature-Pairing, gemessen beim Einführen des Feature-Pairings. Der Screenshot zeigt den heutigen Stand des verarbeiteten Projekts inklusive automatischem Split, Split-Übertragung und Grenzen-Harmonisierung. Die Tabelle editiert wie Excel; Enter nimmt markierte Substanzen in den Report, Backspace heraus; Accept double determination speichert, wer wann akzeptiert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Sequence-Log, geschrieben beim Start der Sequenz, sagt, welche Runs noch kommen: 07 A wartet auf 11 B und dann auf den Blank 13_EtOH danach. Ohne Log muss der Ordner eine Ruhezeit lang still sein. Ein Run gilt als fertig, wenn er sich über mehrere Prüfungen nicht geändert hat, alt genug ist und das Gerät weitergezogen ist (checksum.xml, nächster Run gestartet, Sequenz beendet). Jeder Job arbeitet in data/automation/jobs/&lt;job&gt;/r&lt;revision&gt;; die Rohdatenordner werden nur gelesen.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 Regel kann 'control needed' oder nur 'note' sein; ein Workflow kann eigene Regeln haben. Optionale Regeln: kein SML über dem Berichtslimit, eine Substanz über einer Konzentration (Name/CAS-Muster), zu viele Unidentifizierte, ein festes ISTD-Flächenfenster. Reports: NIAS, Fingerprint, Gesamtextraktion, HS-Screening und frei gestaltbare Template-Reports, jeweils als Excel, Word und PDF; pro Batch-Ordner ein kombinierter Report und eine Report²-Zusammenfassung.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drei Beschleunigungen (Fast Search, Array-Dekonvolution, Compare) wurden jeweils mit der Bedingung 'identisches Endergebnis' gebaut; die alte Implementierung bleibt als Orakel im Testlauf. Der Handbuch-Abdeckungstest (tests/test_manual_coverage.py) prüft jedes Menü, jeden Toolbar-Button, jedes Panel-Steuerelement, jeden Dialog und jede Einstellung; Standardwerte im Handbuch werden aus dem Code eingesetzt, damit sie nicht veralten.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Offene Punkte aus den Projektnotizen: das Dezimalkomma beim Kopieren voller Werte ist noch offen; die Verteilung der Dekonvolutionsfenster auf mehrere Kerne wurde vorgeschlagen, aber nicht getestet; ein referenzmajores Layout für das exakte Falten im Block-Screening brachte in einer Messung nur 1,75x und braucht rund 600 MB Platte.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CWS_TITLE">
    <p:bg>
      <p:bgPr>
        <a:solidFill>
          <a:srgbClr val="0F1C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5486400" cy="960120"/>
          </a:xfrm>
          <a:prstGeom prst="rect">
            <a:avLst/>
          </a:prstGeom>
          <a:noFill/>
          <a:ln/>
        </p:spPr>
        <p:txBody>
          <a:bodyPr wrap="square" rtlCol="0"/>
          <a:lstStyle>
            <a:lvl1pPr algn="l" indent="0" marL="0">
              <a:buNone/>
              <a:defRPr lang="en-US" sz="5400" dirty="0">
                <a:solidFill>
                  <a:srgbClr val="FFFFFF"/>
                </a:solidFill>
              </a:defRPr>
            </a:lvl1pPr>
          </a:lstStyle>
          <a:p>
            <a:pPr algn="l" indent="0" marL="0">
              <a:buNone/>
            </a:pPr>
            <a:endParaRPr lang="en-US" sz="5400" dirty="0"/>
          </a:p>
        </p:txBody>
      </p:sp>
      <p:sp>
        <p:nvSpPr>
          <p:cNvPr id="3" name="Text 0"/>
          <p:cNvSpPr/>
          <p:nvPr>
            <p:ph idx="101" type="body" hasCustomPrompt="1"/>
          </p:nvPr>
        </p:nvSpPr>
        <p:spPr>
          <a:xfrm>
            <a:off x="548640" y="2880360"/>
            <a:ext cx="5303520" cy="914400"/>
          </a:xfrm>
          <a:prstGeom prst="rect">
            <a:avLst/>
          </a:prstGeom>
          <a:noFill/>
          <a:ln/>
        </p:spPr>
        <p:txBody>
          <a:bodyPr wrap="square" rtlCol="0"/>
          <a:lstStyle>
            <a:lvl1pPr algn="l" indent="0" marL="0">
              <a:buNone/>
              <a:defRPr lang="en-US" sz="2000" dirty="0">
                <a:solidFill>
                  <a:srgbClr val="B9C8CF"/>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CWS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
        <p:nvSpPr>
          <p:cNvPr id="5"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chemeClr val="accent6"/>
                </a:solidFill>
              </a:rPr>
              <a:t>GC Workspace · Technischer Feature-Überblick</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CWS_CLOSING">
    <p:bg>
      <p:bgPr>
        <a:solidFill>
          <a:srgbClr val="0F1C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3840480" cy="822960"/>
          </a:xfrm>
          <a:prstGeom prst="rect">
            <a:avLst/>
          </a:prstGeom>
          <a:noFill/>
          <a:ln/>
        </p:spPr>
        <p:txBody>
          <a:bodyPr wrap="square" rtlCol="0"/>
          <a:lstStyle>
            <a:lvl1pPr algn="l" indent="0" marL="0">
              <a:buNone/>
              <a:defRPr lang="en-US" sz="4400" dirty="0">
                <a:solidFill>
                  <a:srgbClr val="FFFFFF"/>
                </a:solidFill>
              </a:defRPr>
            </a:lvl1pPr>
          </a:lstStyle>
          <a:p>
            <a:pPr algn="l" indent="0" marL="0">
              <a:buNone/>
            </a:pPr>
            <a:endParaRPr lang="en-US" sz="4400" dirty="0"/>
          </a:p>
        </p:txBody>
      </p:sp>
      <p:sp>
        <p:nvSpPr>
          <p:cNvPr id="3"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900" dirty="0">
                <a:solidFill>
                  <a:srgbClr val="B9C8CF"/>
                </a:solidFill>
              </a:rPr>
              <a:t>GC Workspace · Technischer Feature-Überblick</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9C8CF"/>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1417320"/>
            <a:ext cx="5486400" cy="274320"/>
          </a:xfrm>
          <a:prstGeom prst="rect">
            <a:avLst/>
          </a:prstGeom>
          <a:noFill/>
          <a:ln/>
        </p:spPr>
        <p:txBody>
          <a:bodyPr wrap="square" lIns="0" tIns="0" rIns="0" bIns="0" rtlCol="0" anchor="t"/>
          <a:lstStyle/>
          <a:p>
            <a:pPr indent="0" marL="0">
              <a:buNone/>
            </a:pPr>
            <a:r>
              <a:rPr lang="en-US" sz="1200" b="1" spc="150" kern="0" dirty="0">
                <a:solidFill>
                  <a:srgbClr val="7CC8E0"/>
                </a:solidFill>
              </a:rPr>
              <a:t>TECHNISCHER FEATURE-ÜBERBLICK · OKTOBER 2026</a:t>
            </a:r>
            <a:endParaRPr lang="en-US" sz="1200" dirty="0"/>
          </a:p>
        </p:txBody>
      </p:sp>
      <p:sp>
        <p:nvSpPr>
          <p:cNvPr id="3" name="Text 0"/>
          <p:cNvSpPr/>
          <p:nvPr>
            <p:ph idx="100" type="title" hasCustomPrompt="1"/>
          </p:nvPr>
        </p:nvSpPr>
        <p:spPr>
          <a:xfrm>
            <a:off x="548640" y="1828800"/>
            <a:ext cx="5486400" cy="960120"/>
          </a:xfrm>
          <a:prstGeom prst="rect">
            <a:avLst/>
          </a:prstGeom>
          <a:noFill/>
          <a:ln/>
        </p:spPr>
        <p:txBody>
          <a:bodyPr wrap="square" lIns="0" tIns="0" rIns="0" bIns="0" rtlCol="0" anchor="t"/>
          <a:lstStyle/>
          <a:p>
            <a:pPr algn="l" indent="0" marL="0">
              <a:buNone/>
            </a:pPr>
            <a:r>
              <a:rPr lang="en-US" sz="5400" dirty="0">
                <a:solidFill>
                  <a:srgbClr val="FFFFFF"/>
                </a:solidFill>
              </a:rPr>
              <a:t>GC Workspace</a:t>
            </a:r>
            <a:endParaRPr lang="en-US" sz="5400" dirty="0"/>
          </a:p>
        </p:txBody>
      </p:sp>
      <p:sp>
        <p:nvSpPr>
          <p:cNvPr id="4" name="Text 0"/>
          <p:cNvSpPr/>
          <p:nvPr>
            <p:ph idx="101" type="body" hasCustomPrompt="1"/>
          </p:nvPr>
        </p:nvSpPr>
        <p:spPr>
          <a:xfrm>
            <a:off x="548640" y="2880360"/>
            <a:ext cx="5303520" cy="914400"/>
          </a:xfrm>
          <a:prstGeom prst="rect">
            <a:avLst/>
          </a:prstGeom>
          <a:noFill/>
          <a:ln/>
        </p:spPr>
        <p:txBody>
          <a:bodyPr wrap="square" lIns="0" tIns="0" rIns="0" bIns="0" rtlCol="0" anchor="t"/>
          <a:lstStyle/>
          <a:p>
            <a:pPr algn="l" indent="0" marL="0">
              <a:buNone/>
            </a:pPr>
            <a:r>
              <a:rPr lang="en-US" sz="2000" dirty="0">
                <a:solidFill>
                  <a:srgbClr val="B9C8CF"/>
                </a:solidFill>
              </a:rPr>
              <a:t>Standalone-Auswertung für GC‑FID und GC‑MS – vom Rohsignal zum geprüften NIAS‑Report</a:t>
            </a:r>
            <a:endParaRPr lang="en-US" sz="2000" dirty="0"/>
          </a:p>
        </p:txBody>
      </p:sp>
      <p:sp>
        <p:nvSpPr>
          <p:cNvPr id="5" name="badge-2"/>
          <p:cNvSpPr/>
          <p:nvPr/>
        </p:nvSpPr>
        <p:spPr>
          <a:xfrm>
            <a:off x="548640" y="4114800"/>
            <a:ext cx="347472" cy="347472"/>
          </a:xfrm>
          <a:prstGeom prst="ellipse">
            <a:avLst/>
          </a:prstGeom>
          <a:solidFill>
            <a:srgbClr val="24485A"/>
          </a:solidFill>
          <a:ln/>
        </p:spPr>
      </p:sp>
      <p:pic>
        <p:nvPicPr>
          <p:cNvPr id="6" name="icon-3" descr="Symbol">    </p:cNvPr>
          <p:cNvPicPr>
            <a:picLocks noChangeAspect="1"/>
          </p:cNvPicPr>
          <p:nvPr/>
        </p:nvPicPr>
        <p:blipFill>
          <a:blip r:embed="rId1"/>
          <a:stretch>
            <a:fillRect/>
          </a:stretch>
        </p:blipFill>
        <p:spPr>
          <a:xfrm>
            <a:off x="625084" y="4191244"/>
            <a:ext cx="194584" cy="194584"/>
          </a:xfrm>
          <a:prstGeom prst="rect">
            <a:avLst/>
          </a:prstGeom>
        </p:spPr>
      </p:pic>
      <p:sp>
        <p:nvSpPr>
          <p:cNvPr id="7" name="text-4"/>
          <p:cNvSpPr txBox="1"/>
          <p:nvPr/>
        </p:nvSpPr>
        <p:spPr>
          <a:xfrm>
            <a:off x="1051560" y="4160520"/>
            <a:ext cx="4846320" cy="274320"/>
          </a:xfrm>
          <a:prstGeom prst="rect">
            <a:avLst/>
          </a:prstGeom>
          <a:noFill/>
          <a:ln/>
        </p:spPr>
        <p:txBody>
          <a:bodyPr wrap="square" lIns="0" tIns="0" rIns="0" bIns="0" rtlCol="0" anchor="t"/>
          <a:lstStyle/>
          <a:p>
            <a:pPr indent="0" marL="0">
              <a:buNone/>
            </a:pPr>
            <a:r>
              <a:rPr lang="en-US" sz="1500" dirty="0">
                <a:solidFill>
                  <a:srgbClr val="FFFFFF"/>
                </a:solidFill>
              </a:rPr>
              <a:t>Python 3.14 · PySide6 · NumPy, ohne SciPy</a:t>
            </a:r>
            <a:endParaRPr lang="en-US" sz="1500" dirty="0"/>
          </a:p>
        </p:txBody>
      </p:sp>
      <p:sp>
        <p:nvSpPr>
          <p:cNvPr id="8" name="badge-5"/>
          <p:cNvSpPr/>
          <p:nvPr/>
        </p:nvSpPr>
        <p:spPr>
          <a:xfrm>
            <a:off x="548640" y="4590288"/>
            <a:ext cx="347472" cy="347472"/>
          </a:xfrm>
          <a:prstGeom prst="ellipse">
            <a:avLst/>
          </a:prstGeom>
          <a:solidFill>
            <a:srgbClr val="24485A"/>
          </a:solidFill>
          <a:ln/>
        </p:spPr>
      </p:sp>
      <p:pic>
        <p:nvPicPr>
          <p:cNvPr id="9" name="icon-6" descr="Symbol">    </p:cNvPr>
          <p:cNvPicPr>
            <a:picLocks noChangeAspect="1"/>
          </p:cNvPicPr>
          <p:nvPr/>
        </p:nvPicPr>
        <p:blipFill>
          <a:blip r:embed="rId2"/>
          <a:stretch>
            <a:fillRect/>
          </a:stretch>
        </p:blipFill>
        <p:spPr>
          <a:xfrm>
            <a:off x="625084" y="4666732"/>
            <a:ext cx="194584" cy="194584"/>
          </a:xfrm>
          <a:prstGeom prst="rect">
            <a:avLst/>
          </a:prstGeom>
        </p:spPr>
      </p:pic>
      <p:sp>
        <p:nvSpPr>
          <p:cNvPr id="10" name="text-7"/>
          <p:cNvSpPr txBox="1"/>
          <p:nvPr/>
        </p:nvSpPr>
        <p:spPr>
          <a:xfrm>
            <a:off x="1051560" y="4636008"/>
            <a:ext cx="4846320" cy="274320"/>
          </a:xfrm>
          <a:prstGeom prst="rect">
            <a:avLst/>
          </a:prstGeom>
          <a:noFill/>
          <a:ln/>
        </p:spPr>
        <p:txBody>
          <a:bodyPr wrap="square" lIns="0" tIns="0" rIns="0" bIns="0" rtlCol="0" anchor="t"/>
          <a:lstStyle/>
          <a:p>
            <a:pPr indent="0" marL="0">
              <a:buNone/>
            </a:pPr>
            <a:r>
              <a:rPr lang="en-US" sz="1500" dirty="0">
                <a:solidFill>
                  <a:srgbClr val="FFFFFF"/>
                </a:solidFill>
              </a:rPr>
              <a:t>keine ChemStation, keine MassHunter, kein RESULTS.CSV</a:t>
            </a:r>
            <a:endParaRPr lang="en-US" sz="1500" dirty="0"/>
          </a:p>
        </p:txBody>
      </p:sp>
      <p:sp>
        <p:nvSpPr>
          <p:cNvPr id="11" name="badge-8"/>
          <p:cNvSpPr/>
          <p:nvPr/>
        </p:nvSpPr>
        <p:spPr>
          <a:xfrm>
            <a:off x="548640" y="5065776"/>
            <a:ext cx="347472" cy="347472"/>
          </a:xfrm>
          <a:prstGeom prst="ellipse">
            <a:avLst/>
          </a:prstGeom>
          <a:solidFill>
            <a:srgbClr val="24485A"/>
          </a:solidFill>
          <a:ln/>
        </p:spPr>
      </p:sp>
      <p:pic>
        <p:nvPicPr>
          <p:cNvPr id="12" name="icon-9" descr="Symbol">    </p:cNvPr>
          <p:cNvPicPr>
            <a:picLocks noChangeAspect="1"/>
          </p:cNvPicPr>
          <p:nvPr/>
        </p:nvPicPr>
        <p:blipFill>
          <a:blip r:embed="rId3"/>
          <a:stretch>
            <a:fillRect/>
          </a:stretch>
        </p:blipFill>
        <p:spPr>
          <a:xfrm>
            <a:off x="625084" y="5142220"/>
            <a:ext cx="194584" cy="194584"/>
          </a:xfrm>
          <a:prstGeom prst="rect">
            <a:avLst/>
          </a:prstGeom>
        </p:spPr>
      </p:pic>
      <p:sp>
        <p:nvSpPr>
          <p:cNvPr id="13" name="text-10"/>
          <p:cNvSpPr txBox="1"/>
          <p:nvPr/>
        </p:nvSpPr>
        <p:spPr>
          <a:xfrm>
            <a:off x="1051560" y="5111496"/>
            <a:ext cx="4846320" cy="274320"/>
          </a:xfrm>
          <a:prstGeom prst="rect">
            <a:avLst/>
          </a:prstGeom>
          <a:noFill/>
          <a:ln/>
        </p:spPr>
        <p:txBody>
          <a:bodyPr wrap="square" lIns="0" tIns="0" rIns="0" bIns="0" rtlCol="0" anchor="t"/>
          <a:lstStyle/>
          <a:p>
            <a:pPr indent="0" marL="0">
              <a:buNone/>
            </a:pPr>
            <a:r>
              <a:rPr lang="en-US" sz="1500" dirty="0">
                <a:solidFill>
                  <a:srgbClr val="FFFFFF"/>
                </a:solidFill>
              </a:rPr>
              <a:t>unbeaufsichtigt: Watcher, Report², Auslieferung</a:t>
            </a:r>
            <a:endParaRPr lang="en-US" sz="1500" dirty="0"/>
          </a:p>
        </p:txBody>
      </p:sp>
      <p:sp>
        <p:nvSpPr>
          <p:cNvPr id="14" name="frame-11"/>
          <p:cNvSpPr/>
          <p:nvPr/>
        </p:nvSpPr>
        <p:spPr>
          <a:xfrm>
            <a:off x="6126480" y="1417320"/>
            <a:ext cx="5577840" cy="3177540"/>
          </a:xfrm>
          <a:prstGeom prst="roundRect">
            <a:avLst>
              <a:gd name="adj" fmla="val 1439"/>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15" name="Screenshot GC Workspace, Dark Mode Neon-12" descr="Screenshot GC Workspace, Dark Mode Neon">    </p:cNvPr>
          <p:cNvPicPr>
            <a:picLocks noChangeAspect="1"/>
          </p:cNvPicPr>
          <p:nvPr/>
        </p:nvPicPr>
        <p:blipFill>
          <a:blip r:embed="rId4"/>
          <a:stretch>
            <a:fillRect/>
          </a:stretch>
        </p:blipFill>
        <p:spPr>
          <a:xfrm>
            <a:off x="6172200" y="1463040"/>
            <a:ext cx="5486400" cy="3086100"/>
          </a:xfrm>
          <a:prstGeom prst="rect">
            <a:avLst/>
          </a:prstGeom>
        </p:spPr>
      </p:pic>
      <p:sp>
        <p:nvSpPr>
          <p:cNvPr id="16" name="text-13"/>
          <p:cNvSpPr txBox="1"/>
          <p:nvPr/>
        </p:nvSpPr>
        <p:spPr>
          <a:xfrm>
            <a:off x="6172200" y="4686300"/>
            <a:ext cx="5486400" cy="274320"/>
          </a:xfrm>
          <a:prstGeom prst="rect">
            <a:avLst/>
          </a:prstGeom>
          <a:noFill/>
          <a:ln/>
        </p:spPr>
        <p:txBody>
          <a:bodyPr wrap="square" lIns="0" tIns="0" rIns="0" bIns="0" rtlCol="0" anchor="t"/>
          <a:lstStyle/>
          <a:p>
            <a:pPr indent="0" marL="0">
              <a:buNone/>
            </a:pPr>
            <a:r>
              <a:rPr lang="en-US" sz="1100" i="1" dirty="0">
                <a:solidFill>
                  <a:srgbClr val="B9C8CF"/>
                </a:solidFill>
              </a:rPr>
              <a:t>Dark Mode – Neon: Lauf 07 der GIOSUN-Serie, FID oben, TIC unten, Peak 16,222 min gewählt</a:t>
            </a:r>
            <a:endParaRPr lang="en-US" sz="1100" dirty="0"/>
          </a:p>
        </p:txBody>
      </p:sp>
      <p:sp>
        <p:nvSpPr>
          <p:cNvPr id="17" name="text-14"/>
          <p:cNvSpPr txBox="1"/>
          <p:nvPr/>
        </p:nvSpPr>
        <p:spPr>
          <a:xfrm>
            <a:off x="548640" y="5989320"/>
            <a:ext cx="5486400" cy="274320"/>
          </a:xfrm>
          <a:prstGeom prst="rect">
            <a:avLst/>
          </a:prstGeom>
          <a:noFill/>
          <a:ln/>
        </p:spPr>
        <p:txBody>
          <a:bodyPr wrap="square" lIns="0" tIns="0" rIns="0" bIns="0" rtlCol="0" anchor="t"/>
          <a:lstStyle/>
          <a:p>
            <a:pPr indent="0" marL="0">
              <a:buNone/>
            </a:pPr>
            <a:r>
              <a:rPr lang="en-US" sz="1100" dirty="0">
                <a:solidFill>
                  <a:srgbClr val="B9C8CF"/>
                </a:solidFill>
              </a:rPr>
              <a:t>Stand 9. Oktober 2026 · 921 Tests · 217 Commits seit 25. September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01 · ÜBERBLICK</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Alles aus den Rohdaten berechnet</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Keine Herstellersoftware, kein RESULTS.CSV: GC Workspace liest die Rohdateien und rechnet jeden Schritt selbst.</a:t>
            </a:r>
            <a:endParaRPr lang="en-US" sz="1600" dirty="0"/>
          </a:p>
        </p:txBody>
      </p:sp>
      <p:sp>
        <p:nvSpPr>
          <p:cNvPr id="5" name="card-15"/>
          <p:cNvSpPr/>
          <p:nvPr/>
        </p:nvSpPr>
        <p:spPr>
          <a:xfrm>
            <a:off x="548640" y="1810512"/>
            <a:ext cx="2567864" cy="1783080"/>
          </a:xfrm>
          <a:prstGeom prst="roundRect">
            <a:avLst>
              <a:gd name="adj" fmla="val 4103"/>
            </a:avLst>
          </a:prstGeom>
          <a:solidFill>
            <a:schemeClr val="bg2"/>
          </a:solidFill>
          <a:ln/>
        </p:spPr>
      </p:sp>
      <p:sp>
        <p:nvSpPr>
          <p:cNvPr id="6" name="text-16"/>
          <p:cNvSpPr txBox="1"/>
          <p:nvPr/>
        </p:nvSpPr>
        <p:spPr>
          <a:xfrm>
            <a:off x="777240" y="1947672"/>
            <a:ext cx="2110664" cy="64008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52 870</a:t>
            </a:r>
            <a:endParaRPr lang="en-US" sz="4000" dirty="0"/>
          </a:p>
        </p:txBody>
      </p:sp>
      <p:sp>
        <p:nvSpPr>
          <p:cNvPr id="7" name="text-17"/>
          <p:cNvSpPr txBox="1"/>
          <p:nvPr/>
        </p:nvSpPr>
        <p:spPr>
          <a:xfrm>
            <a:off x="777240" y="2606040"/>
            <a:ext cx="2156384" cy="502920"/>
          </a:xfrm>
          <a:prstGeom prst="rect">
            <a:avLst/>
          </a:prstGeom>
          <a:noFill/>
          <a:ln/>
        </p:spPr>
        <p:txBody>
          <a:bodyPr wrap="square" lIns="0" tIns="0" rIns="0" bIns="0" rtlCol="0" anchor="t"/>
          <a:lstStyle/>
          <a:p>
            <a:pPr indent="0" marL="0">
              <a:buNone/>
            </a:pPr>
            <a:r>
              <a:rPr lang="en-US" sz="1400" b="1" dirty="0">
                <a:solidFill>
                  <a:schemeClr val="tx1"/>
                </a:solidFill>
              </a:rPr>
              <a:t>Zeilen eigener Python-Code</a:t>
            </a:r>
            <a:endParaRPr lang="en-US" sz="1400" dirty="0"/>
          </a:p>
        </p:txBody>
      </p:sp>
      <p:sp>
        <p:nvSpPr>
          <p:cNvPr id="8" name="text-18"/>
          <p:cNvSpPr txBox="1"/>
          <p:nvPr/>
        </p:nvSpPr>
        <p:spPr>
          <a:xfrm>
            <a:off x="777240" y="3108960"/>
            <a:ext cx="2156384" cy="411480"/>
          </a:xfrm>
          <a:prstGeom prst="rect">
            <a:avLst/>
          </a:prstGeom>
          <a:noFill/>
          <a:ln/>
        </p:spPr>
        <p:txBody>
          <a:bodyPr wrap="square" lIns="0" tIns="0" rIns="0" bIns="0" rtlCol="0" anchor="t"/>
          <a:lstStyle/>
          <a:p>
            <a:pPr indent="0" marL="0">
              <a:buNone/>
            </a:pPr>
            <a:r>
              <a:rPr lang="en-US" sz="1100" dirty="0">
                <a:solidFill>
                  <a:schemeClr val="accent6"/>
                </a:solidFill>
              </a:rPr>
              <a:t>+ 32 000 Zeilen unveränderte Referenz-Engines</a:t>
            </a:r>
            <a:endParaRPr lang="en-US" sz="1100" dirty="0"/>
          </a:p>
        </p:txBody>
      </p:sp>
      <p:sp>
        <p:nvSpPr>
          <p:cNvPr id="9" name="card-19"/>
          <p:cNvSpPr/>
          <p:nvPr/>
        </p:nvSpPr>
        <p:spPr>
          <a:xfrm>
            <a:off x="3390824" y="1810512"/>
            <a:ext cx="2567864" cy="1783080"/>
          </a:xfrm>
          <a:prstGeom prst="roundRect">
            <a:avLst>
              <a:gd name="adj" fmla="val 4103"/>
            </a:avLst>
          </a:prstGeom>
          <a:solidFill>
            <a:schemeClr val="bg2"/>
          </a:solidFill>
          <a:ln/>
        </p:spPr>
      </p:sp>
      <p:sp>
        <p:nvSpPr>
          <p:cNvPr id="10" name="text-20"/>
          <p:cNvSpPr txBox="1"/>
          <p:nvPr/>
        </p:nvSpPr>
        <p:spPr>
          <a:xfrm>
            <a:off x="3619424" y="1947672"/>
            <a:ext cx="2110664" cy="64008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921</a:t>
            </a:r>
            <a:endParaRPr lang="en-US" sz="4000" dirty="0"/>
          </a:p>
        </p:txBody>
      </p:sp>
      <p:sp>
        <p:nvSpPr>
          <p:cNvPr id="11" name="text-21"/>
          <p:cNvSpPr txBox="1"/>
          <p:nvPr/>
        </p:nvSpPr>
        <p:spPr>
          <a:xfrm>
            <a:off x="3619424" y="2606040"/>
            <a:ext cx="2156384" cy="502920"/>
          </a:xfrm>
          <a:prstGeom prst="rect">
            <a:avLst/>
          </a:prstGeom>
          <a:noFill/>
          <a:ln/>
        </p:spPr>
        <p:txBody>
          <a:bodyPr wrap="square" lIns="0" tIns="0" rIns="0" bIns="0" rtlCol="0" anchor="t"/>
          <a:lstStyle/>
          <a:p>
            <a:pPr indent="0" marL="0">
              <a:buNone/>
            </a:pPr>
            <a:r>
              <a:rPr lang="en-US" sz="1400" b="1" dirty="0">
                <a:solidFill>
                  <a:schemeClr val="tx1"/>
                </a:solidFill>
              </a:rPr>
              <a:t>automatisierte Tests</a:t>
            </a:r>
            <a:endParaRPr lang="en-US" sz="1400" dirty="0"/>
          </a:p>
        </p:txBody>
      </p:sp>
      <p:sp>
        <p:nvSpPr>
          <p:cNvPr id="12" name="text-22"/>
          <p:cNvSpPr txBox="1"/>
          <p:nvPr/>
        </p:nvSpPr>
        <p:spPr>
          <a:xfrm>
            <a:off x="3619424" y="3108960"/>
            <a:ext cx="2156384" cy="411480"/>
          </a:xfrm>
          <a:prstGeom prst="rect">
            <a:avLst/>
          </a:prstGeom>
          <a:noFill/>
          <a:ln/>
        </p:spPr>
        <p:txBody>
          <a:bodyPr wrap="square" lIns="0" tIns="0" rIns="0" bIns="0" rtlCol="0" anchor="t"/>
          <a:lstStyle/>
          <a:p>
            <a:pPr indent="0" marL="0">
              <a:buNone/>
            </a:pPr>
            <a:r>
              <a:rPr lang="en-US" sz="1100" dirty="0">
                <a:solidFill>
                  <a:schemeClr val="accent6"/>
                </a:solidFill>
              </a:rPr>
              <a:t>pytest, pytest-qt, hypothesis; 72 Testmodule</a:t>
            </a:r>
            <a:endParaRPr lang="en-US" sz="1100" dirty="0"/>
          </a:p>
        </p:txBody>
      </p:sp>
      <p:sp>
        <p:nvSpPr>
          <p:cNvPr id="13" name="card-23"/>
          <p:cNvSpPr/>
          <p:nvPr/>
        </p:nvSpPr>
        <p:spPr>
          <a:xfrm>
            <a:off x="6233008" y="1810512"/>
            <a:ext cx="2567864" cy="1783080"/>
          </a:xfrm>
          <a:prstGeom prst="roundRect">
            <a:avLst>
              <a:gd name="adj" fmla="val 4103"/>
            </a:avLst>
          </a:prstGeom>
          <a:solidFill>
            <a:schemeClr val="bg2"/>
          </a:solidFill>
          <a:ln/>
        </p:spPr>
      </p:sp>
      <p:sp>
        <p:nvSpPr>
          <p:cNvPr id="14" name="text-24"/>
          <p:cNvSpPr txBox="1"/>
          <p:nvPr/>
        </p:nvSpPr>
        <p:spPr>
          <a:xfrm>
            <a:off x="6461608" y="1947672"/>
            <a:ext cx="2110664" cy="64008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8,3×</a:t>
            </a:r>
            <a:endParaRPr lang="en-US" sz="4000" dirty="0"/>
          </a:p>
        </p:txBody>
      </p:sp>
      <p:sp>
        <p:nvSpPr>
          <p:cNvPr id="15" name="text-25"/>
          <p:cNvSpPr txBox="1"/>
          <p:nvPr/>
        </p:nvSpPr>
        <p:spPr>
          <a:xfrm>
            <a:off x="6461608" y="2606040"/>
            <a:ext cx="2156384" cy="502920"/>
          </a:xfrm>
          <a:prstGeom prst="rect">
            <a:avLst/>
          </a:prstGeom>
          <a:noFill/>
          <a:ln/>
        </p:spPr>
        <p:txBody>
          <a:bodyPr wrap="square" lIns="0" tIns="0" rIns="0" bIns="0" rtlCol="0" anchor="t"/>
          <a:lstStyle/>
          <a:p>
            <a:pPr indent="0" marL="0">
              <a:buNone/>
            </a:pPr>
            <a:r>
              <a:rPr lang="en-US" sz="1400" b="1" dirty="0">
                <a:solidFill>
                  <a:schemeClr val="tx1"/>
                </a:solidFill>
              </a:rPr>
              <a:t>schnellere Bibliothekssuche</a:t>
            </a:r>
            <a:endParaRPr lang="en-US" sz="1400" dirty="0"/>
          </a:p>
        </p:txBody>
      </p:sp>
      <p:sp>
        <p:nvSpPr>
          <p:cNvPr id="16" name="text-26"/>
          <p:cNvSpPr txBox="1"/>
          <p:nvPr/>
        </p:nvSpPr>
        <p:spPr>
          <a:xfrm>
            <a:off x="6461608" y="3108960"/>
            <a:ext cx="2156384" cy="411480"/>
          </a:xfrm>
          <a:prstGeom prst="rect">
            <a:avLst/>
          </a:prstGeom>
          <a:noFill/>
          <a:ln/>
        </p:spPr>
        <p:txBody>
          <a:bodyPr wrap="square" lIns="0" tIns="0" rIns="0" bIns="0" rtlCol="0" anchor="t"/>
          <a:lstStyle/>
          <a:p>
            <a:pPr indent="0" marL="0">
              <a:buNone/>
            </a:pPr>
            <a:r>
              <a:rPr lang="en-US" sz="1100" dirty="0">
                <a:solidFill>
                  <a:schemeClr val="accent6"/>
                </a:solidFill>
              </a:rPr>
              <a:t>bitgleiche Treffer, 1,82 Mio. Referenzspektren</a:t>
            </a:r>
            <a:endParaRPr lang="en-US" sz="1100" dirty="0"/>
          </a:p>
        </p:txBody>
      </p:sp>
      <p:sp>
        <p:nvSpPr>
          <p:cNvPr id="17" name="card-27"/>
          <p:cNvSpPr/>
          <p:nvPr/>
        </p:nvSpPr>
        <p:spPr>
          <a:xfrm>
            <a:off x="9075191" y="1810512"/>
            <a:ext cx="2567864" cy="1783080"/>
          </a:xfrm>
          <a:prstGeom prst="roundRect">
            <a:avLst>
              <a:gd name="adj" fmla="val 4103"/>
            </a:avLst>
          </a:prstGeom>
          <a:solidFill>
            <a:schemeClr val="bg2"/>
          </a:solidFill>
          <a:ln/>
        </p:spPr>
      </p:sp>
      <p:sp>
        <p:nvSpPr>
          <p:cNvPr id="18" name="text-28"/>
          <p:cNvSpPr txBox="1"/>
          <p:nvPr/>
        </p:nvSpPr>
        <p:spPr>
          <a:xfrm>
            <a:off x="9303791" y="1947672"/>
            <a:ext cx="2110664" cy="640080"/>
          </a:xfrm>
          <a:prstGeom prst="rect">
            <a:avLst/>
          </a:prstGeom>
          <a:noFill/>
          <a:ln/>
        </p:spPr>
        <p:txBody>
          <a:bodyPr wrap="square" lIns="0" tIns="0" rIns="0" bIns="0" rtlCol="0" anchor="t"/>
          <a:lstStyle/>
          <a:p>
            <a:pPr indent="0" marL="0">
              <a:buNone/>
            </a:pPr>
            <a:r>
              <a:rPr lang="en-US" sz="4000" dirty="0">
                <a:solidFill>
                  <a:schemeClr val="accent1"/>
                </a:solidFill>
                <a:latin typeface="+mj-lt" pitchFamily="34" charset="0"/>
                <a:ea typeface="+mj-lt" pitchFamily="34" charset="-122"/>
                <a:cs typeface="+mj-lt" pitchFamily="34" charset="-120"/>
              </a:rPr>
              <a:t>≈ 10×</a:t>
            </a:r>
            <a:endParaRPr lang="en-US" sz="4000" dirty="0"/>
          </a:p>
        </p:txBody>
      </p:sp>
      <p:sp>
        <p:nvSpPr>
          <p:cNvPr id="19" name="text-29"/>
          <p:cNvSpPr txBox="1"/>
          <p:nvPr/>
        </p:nvSpPr>
        <p:spPr>
          <a:xfrm>
            <a:off x="9303791" y="2606040"/>
            <a:ext cx="2156384" cy="502920"/>
          </a:xfrm>
          <a:prstGeom prst="rect">
            <a:avLst/>
          </a:prstGeom>
          <a:noFill/>
          <a:ln/>
        </p:spPr>
        <p:txBody>
          <a:bodyPr wrap="square" lIns="0" tIns="0" rIns="0" bIns="0" rtlCol="0" anchor="t"/>
          <a:lstStyle/>
          <a:p>
            <a:pPr indent="0" marL="0">
              <a:buNone/>
            </a:pPr>
            <a:r>
              <a:rPr lang="en-US" sz="1400" b="1" dirty="0">
                <a:solidFill>
                  <a:schemeClr val="tx1"/>
                </a:solidFill>
              </a:rPr>
              <a:t>schnellere Ganzlauf-Dekonvolution</a:t>
            </a:r>
            <a:endParaRPr lang="en-US" sz="1400" dirty="0"/>
          </a:p>
        </p:txBody>
      </p:sp>
      <p:sp>
        <p:nvSpPr>
          <p:cNvPr id="20" name="text-30"/>
          <p:cNvSpPr txBox="1"/>
          <p:nvPr/>
        </p:nvSpPr>
        <p:spPr>
          <a:xfrm>
            <a:off x="9303791" y="3108960"/>
            <a:ext cx="2156384" cy="411480"/>
          </a:xfrm>
          <a:prstGeom prst="rect">
            <a:avLst/>
          </a:prstGeom>
          <a:noFill/>
          <a:ln/>
        </p:spPr>
        <p:txBody>
          <a:bodyPr wrap="square" lIns="0" tIns="0" rIns="0" bIns="0" rtlCol="0" anchor="t"/>
          <a:lstStyle/>
          <a:p>
            <a:pPr indent="0" marL="0">
              <a:buNone/>
            </a:pPr>
            <a:r>
              <a:rPr lang="en-US" sz="1100" dirty="0">
                <a:solidFill>
                  <a:schemeClr val="accent6"/>
                </a:solidFill>
              </a:rPr>
              <a:t>identische Komponenten, höchste Stufe</a:t>
            </a:r>
            <a:endParaRPr lang="en-US" sz="1100" dirty="0"/>
          </a:p>
        </p:txBody>
      </p:sp>
      <p:sp>
        <p:nvSpPr>
          <p:cNvPr id="21" name="text-31"/>
          <p:cNvSpPr txBox="1"/>
          <p:nvPr/>
        </p:nvSpPr>
        <p:spPr>
          <a:xfrm>
            <a:off x="548640" y="3840480"/>
            <a:ext cx="548640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DER DATENFLUSS IN SECHS STATIONEN</a:t>
            </a:r>
            <a:endParaRPr lang="en-US" sz="1100" dirty="0"/>
          </a:p>
        </p:txBody>
      </p:sp>
      <p:sp>
        <p:nvSpPr>
          <p:cNvPr id="22" name="card-32"/>
          <p:cNvSpPr/>
          <p:nvPr/>
        </p:nvSpPr>
        <p:spPr>
          <a:xfrm>
            <a:off x="548640" y="4160520"/>
            <a:ext cx="3515258" cy="914400"/>
          </a:xfrm>
          <a:prstGeom prst="roundRect">
            <a:avLst>
              <a:gd name="adj" fmla="val 8000"/>
            </a:avLst>
          </a:prstGeom>
          <a:solidFill>
            <a:schemeClr val="bg1"/>
          </a:solidFill>
          <a:ln w="12700">
            <a:solidFill>
              <a:srgbClr val="D3DDE2"/>
            </a:solidFill>
            <a:prstDash val="solid"/>
          </a:ln>
        </p:spPr>
      </p:sp>
      <p:sp>
        <p:nvSpPr>
          <p:cNvPr id="23" name="badge-33"/>
          <p:cNvSpPr/>
          <p:nvPr/>
        </p:nvSpPr>
        <p:spPr>
          <a:xfrm>
            <a:off x="731520" y="4343400"/>
            <a:ext cx="548640" cy="548640"/>
          </a:xfrm>
          <a:prstGeom prst="ellipse">
            <a:avLst/>
          </a:prstGeom>
          <a:solidFill>
            <a:schemeClr val="accent1"/>
          </a:solidFill>
          <a:ln/>
        </p:spPr>
      </p:sp>
      <p:pic>
        <p:nvPicPr>
          <p:cNvPr id="24" name="icon-34" descr="Symbol">    </p:cNvPr>
          <p:cNvPicPr>
            <a:picLocks noChangeAspect="1"/>
          </p:cNvPicPr>
          <p:nvPr/>
        </p:nvPicPr>
        <p:blipFill>
          <a:blip r:embed="rId1"/>
          <a:stretch>
            <a:fillRect/>
          </a:stretch>
        </p:blipFill>
        <p:spPr>
          <a:xfrm>
            <a:off x="852221" y="4464101"/>
            <a:ext cx="307238" cy="307238"/>
          </a:xfrm>
          <a:prstGeom prst="rect">
            <a:avLst/>
          </a:prstGeom>
        </p:spPr>
      </p:pic>
      <p:sp>
        <p:nvSpPr>
          <p:cNvPr id="25" name="text-35"/>
          <p:cNvSpPr txBox="1"/>
          <p:nvPr/>
        </p:nvSpPr>
        <p:spPr>
          <a:xfrm>
            <a:off x="1444752" y="4279392"/>
            <a:ext cx="246369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1  Rohdaten</a:t>
            </a:r>
            <a:endParaRPr lang="en-US" sz="1500" dirty="0"/>
          </a:p>
        </p:txBody>
      </p:sp>
      <p:sp>
        <p:nvSpPr>
          <p:cNvPr id="26" name="text-36"/>
          <p:cNvSpPr txBox="1"/>
          <p:nvPr/>
        </p:nvSpPr>
        <p:spPr>
          <a:xfrm>
            <a:off x="1444752" y="4590288"/>
            <a:ext cx="2491130" cy="411480"/>
          </a:xfrm>
          <a:prstGeom prst="rect">
            <a:avLst/>
          </a:prstGeom>
          <a:noFill/>
          <a:ln/>
        </p:spPr>
        <p:txBody>
          <a:bodyPr wrap="square" lIns="0" tIns="0" rIns="0" bIns="0" rtlCol="0" anchor="t"/>
          <a:lstStyle/>
          <a:p>
            <a:pPr indent="0" marL="0">
              <a:buNone/>
            </a:pPr>
            <a:r>
              <a:rPr lang="en-US" sz="1200" dirty="0">
                <a:solidFill>
                  <a:schemeClr val="accent6"/>
                </a:solidFill>
              </a:rPr>
              <a:t>Agilent ChemStation und MassHunter, Shimadzu QGD</a:t>
            </a:r>
            <a:endParaRPr lang="en-US" sz="1200" dirty="0"/>
          </a:p>
        </p:txBody>
      </p:sp>
      <p:sp>
        <p:nvSpPr>
          <p:cNvPr id="27" name="card-37"/>
          <p:cNvSpPr/>
          <p:nvPr/>
        </p:nvSpPr>
        <p:spPr>
          <a:xfrm>
            <a:off x="4338218" y="4160520"/>
            <a:ext cx="3515258" cy="914400"/>
          </a:xfrm>
          <a:prstGeom prst="roundRect">
            <a:avLst>
              <a:gd name="adj" fmla="val 8000"/>
            </a:avLst>
          </a:prstGeom>
          <a:solidFill>
            <a:schemeClr val="bg1"/>
          </a:solidFill>
          <a:ln w="12700">
            <a:solidFill>
              <a:srgbClr val="D3DDE2"/>
            </a:solidFill>
            <a:prstDash val="solid"/>
          </a:ln>
        </p:spPr>
      </p:sp>
      <p:sp>
        <p:nvSpPr>
          <p:cNvPr id="28" name="badge-38"/>
          <p:cNvSpPr/>
          <p:nvPr/>
        </p:nvSpPr>
        <p:spPr>
          <a:xfrm>
            <a:off x="4521098" y="4343400"/>
            <a:ext cx="548640" cy="548640"/>
          </a:xfrm>
          <a:prstGeom prst="ellipse">
            <a:avLst/>
          </a:prstGeom>
          <a:solidFill>
            <a:schemeClr val="accent1"/>
          </a:solidFill>
          <a:ln/>
        </p:spPr>
      </p:sp>
      <p:pic>
        <p:nvPicPr>
          <p:cNvPr id="29" name="icon-39" descr="Symbol">    </p:cNvPr>
          <p:cNvPicPr>
            <a:picLocks noChangeAspect="1"/>
          </p:cNvPicPr>
          <p:nvPr/>
        </p:nvPicPr>
        <p:blipFill>
          <a:blip r:embed="rId2"/>
          <a:stretch>
            <a:fillRect/>
          </a:stretch>
        </p:blipFill>
        <p:spPr>
          <a:xfrm>
            <a:off x="4641799" y="4464101"/>
            <a:ext cx="307238" cy="307238"/>
          </a:xfrm>
          <a:prstGeom prst="rect">
            <a:avLst/>
          </a:prstGeom>
        </p:spPr>
      </p:pic>
      <p:sp>
        <p:nvSpPr>
          <p:cNvPr id="30" name="text-40"/>
          <p:cNvSpPr txBox="1"/>
          <p:nvPr/>
        </p:nvSpPr>
        <p:spPr>
          <a:xfrm>
            <a:off x="5234330" y="4279392"/>
            <a:ext cx="246369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2  Integration</a:t>
            </a:r>
            <a:endParaRPr lang="en-US" sz="1500" dirty="0"/>
          </a:p>
        </p:txBody>
      </p:sp>
      <p:sp>
        <p:nvSpPr>
          <p:cNvPr id="31" name="text-41"/>
          <p:cNvSpPr txBox="1"/>
          <p:nvPr/>
        </p:nvSpPr>
        <p:spPr>
          <a:xfrm>
            <a:off x="5234330" y="4590288"/>
            <a:ext cx="2491130" cy="411480"/>
          </a:xfrm>
          <a:prstGeom prst="rect">
            <a:avLst/>
          </a:prstGeom>
          <a:noFill/>
          <a:ln/>
        </p:spPr>
        <p:txBody>
          <a:bodyPr wrap="square" lIns="0" tIns="0" rIns="0" bIns="0" rtlCol="0" anchor="t"/>
          <a:lstStyle/>
          <a:p>
            <a:pPr indent="0" marL="0">
              <a:buNone/>
            </a:pPr>
            <a:r>
              <a:rPr lang="en-US" sz="1200" dirty="0">
                <a:solidFill>
                  <a:schemeClr val="accent6"/>
                </a:solidFill>
              </a:rPr>
              <a:t>eigener Integrator, Korrekturen als Events</a:t>
            </a:r>
            <a:endParaRPr lang="en-US" sz="1200" dirty="0"/>
          </a:p>
        </p:txBody>
      </p:sp>
      <p:sp>
        <p:nvSpPr>
          <p:cNvPr id="32" name="card-42"/>
          <p:cNvSpPr/>
          <p:nvPr/>
        </p:nvSpPr>
        <p:spPr>
          <a:xfrm>
            <a:off x="8127797" y="4160520"/>
            <a:ext cx="3515258" cy="914400"/>
          </a:xfrm>
          <a:prstGeom prst="roundRect">
            <a:avLst>
              <a:gd name="adj" fmla="val 8000"/>
            </a:avLst>
          </a:prstGeom>
          <a:solidFill>
            <a:schemeClr val="bg1"/>
          </a:solidFill>
          <a:ln w="12700">
            <a:solidFill>
              <a:srgbClr val="D3DDE2"/>
            </a:solidFill>
            <a:prstDash val="solid"/>
          </a:ln>
        </p:spPr>
      </p:sp>
      <p:sp>
        <p:nvSpPr>
          <p:cNvPr id="33" name="badge-43"/>
          <p:cNvSpPr/>
          <p:nvPr/>
        </p:nvSpPr>
        <p:spPr>
          <a:xfrm>
            <a:off x="8310677" y="4343400"/>
            <a:ext cx="548640" cy="548640"/>
          </a:xfrm>
          <a:prstGeom prst="ellipse">
            <a:avLst/>
          </a:prstGeom>
          <a:solidFill>
            <a:schemeClr val="accent1"/>
          </a:solidFill>
          <a:ln/>
        </p:spPr>
      </p:sp>
      <p:pic>
        <p:nvPicPr>
          <p:cNvPr id="34" name="icon-44" descr="Symbol">    </p:cNvPr>
          <p:cNvPicPr>
            <a:picLocks noChangeAspect="1"/>
          </p:cNvPicPr>
          <p:nvPr/>
        </p:nvPicPr>
        <p:blipFill>
          <a:blip r:embed="rId3"/>
          <a:stretch>
            <a:fillRect/>
          </a:stretch>
        </p:blipFill>
        <p:spPr>
          <a:xfrm>
            <a:off x="8431378" y="4464101"/>
            <a:ext cx="307238" cy="307238"/>
          </a:xfrm>
          <a:prstGeom prst="rect">
            <a:avLst/>
          </a:prstGeom>
        </p:spPr>
      </p:pic>
      <p:sp>
        <p:nvSpPr>
          <p:cNvPr id="35" name="text-45"/>
          <p:cNvSpPr txBox="1"/>
          <p:nvPr/>
        </p:nvSpPr>
        <p:spPr>
          <a:xfrm>
            <a:off x="9023909" y="4279392"/>
            <a:ext cx="246369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3  Identifizierung</a:t>
            </a:r>
            <a:endParaRPr lang="en-US" sz="1500" dirty="0"/>
          </a:p>
        </p:txBody>
      </p:sp>
      <p:sp>
        <p:nvSpPr>
          <p:cNvPr id="36" name="text-46"/>
          <p:cNvSpPr txBox="1"/>
          <p:nvPr/>
        </p:nvSpPr>
        <p:spPr>
          <a:xfrm>
            <a:off x="9023909" y="4590288"/>
            <a:ext cx="2491130" cy="411480"/>
          </a:xfrm>
          <a:prstGeom prst="rect">
            <a:avLst/>
          </a:prstGeom>
          <a:noFill/>
          <a:ln/>
        </p:spPr>
        <p:txBody>
          <a:bodyPr wrap="square" lIns="0" tIns="0" rIns="0" bIns="0" rtlCol="0" anchor="t"/>
          <a:lstStyle/>
          <a:p>
            <a:pPr indent="0" marL="0">
              <a:buNone/>
            </a:pPr>
            <a:r>
              <a:rPr lang="en-US" sz="1200" dirty="0">
                <a:solidFill>
                  <a:schemeClr val="accent6"/>
                </a:solidFill>
              </a:rPr>
              <a:t>PBM/NIST-Suche, Fast Search, Dekonvolution</a:t>
            </a:r>
            <a:endParaRPr lang="en-US" sz="1200" dirty="0"/>
          </a:p>
        </p:txBody>
      </p:sp>
      <p:sp>
        <p:nvSpPr>
          <p:cNvPr id="37" name="card-47"/>
          <p:cNvSpPr/>
          <p:nvPr/>
        </p:nvSpPr>
        <p:spPr>
          <a:xfrm>
            <a:off x="548640" y="5257800"/>
            <a:ext cx="3515258" cy="914400"/>
          </a:xfrm>
          <a:prstGeom prst="roundRect">
            <a:avLst>
              <a:gd name="adj" fmla="val 8000"/>
            </a:avLst>
          </a:prstGeom>
          <a:solidFill>
            <a:schemeClr val="bg1"/>
          </a:solidFill>
          <a:ln w="12700">
            <a:solidFill>
              <a:srgbClr val="D3DDE2"/>
            </a:solidFill>
            <a:prstDash val="solid"/>
          </a:ln>
        </p:spPr>
      </p:sp>
      <p:sp>
        <p:nvSpPr>
          <p:cNvPr id="38" name="badge-48"/>
          <p:cNvSpPr/>
          <p:nvPr/>
        </p:nvSpPr>
        <p:spPr>
          <a:xfrm>
            <a:off x="731520" y="5440680"/>
            <a:ext cx="548640" cy="548640"/>
          </a:xfrm>
          <a:prstGeom prst="ellipse">
            <a:avLst/>
          </a:prstGeom>
          <a:solidFill>
            <a:schemeClr val="accent1"/>
          </a:solidFill>
          <a:ln/>
        </p:spPr>
      </p:sp>
      <p:pic>
        <p:nvPicPr>
          <p:cNvPr id="39" name="icon-49" descr="Symbol">    </p:cNvPr>
          <p:cNvPicPr>
            <a:picLocks noChangeAspect="1"/>
          </p:cNvPicPr>
          <p:nvPr/>
        </p:nvPicPr>
        <p:blipFill>
          <a:blip r:embed="rId4"/>
          <a:stretch>
            <a:fillRect/>
          </a:stretch>
        </p:blipFill>
        <p:spPr>
          <a:xfrm>
            <a:off x="852221" y="5561381"/>
            <a:ext cx="307238" cy="307238"/>
          </a:xfrm>
          <a:prstGeom prst="rect">
            <a:avLst/>
          </a:prstGeom>
        </p:spPr>
      </p:pic>
      <p:sp>
        <p:nvSpPr>
          <p:cNvPr id="40" name="text-50"/>
          <p:cNvSpPr txBox="1"/>
          <p:nvPr/>
        </p:nvSpPr>
        <p:spPr>
          <a:xfrm>
            <a:off x="1444752" y="5376672"/>
            <a:ext cx="246369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4  Quantifizierung</a:t>
            </a:r>
            <a:endParaRPr lang="en-US" sz="1500" dirty="0"/>
          </a:p>
        </p:txBody>
      </p:sp>
      <p:sp>
        <p:nvSpPr>
          <p:cNvPr id="41" name="text-51"/>
          <p:cNvSpPr txBox="1"/>
          <p:nvPr/>
        </p:nvSpPr>
        <p:spPr>
          <a:xfrm>
            <a:off x="1444752" y="5687568"/>
            <a:ext cx="2491130" cy="411480"/>
          </a:xfrm>
          <a:prstGeom prst="rect">
            <a:avLst/>
          </a:prstGeom>
          <a:noFill/>
          <a:ln/>
        </p:spPr>
        <p:txBody>
          <a:bodyPr wrap="square" lIns="0" tIns="0" rIns="0" bIns="0" rtlCol="0" anchor="t"/>
          <a:lstStyle/>
          <a:p>
            <a:pPr indent="0" marL="0">
              <a:buNone/>
            </a:pPr>
            <a:r>
              <a:rPr lang="en-US" sz="1200" dirty="0">
                <a:solidFill>
                  <a:schemeClr val="accent6"/>
                </a:solidFill>
              </a:rPr>
              <a:t>NIAS mg/kg, ISTD, Gesamtextraktion, HS-Screening</a:t>
            </a:r>
            <a:endParaRPr lang="en-US" sz="1200" dirty="0"/>
          </a:p>
        </p:txBody>
      </p:sp>
      <p:sp>
        <p:nvSpPr>
          <p:cNvPr id="42" name="card-52"/>
          <p:cNvSpPr/>
          <p:nvPr/>
        </p:nvSpPr>
        <p:spPr>
          <a:xfrm>
            <a:off x="4338218" y="5257800"/>
            <a:ext cx="3515258" cy="914400"/>
          </a:xfrm>
          <a:prstGeom prst="roundRect">
            <a:avLst>
              <a:gd name="adj" fmla="val 8000"/>
            </a:avLst>
          </a:prstGeom>
          <a:solidFill>
            <a:schemeClr val="bg1"/>
          </a:solidFill>
          <a:ln w="12700">
            <a:solidFill>
              <a:srgbClr val="D3DDE2"/>
            </a:solidFill>
            <a:prstDash val="solid"/>
          </a:ln>
        </p:spPr>
      </p:sp>
      <p:sp>
        <p:nvSpPr>
          <p:cNvPr id="43" name="badge-53"/>
          <p:cNvSpPr/>
          <p:nvPr/>
        </p:nvSpPr>
        <p:spPr>
          <a:xfrm>
            <a:off x="4521098" y="5440680"/>
            <a:ext cx="548640" cy="548640"/>
          </a:xfrm>
          <a:prstGeom prst="ellipse">
            <a:avLst/>
          </a:prstGeom>
          <a:solidFill>
            <a:schemeClr val="accent1"/>
          </a:solidFill>
          <a:ln/>
        </p:spPr>
      </p:sp>
      <p:pic>
        <p:nvPicPr>
          <p:cNvPr id="44" name="icon-54" descr="Symbol">    </p:cNvPr>
          <p:cNvPicPr>
            <a:picLocks noChangeAspect="1"/>
          </p:cNvPicPr>
          <p:nvPr/>
        </p:nvPicPr>
        <p:blipFill>
          <a:blip r:embed="rId5"/>
          <a:stretch>
            <a:fillRect/>
          </a:stretch>
        </p:blipFill>
        <p:spPr>
          <a:xfrm>
            <a:off x="4641799" y="5561381"/>
            <a:ext cx="307238" cy="307238"/>
          </a:xfrm>
          <a:prstGeom prst="rect">
            <a:avLst/>
          </a:prstGeom>
        </p:spPr>
      </p:pic>
      <p:sp>
        <p:nvSpPr>
          <p:cNvPr id="45" name="text-55"/>
          <p:cNvSpPr txBox="1"/>
          <p:nvPr/>
        </p:nvSpPr>
        <p:spPr>
          <a:xfrm>
            <a:off x="5234330" y="5376672"/>
            <a:ext cx="246369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5  Doppelbestimmung</a:t>
            </a:r>
            <a:endParaRPr lang="en-US" sz="1500" dirty="0"/>
          </a:p>
        </p:txBody>
      </p:sp>
      <p:sp>
        <p:nvSpPr>
          <p:cNvPr id="46" name="text-56"/>
          <p:cNvSpPr txBox="1"/>
          <p:nvPr/>
        </p:nvSpPr>
        <p:spPr>
          <a:xfrm>
            <a:off x="5234330" y="5687568"/>
            <a:ext cx="2491130" cy="411480"/>
          </a:xfrm>
          <a:prstGeom prst="rect">
            <a:avLst/>
          </a:prstGeom>
          <a:noFill/>
          <a:ln/>
        </p:spPr>
        <p:txBody>
          <a:bodyPr wrap="square" lIns="0" tIns="0" rIns="0" bIns="0" rtlCol="0" anchor="t"/>
          <a:lstStyle/>
          <a:p>
            <a:pPr indent="0" marL="0">
              <a:buNone/>
            </a:pPr>
            <a:r>
              <a:rPr lang="en-US" sz="1200" dirty="0">
                <a:solidFill>
                  <a:schemeClr val="accent6"/>
                </a:solidFill>
              </a:rPr>
              <a:t>Feature-Pairing, Gap Filling, Konsens-Name, Ampel</a:t>
            </a:r>
            <a:endParaRPr lang="en-US" sz="1200" dirty="0"/>
          </a:p>
        </p:txBody>
      </p:sp>
      <p:sp>
        <p:nvSpPr>
          <p:cNvPr id="47" name="card-57"/>
          <p:cNvSpPr/>
          <p:nvPr/>
        </p:nvSpPr>
        <p:spPr>
          <a:xfrm>
            <a:off x="8127797" y="5257800"/>
            <a:ext cx="3515258" cy="914400"/>
          </a:xfrm>
          <a:prstGeom prst="roundRect">
            <a:avLst>
              <a:gd name="adj" fmla="val 8000"/>
            </a:avLst>
          </a:prstGeom>
          <a:solidFill>
            <a:schemeClr val="bg1"/>
          </a:solidFill>
          <a:ln w="12700">
            <a:solidFill>
              <a:srgbClr val="D3DDE2"/>
            </a:solidFill>
            <a:prstDash val="solid"/>
          </a:ln>
        </p:spPr>
      </p:sp>
      <p:sp>
        <p:nvSpPr>
          <p:cNvPr id="48" name="badge-58"/>
          <p:cNvSpPr/>
          <p:nvPr/>
        </p:nvSpPr>
        <p:spPr>
          <a:xfrm>
            <a:off x="8310677" y="5440680"/>
            <a:ext cx="548640" cy="548640"/>
          </a:xfrm>
          <a:prstGeom prst="ellipse">
            <a:avLst/>
          </a:prstGeom>
          <a:solidFill>
            <a:schemeClr val="accent1"/>
          </a:solidFill>
          <a:ln/>
        </p:spPr>
      </p:sp>
      <p:pic>
        <p:nvPicPr>
          <p:cNvPr id="49" name="icon-59" descr="Symbol">    </p:cNvPr>
          <p:cNvPicPr>
            <a:picLocks noChangeAspect="1"/>
          </p:cNvPicPr>
          <p:nvPr/>
        </p:nvPicPr>
        <p:blipFill>
          <a:blip r:embed="rId6"/>
          <a:stretch>
            <a:fillRect/>
          </a:stretch>
        </p:blipFill>
        <p:spPr>
          <a:xfrm>
            <a:off x="8431378" y="5561381"/>
            <a:ext cx="307238" cy="307238"/>
          </a:xfrm>
          <a:prstGeom prst="rect">
            <a:avLst/>
          </a:prstGeom>
        </p:spPr>
      </p:pic>
      <p:sp>
        <p:nvSpPr>
          <p:cNvPr id="50" name="text-60"/>
          <p:cNvSpPr txBox="1"/>
          <p:nvPr/>
        </p:nvSpPr>
        <p:spPr>
          <a:xfrm>
            <a:off x="9023909" y="5376672"/>
            <a:ext cx="246369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6  Automation</a:t>
            </a:r>
            <a:endParaRPr lang="en-US" sz="1500" dirty="0"/>
          </a:p>
        </p:txBody>
      </p:sp>
      <p:sp>
        <p:nvSpPr>
          <p:cNvPr id="51" name="text-61"/>
          <p:cNvSpPr txBox="1"/>
          <p:nvPr/>
        </p:nvSpPr>
        <p:spPr>
          <a:xfrm>
            <a:off x="9023909" y="5687568"/>
            <a:ext cx="2491130" cy="411480"/>
          </a:xfrm>
          <a:prstGeom prst="rect">
            <a:avLst/>
          </a:prstGeom>
          <a:noFill/>
          <a:ln/>
        </p:spPr>
        <p:txBody>
          <a:bodyPr wrap="square" lIns="0" tIns="0" rIns="0" bIns="0" rtlCol="0" anchor="t"/>
          <a:lstStyle/>
          <a:p>
            <a:pPr indent="0" marL="0">
              <a:buNone/>
            </a:pPr>
            <a:r>
              <a:rPr lang="en-US" sz="1200" dirty="0">
                <a:solidFill>
                  <a:schemeClr val="accent6"/>
                </a:solidFill>
              </a:rPr>
              <a:t>Watcher, Job-Prozesse, Report²-Regeln, Auslieferung</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02 · ARCHITEKTUR</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Algorithmen, Referenz-Engines, drei Prozesse</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Die Fachpakete sind Qt-frei; Fenster, Watcher und Job-Prozess teilen denselben Workspace und dieselbe Methode.</a:t>
            </a:r>
            <a:endParaRPr lang="en-US" sz="1600" dirty="0"/>
          </a:p>
        </p:txBody>
      </p:sp>
      <p:sp>
        <p:nvSpPr>
          <p:cNvPr id="5" name="text-62"/>
          <p:cNvSpPr txBox="1"/>
          <p:nvPr/>
        </p:nvSpPr>
        <p:spPr>
          <a:xfrm>
            <a:off x="548640" y="1755648"/>
            <a:ext cx="7315200" cy="237744"/>
          </a:xfrm>
          <a:prstGeom prst="rect">
            <a:avLst/>
          </a:prstGeom>
          <a:noFill/>
          <a:ln/>
        </p:spPr>
        <p:txBody>
          <a:bodyPr wrap="square" lIns="0" tIns="0" rIns="0" bIns="0" rtlCol="0" anchor="t"/>
          <a:lstStyle/>
          <a:p>
            <a:pPr indent="0" marL="0">
              <a:buNone/>
            </a:pPr>
            <a:r>
              <a:rPr lang="en-US" sz="1000" b="1" spc="100" kern="0" dirty="0">
                <a:solidFill>
                  <a:schemeClr val="accent6"/>
                </a:solidFill>
              </a:rPr>
              <a:t>PROZESSE</a:t>
            </a:r>
            <a:endParaRPr lang="en-US" sz="1000" dirty="0"/>
          </a:p>
        </p:txBody>
      </p:sp>
      <p:sp>
        <p:nvSpPr>
          <p:cNvPr id="6" name="card-63"/>
          <p:cNvSpPr/>
          <p:nvPr/>
        </p:nvSpPr>
        <p:spPr>
          <a:xfrm>
            <a:off x="548640" y="2011680"/>
            <a:ext cx="3017520" cy="914400"/>
          </a:xfrm>
          <a:prstGeom prst="roundRect">
            <a:avLst>
              <a:gd name="adj" fmla="val 8000"/>
            </a:avLst>
          </a:prstGeom>
          <a:solidFill>
            <a:schemeClr val="tx2"/>
          </a:solidFill>
          <a:ln/>
        </p:spPr>
      </p:sp>
      <p:sp>
        <p:nvSpPr>
          <p:cNvPr id="7" name="text-64"/>
          <p:cNvSpPr txBox="1"/>
          <p:nvPr/>
        </p:nvSpPr>
        <p:spPr>
          <a:xfrm>
            <a:off x="731520" y="2103120"/>
            <a:ext cx="2651760" cy="274320"/>
          </a:xfrm>
          <a:prstGeom prst="rect">
            <a:avLst/>
          </a:prstGeom>
          <a:noFill/>
          <a:ln/>
        </p:spPr>
        <p:txBody>
          <a:bodyPr wrap="square" lIns="0" tIns="0" rIns="0" bIns="0" rtlCol="0" anchor="t"/>
          <a:lstStyle/>
          <a:p>
            <a:pPr indent="0" marL="0">
              <a:buNone/>
            </a:pPr>
            <a:r>
              <a:rPr lang="en-US" sz="1500" b="1" dirty="0">
                <a:solidFill>
                  <a:srgbClr val="FFFFFF"/>
                </a:solidFill>
                <a:latin typeface="+mj-lt" pitchFamily="34" charset="0"/>
                <a:ea typeface="+mj-lt" pitchFamily="34" charset="-122"/>
                <a:cs typeface="+mj-lt" pitchFamily="34" charset="-120"/>
              </a:rPr>
              <a:t>GUI</a:t>
            </a:r>
            <a:endParaRPr lang="en-US" sz="1500" dirty="0"/>
          </a:p>
        </p:txBody>
      </p:sp>
      <p:sp>
        <p:nvSpPr>
          <p:cNvPr id="8" name="text-65"/>
          <p:cNvSpPr txBox="1"/>
          <p:nvPr/>
        </p:nvSpPr>
        <p:spPr>
          <a:xfrm>
            <a:off x="731520" y="2395728"/>
            <a:ext cx="2743200" cy="502920"/>
          </a:xfrm>
          <a:prstGeom prst="rect">
            <a:avLst/>
          </a:prstGeom>
          <a:noFill/>
          <a:ln/>
        </p:spPr>
        <p:txBody>
          <a:bodyPr wrap="square" lIns="0" tIns="0" rIns="0" bIns="0" rtlCol="0" anchor="t"/>
          <a:lstStyle/>
          <a:p>
            <a:pPr indent="0" marL="0">
              <a:buNone/>
            </a:pPr>
            <a:r>
              <a:rPr lang="en-US" sz="1100" dirty="0">
                <a:solidFill>
                  <a:srgbClr val="DCE8ED"/>
                </a:solidFill>
              </a:rPr>
              <a:t>PySide6 · pyqtgraph · 12 Panels</a:t>
            </a:r>
            <a:endParaRPr lang="en-US" sz="1100" dirty="0"/>
          </a:p>
          <a:p>
            <a:pPr indent="0" marL="0">
              <a:buNone/>
            </a:pPr>
            <a:r>
              <a:rPr lang="en-US" sz="1100" dirty="0">
                <a:solidFill>
                  <a:srgbClr val="DCE8ED"/>
                </a:solidFill>
              </a:rPr>
              <a:t>Undo und Audit-Trail · gcws/ui 25,8k</a:t>
            </a:r>
            <a:endParaRPr lang="en-US" sz="1100" dirty="0"/>
          </a:p>
        </p:txBody>
      </p:sp>
      <p:sp>
        <p:nvSpPr>
          <p:cNvPr id="9" name="card-66"/>
          <p:cNvSpPr/>
          <p:nvPr/>
        </p:nvSpPr>
        <p:spPr>
          <a:xfrm>
            <a:off x="4587088" y="2011680"/>
            <a:ext cx="3017520" cy="914400"/>
          </a:xfrm>
          <a:prstGeom prst="roundRect">
            <a:avLst>
              <a:gd name="adj" fmla="val 8000"/>
            </a:avLst>
          </a:prstGeom>
          <a:solidFill>
            <a:schemeClr val="tx2"/>
          </a:solidFill>
          <a:ln/>
        </p:spPr>
      </p:sp>
      <p:sp>
        <p:nvSpPr>
          <p:cNvPr id="10" name="text-67"/>
          <p:cNvSpPr txBox="1"/>
          <p:nvPr/>
        </p:nvSpPr>
        <p:spPr>
          <a:xfrm>
            <a:off x="4769968" y="2103120"/>
            <a:ext cx="2651760" cy="274320"/>
          </a:xfrm>
          <a:prstGeom prst="rect">
            <a:avLst/>
          </a:prstGeom>
          <a:noFill/>
          <a:ln/>
        </p:spPr>
        <p:txBody>
          <a:bodyPr wrap="square" lIns="0" tIns="0" rIns="0" bIns="0" rtlCol="0" anchor="t"/>
          <a:lstStyle/>
          <a:p>
            <a:pPr indent="0" marL="0">
              <a:buNone/>
            </a:pPr>
            <a:r>
              <a:rPr lang="en-US" sz="1500" b="1" dirty="0">
                <a:solidFill>
                  <a:srgbClr val="FFFFFF"/>
                </a:solidFill>
                <a:latin typeface="+mj-lt" pitchFamily="34" charset="0"/>
                <a:ea typeface="+mj-lt" pitchFamily="34" charset="-122"/>
                <a:cs typeface="+mj-lt" pitchFamily="34" charset="-120"/>
              </a:rPr>
              <a:t>Watcher</a:t>
            </a:r>
            <a:endParaRPr lang="en-US" sz="1500" dirty="0"/>
          </a:p>
        </p:txBody>
      </p:sp>
      <p:sp>
        <p:nvSpPr>
          <p:cNvPr id="11" name="text-68"/>
          <p:cNvSpPr txBox="1"/>
          <p:nvPr/>
        </p:nvSpPr>
        <p:spPr>
          <a:xfrm>
            <a:off x="4769968" y="2395728"/>
            <a:ext cx="2743200" cy="502920"/>
          </a:xfrm>
          <a:prstGeom prst="rect">
            <a:avLst/>
          </a:prstGeom>
          <a:noFill/>
          <a:ln/>
        </p:spPr>
        <p:txBody>
          <a:bodyPr wrap="square" lIns="0" tIns="0" rIns="0" bIns="0" rtlCol="0" anchor="t"/>
          <a:lstStyle/>
          <a:p>
            <a:pPr indent="0" marL="0">
              <a:buNone/>
            </a:pPr>
            <a:r>
              <a:rPr lang="en-US" sz="1100" dirty="0">
                <a:solidFill>
                  <a:srgbClr val="DCE8ED"/>
                </a:solidFill>
              </a:rPr>
              <a:t>python -m gcws --watch · Tray-Icon</a:t>
            </a:r>
            <a:endParaRPr lang="en-US" sz="1100" dirty="0"/>
          </a:p>
          <a:p>
            <a:pPr indent="0" marL="0">
              <a:buNone/>
            </a:pPr>
            <a:r>
              <a:rPr lang="en-US" sz="1100" dirty="0">
                <a:solidFill>
                  <a:srgbClr val="DCE8ED"/>
                </a:solidFill>
              </a:rPr>
              <a:t>ein Watcher je Datenordner (Lock)</a:t>
            </a:r>
            <a:endParaRPr lang="en-US" sz="1100" dirty="0"/>
          </a:p>
        </p:txBody>
      </p:sp>
      <p:sp>
        <p:nvSpPr>
          <p:cNvPr id="12" name="card-69"/>
          <p:cNvSpPr/>
          <p:nvPr/>
        </p:nvSpPr>
        <p:spPr>
          <a:xfrm>
            <a:off x="8625535" y="2011680"/>
            <a:ext cx="3017520" cy="914400"/>
          </a:xfrm>
          <a:prstGeom prst="roundRect">
            <a:avLst>
              <a:gd name="adj" fmla="val 8000"/>
            </a:avLst>
          </a:prstGeom>
          <a:solidFill>
            <a:schemeClr val="tx2"/>
          </a:solidFill>
          <a:ln/>
        </p:spPr>
      </p:sp>
      <p:sp>
        <p:nvSpPr>
          <p:cNvPr id="13" name="text-70"/>
          <p:cNvSpPr txBox="1"/>
          <p:nvPr/>
        </p:nvSpPr>
        <p:spPr>
          <a:xfrm>
            <a:off x="8808415" y="2103120"/>
            <a:ext cx="2651760" cy="274320"/>
          </a:xfrm>
          <a:prstGeom prst="rect">
            <a:avLst/>
          </a:prstGeom>
          <a:noFill/>
          <a:ln/>
        </p:spPr>
        <p:txBody>
          <a:bodyPr wrap="square" lIns="0" tIns="0" rIns="0" bIns="0" rtlCol="0" anchor="t"/>
          <a:lstStyle/>
          <a:p>
            <a:pPr indent="0" marL="0">
              <a:buNone/>
            </a:pPr>
            <a:r>
              <a:rPr lang="en-US" sz="1500" b="1" dirty="0">
                <a:solidFill>
                  <a:srgbClr val="FFFFFF"/>
                </a:solidFill>
                <a:latin typeface="+mj-lt" pitchFamily="34" charset="0"/>
                <a:ea typeface="+mj-lt" pitchFamily="34" charset="-122"/>
                <a:cs typeface="+mj-lt" pitchFamily="34" charset="-120"/>
              </a:rPr>
              <a:t>Job-Prozess</a:t>
            </a:r>
            <a:endParaRPr lang="en-US" sz="1500" dirty="0"/>
          </a:p>
        </p:txBody>
      </p:sp>
      <p:sp>
        <p:nvSpPr>
          <p:cNvPr id="14" name="text-71"/>
          <p:cNvSpPr txBox="1"/>
          <p:nvPr/>
        </p:nvSpPr>
        <p:spPr>
          <a:xfrm>
            <a:off x="8808415" y="2395728"/>
            <a:ext cx="2743200" cy="502920"/>
          </a:xfrm>
          <a:prstGeom prst="rect">
            <a:avLst/>
          </a:prstGeom>
          <a:noFill/>
          <a:ln/>
        </p:spPr>
        <p:txBody>
          <a:bodyPr wrap="square" lIns="0" tIns="0" rIns="0" bIns="0" rtlCol="0" anchor="t"/>
          <a:lstStyle/>
          <a:p>
            <a:pPr indent="0" marL="0">
              <a:buNone/>
            </a:pPr>
            <a:r>
              <a:rPr lang="en-US" sz="1100" dirty="0">
                <a:solidFill>
                  <a:srgbClr val="DCE8ED"/>
                </a:solidFill>
              </a:rPr>
              <a:t>--process-job · genau eine Probe</a:t>
            </a:r>
            <a:endParaRPr lang="en-US" sz="1100" dirty="0"/>
          </a:p>
          <a:p>
            <a:pPr indent="0" marL="0">
              <a:buNone/>
            </a:pPr>
            <a:r>
              <a:rPr lang="en-US" sz="1100" dirty="0">
                <a:solidFill>
                  <a:srgbClr val="DCE8ED"/>
                </a:solidFill>
              </a:rPr>
              <a:t>result.json · Ende per os._exit</a:t>
            </a:r>
            <a:endParaRPr lang="en-US" sz="1100" dirty="0"/>
          </a:p>
        </p:txBody>
      </p:sp>
      <p:sp>
        <p:nvSpPr>
          <p:cNvPr id="15" name="arrow-72"/>
          <p:cNvSpPr/>
          <p:nvPr/>
        </p:nvSpPr>
        <p:spPr>
          <a:xfrm>
            <a:off x="3639312" y="2514600"/>
            <a:ext cx="874624" cy="91"/>
          </a:xfrm>
          <a:prstGeom prst="line">
            <a:avLst/>
          </a:prstGeom>
          <a:noFill/>
          <a:ln w="25400">
            <a:solidFill>
              <a:schemeClr val="accent1"/>
            </a:solidFill>
            <a:prstDash val="solid"/>
            <a:tailEnd type="triangle"/>
          </a:ln>
        </p:spPr>
      </p:sp>
      <p:sp>
        <p:nvSpPr>
          <p:cNvPr id="16" name="text-73"/>
          <p:cNvSpPr txBox="1"/>
          <p:nvPr/>
        </p:nvSpPr>
        <p:spPr>
          <a:xfrm>
            <a:off x="3566160" y="2084832"/>
            <a:ext cx="1020928" cy="384048"/>
          </a:xfrm>
          <a:prstGeom prst="rect">
            <a:avLst/>
          </a:prstGeom>
          <a:noFill/>
          <a:ln/>
        </p:spPr>
        <p:txBody>
          <a:bodyPr wrap="square" lIns="0" tIns="0" rIns="0" bIns="0" rtlCol="0" anchor="t"/>
          <a:lstStyle/>
          <a:p>
            <a:pPr algn="ctr" indent="0" marL="0">
              <a:buNone/>
            </a:pPr>
            <a:r>
              <a:rPr lang="en-US" sz="1000" dirty="0">
                <a:solidFill>
                  <a:schemeClr val="accent1"/>
                </a:solidFill>
              </a:rPr>
              <a:t>Befehle</a:t>
            </a:r>
            <a:endParaRPr lang="en-US" sz="1000" dirty="0"/>
          </a:p>
          <a:p>
            <a:pPr algn="ctr" indent="0" marL="0">
              <a:buNone/>
            </a:pPr>
            <a:r>
              <a:rPr lang="en-US" sz="1000" dirty="0">
                <a:solidFill>
                  <a:schemeClr val="accent1"/>
                </a:solidFill>
              </a:rPr>
              <a:t>lokaler Socket</a:t>
            </a:r>
            <a:endParaRPr lang="en-US" sz="1000" dirty="0"/>
          </a:p>
        </p:txBody>
      </p:sp>
      <p:sp>
        <p:nvSpPr>
          <p:cNvPr id="17" name="arrow-74"/>
          <p:cNvSpPr/>
          <p:nvPr/>
        </p:nvSpPr>
        <p:spPr>
          <a:xfrm>
            <a:off x="7677760" y="2514600"/>
            <a:ext cx="874624" cy="91"/>
          </a:xfrm>
          <a:prstGeom prst="line">
            <a:avLst/>
          </a:prstGeom>
          <a:noFill/>
          <a:ln w="25400">
            <a:solidFill>
              <a:schemeClr val="accent1"/>
            </a:solidFill>
            <a:prstDash val="solid"/>
            <a:tailEnd type="triangle"/>
          </a:ln>
        </p:spPr>
      </p:sp>
      <p:sp>
        <p:nvSpPr>
          <p:cNvPr id="18" name="text-75"/>
          <p:cNvSpPr txBox="1"/>
          <p:nvPr/>
        </p:nvSpPr>
        <p:spPr>
          <a:xfrm>
            <a:off x="7604608" y="2084832"/>
            <a:ext cx="1020928" cy="384048"/>
          </a:xfrm>
          <a:prstGeom prst="rect">
            <a:avLst/>
          </a:prstGeom>
          <a:noFill/>
          <a:ln/>
        </p:spPr>
        <p:txBody>
          <a:bodyPr wrap="square" lIns="0" tIns="0" rIns="0" bIns="0" rtlCol="0" anchor="t"/>
          <a:lstStyle/>
          <a:p>
            <a:pPr algn="ctr" indent="0" marL="0">
              <a:buNone/>
            </a:pPr>
            <a:r>
              <a:rPr lang="en-US" sz="1000" dirty="0">
                <a:solidFill>
                  <a:schemeClr val="accent1"/>
                </a:solidFill>
              </a:rPr>
              <a:t>startet je Probe</a:t>
            </a:r>
            <a:endParaRPr lang="en-US" sz="1000" dirty="0"/>
          </a:p>
          <a:p>
            <a:pPr algn="ctr" indent="0" marL="0">
              <a:buNone/>
            </a:pPr>
            <a:r>
              <a:rPr lang="en-US" sz="1000" dirty="0">
                <a:solidFill>
                  <a:schemeClr val="accent1"/>
                </a:solidFill>
              </a:rPr>
              <a:t>Job-Objekt</a:t>
            </a:r>
            <a:endParaRPr lang="en-US" sz="1000" dirty="0"/>
          </a:p>
        </p:txBody>
      </p:sp>
      <p:sp>
        <p:nvSpPr>
          <p:cNvPr id="19" name="card-76"/>
          <p:cNvSpPr/>
          <p:nvPr/>
        </p:nvSpPr>
        <p:spPr>
          <a:xfrm>
            <a:off x="548640" y="3063240"/>
            <a:ext cx="11094415" cy="384048"/>
          </a:xfrm>
          <a:prstGeom prst="roundRect">
            <a:avLst>
              <a:gd name="adj" fmla="val 19048"/>
            </a:avLst>
          </a:prstGeom>
          <a:solidFill>
            <a:schemeClr val="bg2"/>
          </a:solidFill>
          <a:ln/>
        </p:spPr>
      </p:sp>
      <p:sp>
        <p:nvSpPr>
          <p:cNvPr id="20" name="text-77"/>
          <p:cNvSpPr txBox="1"/>
          <p:nvPr/>
        </p:nvSpPr>
        <p:spPr>
          <a:xfrm>
            <a:off x="731520" y="3136392"/>
            <a:ext cx="10728655" cy="256032"/>
          </a:xfrm>
          <a:prstGeom prst="rect">
            <a:avLst/>
          </a:prstGeom>
          <a:noFill/>
          <a:ln/>
        </p:spPr>
        <p:txBody>
          <a:bodyPr wrap="square" lIns="0" tIns="0" rIns="0" bIns="0" rtlCol="0" anchor="t"/>
          <a:lstStyle/>
          <a:p>
            <a:pPr indent="0" marL="0">
              <a:buNone/>
            </a:pPr>
            <a:r>
              <a:rPr lang="en-US" sz="1200" b="1" dirty="0">
                <a:solidFill>
                  <a:schemeClr val="tx2"/>
                </a:solidFill>
              </a:rPr>
              <a:t>Automation-Journal  </a:t>
            </a:r>
            <a:pPr indent="0" marL="0">
              <a:buNone/>
            </a:pPr>
            <a:r>
              <a:rPr lang="en-US" sz="1200" dirty="0">
                <a:solidFill>
                  <a:schemeClr val="tx1"/>
                </a:solidFill>
              </a:rPr>
              <a:t>SQLite im WAL-Modus: die GUI liest, während der Watcher schreibt; Zustandswechsel per Compare-and-Set</a:t>
            </a:r>
            <a:endParaRPr lang="en-US" sz="1200" dirty="0"/>
          </a:p>
        </p:txBody>
      </p:sp>
      <p:sp>
        <p:nvSpPr>
          <p:cNvPr id="21" name="text-78"/>
          <p:cNvSpPr txBox="1"/>
          <p:nvPr/>
        </p:nvSpPr>
        <p:spPr>
          <a:xfrm>
            <a:off x="548640" y="3639312"/>
            <a:ext cx="7315200" cy="237744"/>
          </a:xfrm>
          <a:prstGeom prst="rect">
            <a:avLst/>
          </a:prstGeom>
          <a:noFill/>
          <a:ln/>
        </p:spPr>
        <p:txBody>
          <a:bodyPr wrap="square" lIns="0" tIns="0" rIns="0" bIns="0" rtlCol="0" anchor="t"/>
          <a:lstStyle/>
          <a:p>
            <a:pPr indent="0" marL="0">
              <a:buNone/>
            </a:pPr>
            <a:r>
              <a:rPr lang="en-US" sz="1000" b="1" spc="100" kern="0" dirty="0">
                <a:solidFill>
                  <a:schemeClr val="accent6"/>
                </a:solidFill>
              </a:rPr>
              <a:t>DOMÄNENKERN  gcws/</a:t>
            </a:r>
            <a:endParaRPr lang="en-US" sz="1000" dirty="0"/>
          </a:p>
        </p:txBody>
      </p:sp>
      <p:sp>
        <p:nvSpPr>
          <p:cNvPr id="22" name="card-79"/>
          <p:cNvSpPr/>
          <p:nvPr/>
        </p:nvSpPr>
        <p:spPr>
          <a:xfrm>
            <a:off x="548640" y="3895344"/>
            <a:ext cx="1135177" cy="1024128"/>
          </a:xfrm>
          <a:prstGeom prst="roundRect">
            <a:avLst>
              <a:gd name="adj" fmla="val 7143"/>
            </a:avLst>
          </a:prstGeom>
          <a:solidFill>
            <a:schemeClr val="bg1"/>
          </a:solidFill>
          <a:ln w="12700">
            <a:solidFill>
              <a:srgbClr val="1F7A99"/>
            </a:solidFill>
            <a:prstDash val="solid"/>
          </a:ln>
        </p:spPr>
      </p:sp>
      <p:sp>
        <p:nvSpPr>
          <p:cNvPr id="23" name="text-80"/>
          <p:cNvSpPr txBox="1"/>
          <p:nvPr/>
        </p:nvSpPr>
        <p:spPr>
          <a:xfrm>
            <a:off x="640080" y="3986784"/>
            <a:ext cx="952297" cy="256032"/>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io</a:t>
            </a:r>
            <a:endParaRPr lang="en-US" sz="1200" dirty="0"/>
          </a:p>
        </p:txBody>
      </p:sp>
      <p:sp>
        <p:nvSpPr>
          <p:cNvPr id="24" name="text-81"/>
          <p:cNvSpPr txBox="1"/>
          <p:nvPr/>
        </p:nvSpPr>
        <p:spPr>
          <a:xfrm>
            <a:off x="640080" y="4242816"/>
            <a:ext cx="952297" cy="201168"/>
          </a:xfrm>
          <a:prstGeom prst="rect">
            <a:avLst/>
          </a:prstGeom>
          <a:noFill/>
          <a:ln/>
        </p:spPr>
        <p:txBody>
          <a:bodyPr wrap="square" lIns="0" tIns="0" rIns="0" bIns="0" rtlCol="0" anchor="t"/>
          <a:lstStyle/>
          <a:p>
            <a:pPr indent="0" marL="0">
              <a:buNone/>
            </a:pPr>
            <a:r>
              <a:rPr lang="en-US" sz="1000" dirty="0">
                <a:solidFill>
                  <a:schemeClr val="accent6"/>
                </a:solidFill>
              </a:rPr>
              <a:t>1,0k Zeilen</a:t>
            </a:r>
            <a:endParaRPr lang="en-US" sz="1000" dirty="0"/>
          </a:p>
        </p:txBody>
      </p:sp>
      <p:sp>
        <p:nvSpPr>
          <p:cNvPr id="25" name="text-82"/>
          <p:cNvSpPr txBox="1"/>
          <p:nvPr/>
        </p:nvSpPr>
        <p:spPr>
          <a:xfrm>
            <a:off x="640080" y="4462272"/>
            <a:ext cx="998017" cy="411480"/>
          </a:xfrm>
          <a:prstGeom prst="rect">
            <a:avLst/>
          </a:prstGeom>
          <a:noFill/>
          <a:ln/>
        </p:spPr>
        <p:txBody>
          <a:bodyPr wrap="square" lIns="0" tIns="0" rIns="0" bIns="0" rtlCol="0" anchor="t"/>
          <a:lstStyle/>
          <a:p>
            <a:pPr indent="0" marL="0">
              <a:buNone/>
            </a:pPr>
            <a:r>
              <a:rPr lang="en-US" sz="1000" dirty="0">
                <a:solidFill>
                  <a:schemeClr val="tx1"/>
                </a:solidFill>
              </a:rPr>
              <a:t>Rohdaten-Leser</a:t>
            </a:r>
            <a:endParaRPr lang="en-US" sz="1000" dirty="0"/>
          </a:p>
        </p:txBody>
      </p:sp>
      <p:sp>
        <p:nvSpPr>
          <p:cNvPr id="26" name="card-83"/>
          <p:cNvSpPr/>
          <p:nvPr/>
        </p:nvSpPr>
        <p:spPr>
          <a:xfrm>
            <a:off x="1793545" y="3895344"/>
            <a:ext cx="1135177" cy="1024128"/>
          </a:xfrm>
          <a:prstGeom prst="roundRect">
            <a:avLst>
              <a:gd name="adj" fmla="val 7143"/>
            </a:avLst>
          </a:prstGeom>
          <a:solidFill>
            <a:schemeClr val="bg1"/>
          </a:solidFill>
          <a:ln w="12700">
            <a:solidFill>
              <a:srgbClr val="1F7A99"/>
            </a:solidFill>
            <a:prstDash val="solid"/>
          </a:ln>
        </p:spPr>
      </p:sp>
      <p:sp>
        <p:nvSpPr>
          <p:cNvPr id="27" name="text-84"/>
          <p:cNvSpPr txBox="1"/>
          <p:nvPr/>
        </p:nvSpPr>
        <p:spPr>
          <a:xfrm>
            <a:off x="1884985" y="3986784"/>
            <a:ext cx="952297" cy="256032"/>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signal</a:t>
            </a:r>
            <a:endParaRPr lang="en-US" sz="1200" dirty="0"/>
          </a:p>
        </p:txBody>
      </p:sp>
      <p:sp>
        <p:nvSpPr>
          <p:cNvPr id="28" name="text-85"/>
          <p:cNvSpPr txBox="1"/>
          <p:nvPr/>
        </p:nvSpPr>
        <p:spPr>
          <a:xfrm>
            <a:off x="1884985" y="4242816"/>
            <a:ext cx="952297" cy="201168"/>
          </a:xfrm>
          <a:prstGeom prst="rect">
            <a:avLst/>
          </a:prstGeom>
          <a:noFill/>
          <a:ln/>
        </p:spPr>
        <p:txBody>
          <a:bodyPr wrap="square" lIns="0" tIns="0" rIns="0" bIns="0" rtlCol="0" anchor="t"/>
          <a:lstStyle/>
          <a:p>
            <a:pPr indent="0" marL="0">
              <a:buNone/>
            </a:pPr>
            <a:r>
              <a:rPr lang="en-US" sz="1000" dirty="0">
                <a:solidFill>
                  <a:schemeClr val="accent6"/>
                </a:solidFill>
              </a:rPr>
              <a:t>0,5k Zeilen</a:t>
            </a:r>
            <a:endParaRPr lang="en-US" sz="1000" dirty="0"/>
          </a:p>
        </p:txBody>
      </p:sp>
      <p:sp>
        <p:nvSpPr>
          <p:cNvPr id="29" name="text-86"/>
          <p:cNvSpPr txBox="1"/>
          <p:nvPr/>
        </p:nvSpPr>
        <p:spPr>
          <a:xfrm>
            <a:off x="1884985" y="4462272"/>
            <a:ext cx="998017" cy="411480"/>
          </a:xfrm>
          <a:prstGeom prst="rect">
            <a:avLst/>
          </a:prstGeom>
          <a:noFill/>
          <a:ln/>
        </p:spPr>
        <p:txBody>
          <a:bodyPr wrap="square" lIns="0" tIns="0" rIns="0" bIns="0" rtlCol="0" anchor="t"/>
          <a:lstStyle/>
          <a:p>
            <a:pPr indent="0" marL="0">
              <a:buNone/>
            </a:pPr>
            <a:r>
              <a:rPr lang="en-US" sz="1000" dirty="0">
                <a:solidFill>
                  <a:schemeClr val="tx1"/>
                </a:solidFill>
              </a:rPr>
              <a:t>Delay, Blank, SG</a:t>
            </a:r>
            <a:endParaRPr lang="en-US" sz="1000" dirty="0"/>
          </a:p>
        </p:txBody>
      </p:sp>
      <p:sp>
        <p:nvSpPr>
          <p:cNvPr id="30" name="card-87"/>
          <p:cNvSpPr/>
          <p:nvPr/>
        </p:nvSpPr>
        <p:spPr>
          <a:xfrm>
            <a:off x="3038450" y="3895344"/>
            <a:ext cx="1135177" cy="1024128"/>
          </a:xfrm>
          <a:prstGeom prst="roundRect">
            <a:avLst>
              <a:gd name="adj" fmla="val 7143"/>
            </a:avLst>
          </a:prstGeom>
          <a:solidFill>
            <a:schemeClr val="bg1"/>
          </a:solidFill>
          <a:ln w="12700">
            <a:solidFill>
              <a:srgbClr val="1F7A99"/>
            </a:solidFill>
            <a:prstDash val="solid"/>
          </a:ln>
        </p:spPr>
      </p:sp>
      <p:sp>
        <p:nvSpPr>
          <p:cNvPr id="31" name="text-88"/>
          <p:cNvSpPr txBox="1"/>
          <p:nvPr/>
        </p:nvSpPr>
        <p:spPr>
          <a:xfrm>
            <a:off x="3129890" y="3986784"/>
            <a:ext cx="952297" cy="256032"/>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integration</a:t>
            </a:r>
            <a:endParaRPr lang="en-US" sz="1200" dirty="0"/>
          </a:p>
        </p:txBody>
      </p:sp>
      <p:sp>
        <p:nvSpPr>
          <p:cNvPr id="32" name="text-89"/>
          <p:cNvSpPr txBox="1"/>
          <p:nvPr/>
        </p:nvSpPr>
        <p:spPr>
          <a:xfrm>
            <a:off x="3129890" y="4242816"/>
            <a:ext cx="952297" cy="201168"/>
          </a:xfrm>
          <a:prstGeom prst="rect">
            <a:avLst/>
          </a:prstGeom>
          <a:noFill/>
          <a:ln/>
        </p:spPr>
        <p:txBody>
          <a:bodyPr wrap="square" lIns="0" tIns="0" rIns="0" bIns="0" rtlCol="0" anchor="t"/>
          <a:lstStyle/>
          <a:p>
            <a:pPr indent="0" marL="0">
              <a:buNone/>
            </a:pPr>
            <a:r>
              <a:rPr lang="en-US" sz="1000" dirty="0">
                <a:solidFill>
                  <a:schemeClr val="accent6"/>
                </a:solidFill>
              </a:rPr>
              <a:t>2,6k Zeilen</a:t>
            </a:r>
            <a:endParaRPr lang="en-US" sz="1000" dirty="0"/>
          </a:p>
        </p:txBody>
      </p:sp>
      <p:sp>
        <p:nvSpPr>
          <p:cNvPr id="33" name="text-90"/>
          <p:cNvSpPr txBox="1"/>
          <p:nvPr/>
        </p:nvSpPr>
        <p:spPr>
          <a:xfrm>
            <a:off x="3129890" y="4462272"/>
            <a:ext cx="998017" cy="411480"/>
          </a:xfrm>
          <a:prstGeom prst="rect">
            <a:avLst/>
          </a:prstGeom>
          <a:noFill/>
          <a:ln/>
        </p:spPr>
        <p:txBody>
          <a:bodyPr wrap="square" lIns="0" tIns="0" rIns="0" bIns="0" rtlCol="0" anchor="t"/>
          <a:lstStyle/>
          <a:p>
            <a:pPr indent="0" marL="0">
              <a:buNone/>
            </a:pPr>
            <a:r>
              <a:rPr lang="en-US" sz="1000" dirty="0">
                <a:solidFill>
                  <a:schemeClr val="tx1"/>
                </a:solidFill>
              </a:rPr>
              <a:t>Integrator, Split</a:t>
            </a:r>
            <a:endParaRPr lang="en-US" sz="1000" dirty="0"/>
          </a:p>
        </p:txBody>
      </p:sp>
      <p:sp>
        <p:nvSpPr>
          <p:cNvPr id="34" name="card-91"/>
          <p:cNvSpPr/>
          <p:nvPr/>
        </p:nvSpPr>
        <p:spPr>
          <a:xfrm>
            <a:off x="4283354" y="3895344"/>
            <a:ext cx="1135177" cy="1024128"/>
          </a:xfrm>
          <a:prstGeom prst="roundRect">
            <a:avLst>
              <a:gd name="adj" fmla="val 7143"/>
            </a:avLst>
          </a:prstGeom>
          <a:solidFill>
            <a:schemeClr val="bg1"/>
          </a:solidFill>
          <a:ln w="12700">
            <a:solidFill>
              <a:srgbClr val="1F7A99"/>
            </a:solidFill>
            <a:prstDash val="solid"/>
          </a:ln>
        </p:spPr>
      </p:sp>
      <p:sp>
        <p:nvSpPr>
          <p:cNvPr id="35" name="text-92"/>
          <p:cNvSpPr txBox="1"/>
          <p:nvPr/>
        </p:nvSpPr>
        <p:spPr>
          <a:xfrm>
            <a:off x="4374794" y="3986784"/>
            <a:ext cx="952297" cy="256032"/>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ms</a:t>
            </a:r>
            <a:endParaRPr lang="en-US" sz="1200" dirty="0"/>
          </a:p>
        </p:txBody>
      </p:sp>
      <p:sp>
        <p:nvSpPr>
          <p:cNvPr id="36" name="text-93"/>
          <p:cNvSpPr txBox="1"/>
          <p:nvPr/>
        </p:nvSpPr>
        <p:spPr>
          <a:xfrm>
            <a:off x="4374794" y="4242816"/>
            <a:ext cx="952297" cy="201168"/>
          </a:xfrm>
          <a:prstGeom prst="rect">
            <a:avLst/>
          </a:prstGeom>
          <a:noFill/>
          <a:ln/>
        </p:spPr>
        <p:txBody>
          <a:bodyPr wrap="square" lIns="0" tIns="0" rIns="0" bIns="0" rtlCol="0" anchor="t"/>
          <a:lstStyle/>
          <a:p>
            <a:pPr indent="0" marL="0">
              <a:buNone/>
            </a:pPr>
            <a:r>
              <a:rPr lang="en-US" sz="1000" dirty="0">
                <a:solidFill>
                  <a:schemeClr val="accent6"/>
                </a:solidFill>
              </a:rPr>
              <a:t>4,2k Zeilen</a:t>
            </a:r>
            <a:endParaRPr lang="en-US" sz="1000" dirty="0"/>
          </a:p>
        </p:txBody>
      </p:sp>
      <p:sp>
        <p:nvSpPr>
          <p:cNvPr id="37" name="text-94"/>
          <p:cNvSpPr txBox="1"/>
          <p:nvPr/>
        </p:nvSpPr>
        <p:spPr>
          <a:xfrm>
            <a:off x="4374794" y="4462272"/>
            <a:ext cx="998017" cy="411480"/>
          </a:xfrm>
          <a:prstGeom prst="rect">
            <a:avLst/>
          </a:prstGeom>
          <a:noFill/>
          <a:ln/>
        </p:spPr>
        <p:txBody>
          <a:bodyPr wrap="square" lIns="0" tIns="0" rIns="0" bIns="0" rtlCol="0" anchor="t"/>
          <a:lstStyle/>
          <a:p>
            <a:pPr indent="0" marL="0">
              <a:buNone/>
            </a:pPr>
            <a:r>
              <a:rPr lang="en-US" sz="1000" dirty="0">
                <a:solidFill>
                  <a:schemeClr val="tx1"/>
                </a:solidFill>
              </a:rPr>
              <a:t>Dekonvolution, Interpretation</a:t>
            </a:r>
            <a:endParaRPr lang="en-US" sz="1000" dirty="0"/>
          </a:p>
        </p:txBody>
      </p:sp>
      <p:sp>
        <p:nvSpPr>
          <p:cNvPr id="38" name="card-95"/>
          <p:cNvSpPr/>
          <p:nvPr/>
        </p:nvSpPr>
        <p:spPr>
          <a:xfrm>
            <a:off x="5528259" y="3895344"/>
            <a:ext cx="1135177" cy="1024128"/>
          </a:xfrm>
          <a:prstGeom prst="roundRect">
            <a:avLst>
              <a:gd name="adj" fmla="val 7143"/>
            </a:avLst>
          </a:prstGeom>
          <a:solidFill>
            <a:schemeClr val="bg1"/>
          </a:solidFill>
          <a:ln w="12700">
            <a:solidFill>
              <a:srgbClr val="1F7A99"/>
            </a:solidFill>
            <a:prstDash val="solid"/>
          </a:ln>
        </p:spPr>
      </p:sp>
      <p:sp>
        <p:nvSpPr>
          <p:cNvPr id="39" name="text-96"/>
          <p:cNvSpPr txBox="1"/>
          <p:nvPr/>
        </p:nvSpPr>
        <p:spPr>
          <a:xfrm>
            <a:off x="5619699" y="3986784"/>
            <a:ext cx="952297" cy="256032"/>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libsearch</a:t>
            </a:r>
            <a:endParaRPr lang="en-US" sz="1200" dirty="0"/>
          </a:p>
        </p:txBody>
      </p:sp>
      <p:sp>
        <p:nvSpPr>
          <p:cNvPr id="40" name="text-97"/>
          <p:cNvSpPr txBox="1"/>
          <p:nvPr/>
        </p:nvSpPr>
        <p:spPr>
          <a:xfrm>
            <a:off x="5619699" y="4242816"/>
            <a:ext cx="952297" cy="201168"/>
          </a:xfrm>
          <a:prstGeom prst="rect">
            <a:avLst/>
          </a:prstGeom>
          <a:noFill/>
          <a:ln/>
        </p:spPr>
        <p:txBody>
          <a:bodyPr wrap="square" lIns="0" tIns="0" rIns="0" bIns="0" rtlCol="0" anchor="t"/>
          <a:lstStyle/>
          <a:p>
            <a:pPr indent="0" marL="0">
              <a:buNone/>
            </a:pPr>
            <a:r>
              <a:rPr lang="en-US" sz="1000" dirty="0">
                <a:solidFill>
                  <a:schemeClr val="accent6"/>
                </a:solidFill>
              </a:rPr>
              <a:t>1,7k Zeilen</a:t>
            </a:r>
            <a:endParaRPr lang="en-US" sz="1000" dirty="0"/>
          </a:p>
        </p:txBody>
      </p:sp>
      <p:sp>
        <p:nvSpPr>
          <p:cNvPr id="41" name="text-98"/>
          <p:cNvSpPr txBox="1"/>
          <p:nvPr/>
        </p:nvSpPr>
        <p:spPr>
          <a:xfrm>
            <a:off x="5619699" y="4462272"/>
            <a:ext cx="998017" cy="411480"/>
          </a:xfrm>
          <a:prstGeom prst="rect">
            <a:avLst/>
          </a:prstGeom>
          <a:noFill/>
          <a:ln/>
        </p:spPr>
        <p:txBody>
          <a:bodyPr wrap="square" lIns="0" tIns="0" rIns="0" bIns="0" rtlCol="0" anchor="t"/>
          <a:lstStyle/>
          <a:p>
            <a:pPr indent="0" marL="0">
              <a:buNone/>
            </a:pPr>
            <a:r>
              <a:rPr lang="en-US" sz="1000" dirty="0">
                <a:solidFill>
                  <a:schemeClr val="tx1"/>
                </a:solidFill>
              </a:rPr>
              <a:t>Suche, Fast Search</a:t>
            </a:r>
            <a:endParaRPr lang="en-US" sz="1000" dirty="0"/>
          </a:p>
        </p:txBody>
      </p:sp>
      <p:sp>
        <p:nvSpPr>
          <p:cNvPr id="42" name="card-99"/>
          <p:cNvSpPr/>
          <p:nvPr/>
        </p:nvSpPr>
        <p:spPr>
          <a:xfrm>
            <a:off x="6773164" y="3895344"/>
            <a:ext cx="1135177" cy="1024128"/>
          </a:xfrm>
          <a:prstGeom prst="roundRect">
            <a:avLst>
              <a:gd name="adj" fmla="val 7143"/>
            </a:avLst>
          </a:prstGeom>
          <a:solidFill>
            <a:schemeClr val="bg1"/>
          </a:solidFill>
          <a:ln w="12700">
            <a:solidFill>
              <a:srgbClr val="1F7A99"/>
            </a:solidFill>
            <a:prstDash val="solid"/>
          </a:ln>
        </p:spPr>
      </p:sp>
      <p:sp>
        <p:nvSpPr>
          <p:cNvPr id="43" name="text-100"/>
          <p:cNvSpPr txBox="1"/>
          <p:nvPr/>
        </p:nvSpPr>
        <p:spPr>
          <a:xfrm>
            <a:off x="6864604" y="3986784"/>
            <a:ext cx="952297" cy="256032"/>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features</a:t>
            </a:r>
            <a:endParaRPr lang="en-US" sz="1200" dirty="0"/>
          </a:p>
        </p:txBody>
      </p:sp>
      <p:sp>
        <p:nvSpPr>
          <p:cNvPr id="44" name="text-101"/>
          <p:cNvSpPr txBox="1"/>
          <p:nvPr/>
        </p:nvSpPr>
        <p:spPr>
          <a:xfrm>
            <a:off x="6864604" y="4242816"/>
            <a:ext cx="952297" cy="201168"/>
          </a:xfrm>
          <a:prstGeom prst="rect">
            <a:avLst/>
          </a:prstGeom>
          <a:noFill/>
          <a:ln/>
        </p:spPr>
        <p:txBody>
          <a:bodyPr wrap="square" lIns="0" tIns="0" rIns="0" bIns="0" rtlCol="0" anchor="t"/>
          <a:lstStyle/>
          <a:p>
            <a:pPr indent="0" marL="0">
              <a:buNone/>
            </a:pPr>
            <a:r>
              <a:rPr lang="en-US" sz="1000" dirty="0">
                <a:solidFill>
                  <a:schemeClr val="accent6"/>
                </a:solidFill>
              </a:rPr>
              <a:t>2,8k Zeilen</a:t>
            </a:r>
            <a:endParaRPr lang="en-US" sz="1000" dirty="0"/>
          </a:p>
        </p:txBody>
      </p:sp>
      <p:sp>
        <p:nvSpPr>
          <p:cNvPr id="45" name="text-102"/>
          <p:cNvSpPr txBox="1"/>
          <p:nvPr/>
        </p:nvSpPr>
        <p:spPr>
          <a:xfrm>
            <a:off x="6864604" y="4462272"/>
            <a:ext cx="998017" cy="411480"/>
          </a:xfrm>
          <a:prstGeom prst="rect">
            <a:avLst/>
          </a:prstGeom>
          <a:noFill/>
          <a:ln/>
        </p:spPr>
        <p:txBody>
          <a:bodyPr wrap="square" lIns="0" tIns="0" rIns="0" bIns="0" rtlCol="0" anchor="t"/>
          <a:lstStyle/>
          <a:p>
            <a:pPr indent="0" marL="0">
              <a:buNone/>
            </a:pPr>
            <a:r>
              <a:rPr lang="en-US" sz="1000" dirty="0">
                <a:solidFill>
                  <a:schemeClr val="tx1"/>
                </a:solidFill>
              </a:rPr>
              <a:t>Doppel-bestimmung</a:t>
            </a:r>
            <a:endParaRPr lang="en-US" sz="1000" dirty="0"/>
          </a:p>
        </p:txBody>
      </p:sp>
      <p:sp>
        <p:nvSpPr>
          <p:cNvPr id="46" name="card-103"/>
          <p:cNvSpPr/>
          <p:nvPr/>
        </p:nvSpPr>
        <p:spPr>
          <a:xfrm>
            <a:off x="8018069" y="3895344"/>
            <a:ext cx="1135177" cy="1024128"/>
          </a:xfrm>
          <a:prstGeom prst="roundRect">
            <a:avLst>
              <a:gd name="adj" fmla="val 7143"/>
            </a:avLst>
          </a:prstGeom>
          <a:solidFill>
            <a:schemeClr val="bg1"/>
          </a:solidFill>
          <a:ln w="12700">
            <a:solidFill>
              <a:srgbClr val="1F7A99"/>
            </a:solidFill>
            <a:prstDash val="solid"/>
          </a:ln>
        </p:spPr>
      </p:sp>
      <p:sp>
        <p:nvSpPr>
          <p:cNvPr id="47" name="text-104"/>
          <p:cNvSpPr txBox="1"/>
          <p:nvPr/>
        </p:nvSpPr>
        <p:spPr>
          <a:xfrm>
            <a:off x="8109509" y="3986784"/>
            <a:ext cx="952297" cy="256032"/>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quant</a:t>
            </a:r>
            <a:endParaRPr lang="en-US" sz="1200" dirty="0"/>
          </a:p>
        </p:txBody>
      </p:sp>
      <p:sp>
        <p:nvSpPr>
          <p:cNvPr id="48" name="text-105"/>
          <p:cNvSpPr txBox="1"/>
          <p:nvPr/>
        </p:nvSpPr>
        <p:spPr>
          <a:xfrm>
            <a:off x="8109509" y="4242816"/>
            <a:ext cx="952297" cy="201168"/>
          </a:xfrm>
          <a:prstGeom prst="rect">
            <a:avLst/>
          </a:prstGeom>
          <a:noFill/>
          <a:ln/>
        </p:spPr>
        <p:txBody>
          <a:bodyPr wrap="square" lIns="0" tIns="0" rIns="0" bIns="0" rtlCol="0" anchor="t"/>
          <a:lstStyle/>
          <a:p>
            <a:pPr indent="0" marL="0">
              <a:buNone/>
            </a:pPr>
            <a:r>
              <a:rPr lang="en-US" sz="1000" dirty="0">
                <a:solidFill>
                  <a:schemeClr val="accent6"/>
                </a:solidFill>
              </a:rPr>
              <a:t>2,9k Zeilen</a:t>
            </a:r>
            <a:endParaRPr lang="en-US" sz="1000" dirty="0"/>
          </a:p>
        </p:txBody>
      </p:sp>
      <p:sp>
        <p:nvSpPr>
          <p:cNvPr id="49" name="text-106"/>
          <p:cNvSpPr txBox="1"/>
          <p:nvPr/>
        </p:nvSpPr>
        <p:spPr>
          <a:xfrm>
            <a:off x="8109509" y="4462272"/>
            <a:ext cx="998017" cy="411480"/>
          </a:xfrm>
          <a:prstGeom prst="rect">
            <a:avLst/>
          </a:prstGeom>
          <a:noFill/>
          <a:ln/>
        </p:spPr>
        <p:txBody>
          <a:bodyPr wrap="square" lIns="0" tIns="0" rIns="0" bIns="0" rtlCol="0" anchor="t"/>
          <a:lstStyle/>
          <a:p>
            <a:pPr indent="0" marL="0">
              <a:buNone/>
            </a:pPr>
            <a:r>
              <a:rPr lang="en-US" sz="1000" dirty="0">
                <a:solidFill>
                  <a:schemeClr val="tx1"/>
                </a:solidFill>
              </a:rPr>
              <a:t>ISTD, Quantifizierung</a:t>
            </a:r>
            <a:endParaRPr lang="en-US" sz="1000" dirty="0"/>
          </a:p>
        </p:txBody>
      </p:sp>
      <p:sp>
        <p:nvSpPr>
          <p:cNvPr id="50" name="card-107"/>
          <p:cNvSpPr/>
          <p:nvPr/>
        </p:nvSpPr>
        <p:spPr>
          <a:xfrm>
            <a:off x="9262974" y="3895344"/>
            <a:ext cx="1135177" cy="1024128"/>
          </a:xfrm>
          <a:prstGeom prst="roundRect">
            <a:avLst>
              <a:gd name="adj" fmla="val 7143"/>
            </a:avLst>
          </a:prstGeom>
          <a:solidFill>
            <a:schemeClr val="bg1"/>
          </a:solidFill>
          <a:ln w="12700">
            <a:solidFill>
              <a:srgbClr val="1F7A99"/>
            </a:solidFill>
            <a:prstDash val="solid"/>
          </a:ln>
        </p:spPr>
      </p:sp>
      <p:sp>
        <p:nvSpPr>
          <p:cNvPr id="51" name="text-108"/>
          <p:cNvSpPr txBox="1"/>
          <p:nvPr/>
        </p:nvSpPr>
        <p:spPr>
          <a:xfrm>
            <a:off x="9354414" y="3986784"/>
            <a:ext cx="952297" cy="256032"/>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report</a:t>
            </a:r>
            <a:endParaRPr lang="en-US" sz="1200" dirty="0"/>
          </a:p>
        </p:txBody>
      </p:sp>
      <p:sp>
        <p:nvSpPr>
          <p:cNvPr id="52" name="text-109"/>
          <p:cNvSpPr txBox="1"/>
          <p:nvPr/>
        </p:nvSpPr>
        <p:spPr>
          <a:xfrm>
            <a:off x="9354414" y="4242816"/>
            <a:ext cx="952297" cy="201168"/>
          </a:xfrm>
          <a:prstGeom prst="rect">
            <a:avLst/>
          </a:prstGeom>
          <a:noFill/>
          <a:ln/>
        </p:spPr>
        <p:txBody>
          <a:bodyPr wrap="square" lIns="0" tIns="0" rIns="0" bIns="0" rtlCol="0" anchor="t"/>
          <a:lstStyle/>
          <a:p>
            <a:pPr indent="0" marL="0">
              <a:buNone/>
            </a:pPr>
            <a:r>
              <a:rPr lang="en-US" sz="1000" dirty="0">
                <a:solidFill>
                  <a:schemeClr val="accent6"/>
                </a:solidFill>
              </a:rPr>
              <a:t>2,8k Zeilen</a:t>
            </a:r>
            <a:endParaRPr lang="en-US" sz="1000" dirty="0"/>
          </a:p>
        </p:txBody>
      </p:sp>
      <p:sp>
        <p:nvSpPr>
          <p:cNvPr id="53" name="text-110"/>
          <p:cNvSpPr txBox="1"/>
          <p:nvPr/>
        </p:nvSpPr>
        <p:spPr>
          <a:xfrm>
            <a:off x="9354414" y="4462272"/>
            <a:ext cx="998017" cy="411480"/>
          </a:xfrm>
          <a:prstGeom prst="rect">
            <a:avLst/>
          </a:prstGeom>
          <a:noFill/>
          <a:ln/>
        </p:spPr>
        <p:txBody>
          <a:bodyPr wrap="square" lIns="0" tIns="0" rIns="0" bIns="0" rtlCol="0" anchor="t"/>
          <a:lstStyle/>
          <a:p>
            <a:pPr indent="0" marL="0">
              <a:buNone/>
            </a:pPr>
            <a:r>
              <a:rPr lang="en-US" sz="1000" dirty="0">
                <a:solidFill>
                  <a:schemeClr val="tx1"/>
                </a:solidFill>
              </a:rPr>
              <a:t>Excel, Word, PDF</a:t>
            </a:r>
            <a:endParaRPr lang="en-US" sz="1000" dirty="0"/>
          </a:p>
        </p:txBody>
      </p:sp>
      <p:sp>
        <p:nvSpPr>
          <p:cNvPr id="54" name="card-111"/>
          <p:cNvSpPr/>
          <p:nvPr/>
        </p:nvSpPr>
        <p:spPr>
          <a:xfrm>
            <a:off x="10507878" y="3895344"/>
            <a:ext cx="1135177" cy="1024128"/>
          </a:xfrm>
          <a:prstGeom prst="roundRect">
            <a:avLst>
              <a:gd name="adj" fmla="val 7143"/>
            </a:avLst>
          </a:prstGeom>
          <a:solidFill>
            <a:schemeClr val="bg1"/>
          </a:solidFill>
          <a:ln w="12700">
            <a:solidFill>
              <a:srgbClr val="1F7A99"/>
            </a:solidFill>
            <a:prstDash val="solid"/>
          </a:ln>
        </p:spPr>
      </p:sp>
      <p:sp>
        <p:nvSpPr>
          <p:cNvPr id="55" name="text-112"/>
          <p:cNvSpPr txBox="1"/>
          <p:nvPr/>
        </p:nvSpPr>
        <p:spPr>
          <a:xfrm>
            <a:off x="10599318" y="3986784"/>
            <a:ext cx="952297" cy="256032"/>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automation</a:t>
            </a:r>
            <a:endParaRPr lang="en-US" sz="1200" dirty="0"/>
          </a:p>
        </p:txBody>
      </p:sp>
      <p:sp>
        <p:nvSpPr>
          <p:cNvPr id="56" name="text-113"/>
          <p:cNvSpPr txBox="1"/>
          <p:nvPr/>
        </p:nvSpPr>
        <p:spPr>
          <a:xfrm>
            <a:off x="10599318" y="4242816"/>
            <a:ext cx="952297" cy="201168"/>
          </a:xfrm>
          <a:prstGeom prst="rect">
            <a:avLst/>
          </a:prstGeom>
          <a:noFill/>
          <a:ln/>
        </p:spPr>
        <p:txBody>
          <a:bodyPr wrap="square" lIns="0" tIns="0" rIns="0" bIns="0" rtlCol="0" anchor="t"/>
          <a:lstStyle/>
          <a:p>
            <a:pPr indent="0" marL="0">
              <a:buNone/>
            </a:pPr>
            <a:r>
              <a:rPr lang="en-US" sz="1000" dirty="0">
                <a:solidFill>
                  <a:schemeClr val="accent6"/>
                </a:solidFill>
              </a:rPr>
              <a:t>5,8k Zeilen</a:t>
            </a:r>
            <a:endParaRPr lang="en-US" sz="1000" dirty="0"/>
          </a:p>
        </p:txBody>
      </p:sp>
      <p:sp>
        <p:nvSpPr>
          <p:cNvPr id="57" name="text-114"/>
          <p:cNvSpPr txBox="1"/>
          <p:nvPr/>
        </p:nvSpPr>
        <p:spPr>
          <a:xfrm>
            <a:off x="10599318" y="4462272"/>
            <a:ext cx="998017" cy="411480"/>
          </a:xfrm>
          <a:prstGeom prst="rect">
            <a:avLst/>
          </a:prstGeom>
          <a:noFill/>
          <a:ln/>
        </p:spPr>
        <p:txBody>
          <a:bodyPr wrap="square" lIns="0" tIns="0" rIns="0" bIns="0" rtlCol="0" anchor="t"/>
          <a:lstStyle/>
          <a:p>
            <a:pPr indent="0" marL="0">
              <a:buNone/>
            </a:pPr>
            <a:r>
              <a:rPr lang="en-US" sz="1000" dirty="0">
                <a:solidFill>
                  <a:schemeClr val="tx1"/>
                </a:solidFill>
              </a:rPr>
              <a:t>Watcher, Regeln</a:t>
            </a:r>
            <a:endParaRPr lang="en-US" sz="1000" dirty="0"/>
          </a:p>
        </p:txBody>
      </p:sp>
      <p:sp>
        <p:nvSpPr>
          <p:cNvPr id="58" name="text-115"/>
          <p:cNvSpPr txBox="1"/>
          <p:nvPr/>
        </p:nvSpPr>
        <p:spPr>
          <a:xfrm>
            <a:off x="548640" y="5029200"/>
            <a:ext cx="7315200" cy="237744"/>
          </a:xfrm>
          <a:prstGeom prst="rect">
            <a:avLst/>
          </a:prstGeom>
          <a:noFill/>
          <a:ln/>
        </p:spPr>
        <p:txBody>
          <a:bodyPr wrap="square" lIns="0" tIns="0" rIns="0" bIns="0" rtlCol="0" anchor="t"/>
          <a:lstStyle/>
          <a:p>
            <a:pPr indent="0" marL="0">
              <a:buNone/>
            </a:pPr>
            <a:r>
              <a:rPr lang="en-US" sz="1000" b="1" spc="100" kern="0" dirty="0">
                <a:solidFill>
                  <a:schemeClr val="accent6"/>
                </a:solidFill>
              </a:rPr>
              <a:t>REFERENZ-ENGINES · VENDORED, UNVERÄNDERT</a:t>
            </a:r>
            <a:endParaRPr lang="en-US" sz="1000" dirty="0"/>
          </a:p>
        </p:txBody>
      </p:sp>
      <p:sp>
        <p:nvSpPr>
          <p:cNvPr id="59" name="card-116"/>
          <p:cNvSpPr/>
          <p:nvPr/>
        </p:nvSpPr>
        <p:spPr>
          <a:xfrm>
            <a:off x="548640" y="5285232"/>
            <a:ext cx="5410048" cy="804672"/>
          </a:xfrm>
          <a:prstGeom prst="roundRect">
            <a:avLst>
              <a:gd name="adj" fmla="val 9091"/>
            </a:avLst>
          </a:prstGeom>
          <a:solidFill>
            <a:schemeClr val="bg2"/>
          </a:solidFill>
          <a:ln/>
        </p:spPr>
      </p:sp>
      <p:sp>
        <p:nvSpPr>
          <p:cNvPr id="60" name="text-117"/>
          <p:cNvSpPr txBox="1"/>
          <p:nvPr/>
        </p:nvSpPr>
        <p:spPr>
          <a:xfrm>
            <a:off x="731520" y="5376672"/>
            <a:ext cx="5044288" cy="256032"/>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gcws/nias_legacy · 30,4k</a:t>
            </a:r>
            <a:endParaRPr lang="en-US" sz="1200" dirty="0"/>
          </a:p>
        </p:txBody>
      </p:sp>
      <p:sp>
        <p:nvSpPr>
          <p:cNvPr id="61" name="text-118"/>
          <p:cNvSpPr txBox="1"/>
          <p:nvPr/>
        </p:nvSpPr>
        <p:spPr>
          <a:xfrm>
            <a:off x="731520" y="5650992"/>
            <a:ext cx="5044288" cy="438912"/>
          </a:xfrm>
          <a:prstGeom prst="rect">
            <a:avLst/>
          </a:prstGeom>
          <a:noFill/>
          <a:ln/>
        </p:spPr>
        <p:txBody>
          <a:bodyPr wrap="square" lIns="0" tIns="0" rIns="0" bIns="0" rtlCol="0" anchor="t"/>
          <a:lstStyle/>
          <a:p>
            <a:pPr indent="0" marL="0">
              <a:buNone/>
            </a:pPr>
            <a:r>
              <a:rPr lang="en-US" sz="1100" dirty="0">
                <a:solidFill>
                  <a:schemeClr val="tx1"/>
                </a:solidFill>
              </a:rPr>
              <a:t>NIAS/AutoLib-Arithmetik für mg/kg und Reports – Ergebnisse ändern sich nur durch Analytiker-Eingaben</a:t>
            </a:r>
            <a:endParaRPr lang="en-US" sz="1100" dirty="0"/>
          </a:p>
        </p:txBody>
      </p:sp>
      <p:sp>
        <p:nvSpPr>
          <p:cNvPr id="62" name="card-119"/>
          <p:cNvSpPr/>
          <p:nvPr/>
        </p:nvSpPr>
        <p:spPr>
          <a:xfrm>
            <a:off x="6233008" y="5285232"/>
            <a:ext cx="5410048" cy="804672"/>
          </a:xfrm>
          <a:prstGeom prst="roundRect">
            <a:avLst>
              <a:gd name="adj" fmla="val 9091"/>
            </a:avLst>
          </a:prstGeom>
          <a:solidFill>
            <a:schemeClr val="bg2"/>
          </a:solidFill>
          <a:ln/>
        </p:spPr>
      </p:sp>
      <p:sp>
        <p:nvSpPr>
          <p:cNvPr id="63" name="text-120"/>
          <p:cNvSpPr txBox="1"/>
          <p:nvPr/>
        </p:nvSpPr>
        <p:spPr>
          <a:xfrm>
            <a:off x="6415888" y="5376672"/>
            <a:ext cx="5044288" cy="256032"/>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gcws/libsearch/vendor · 1,6k</a:t>
            </a:r>
            <a:endParaRPr lang="en-US" sz="1200" dirty="0"/>
          </a:p>
        </p:txBody>
      </p:sp>
      <p:sp>
        <p:nvSpPr>
          <p:cNvPr id="64" name="text-121"/>
          <p:cNvSpPr txBox="1"/>
          <p:nvPr/>
        </p:nvSpPr>
        <p:spPr>
          <a:xfrm>
            <a:off x="6415888" y="5650992"/>
            <a:ext cx="5044288" cy="438912"/>
          </a:xfrm>
          <a:prstGeom prst="rect">
            <a:avLst/>
          </a:prstGeom>
          <a:noFill/>
          <a:ln/>
        </p:spPr>
        <p:txBody>
          <a:bodyPr wrap="square" lIns="0" tIns="0" rIns="0" bIns="0" rtlCol="0" anchor="t"/>
          <a:lstStyle/>
          <a:p>
            <a:pPr indent="0" marL="0">
              <a:buNone/>
            </a:pPr>
            <a:r>
              <a:rPr lang="en-US" sz="1100" dirty="0">
                <a:solidFill>
                  <a:schemeClr val="tx1"/>
                </a:solidFill>
              </a:rPr>
              <a:t>SpectrAtlas-Bibliotheksleser und Suchmaschine (PBM, NIST-Similarity) – Orakel für Fast Search</a:t>
            </a:r>
            <a:endParaRPr lang="en-US" sz="1100" dirty="0"/>
          </a:p>
        </p:txBody>
      </p:sp>
      <p:sp>
        <p:nvSpPr>
          <p:cNvPr id="65" name="text-122"/>
          <p:cNvSpPr txBox="1"/>
          <p:nvPr/>
        </p:nvSpPr>
        <p:spPr>
          <a:xfrm>
            <a:off x="548640" y="6163056"/>
            <a:ext cx="11094415" cy="201168"/>
          </a:xfrm>
          <a:prstGeom prst="rect">
            <a:avLst/>
          </a:prstGeom>
          <a:noFill/>
          <a:ln/>
        </p:spPr>
        <p:txBody>
          <a:bodyPr wrap="square" lIns="0" tIns="0" rIns="0" bIns="0" rtlCol="0" anchor="t"/>
          <a:lstStyle/>
          <a:p>
            <a:pPr indent="0" marL="0">
              <a:buNone/>
            </a:pPr>
            <a:r>
              <a:rPr lang="en-US" sz="1000" i="1" dirty="0">
                <a:solidFill>
                  <a:schemeClr val="accent6"/>
                </a:solidFill>
              </a:rPr>
              <a:t>Patches sind als GCWS-PATCH markiert; tools/check_vendor.py meldet jede Abweichung von den Originalen.</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03 · ARBEITSOBERFLÄCHE</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Zwei Detektoren, eine Zeitachse</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FID quantifiziert, TIC identifiziert – synchronisiert über den aus den Signalen gemessenen FID–MS-Delay.</a:t>
            </a:r>
            <a:endParaRPr lang="en-US" sz="1600" dirty="0"/>
          </a:p>
        </p:txBody>
      </p:sp>
      <p:sp>
        <p:nvSpPr>
          <p:cNvPr id="5" name="frame-123"/>
          <p:cNvSpPr/>
          <p:nvPr/>
        </p:nvSpPr>
        <p:spPr>
          <a:xfrm>
            <a:off x="502920" y="1764792"/>
            <a:ext cx="7680960" cy="4360545"/>
          </a:xfrm>
          <a:prstGeom prst="roundRect">
            <a:avLst>
              <a:gd name="adj" fmla="val 1048"/>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Hauptfenster von GC Workspace-124" descr="Hauptfenster von GC Workspace">    </p:cNvPr>
          <p:cNvPicPr>
            <a:picLocks noChangeAspect="1"/>
          </p:cNvPicPr>
          <p:nvPr/>
        </p:nvPicPr>
        <p:blipFill>
          <a:blip r:embed="rId1"/>
          <a:stretch>
            <a:fillRect/>
          </a:stretch>
        </p:blipFill>
        <p:spPr>
          <a:xfrm>
            <a:off x="548640" y="1810512"/>
            <a:ext cx="7589520" cy="4269105"/>
          </a:xfrm>
          <a:prstGeom prst="rect">
            <a:avLst/>
          </a:prstGeom>
        </p:spPr>
      </p:pic>
      <p:sp>
        <p:nvSpPr>
          <p:cNvPr id="7" name="num-125"/>
          <p:cNvSpPr/>
          <p:nvPr/>
        </p:nvSpPr>
        <p:spPr>
          <a:xfrm>
            <a:off x="4513326" y="2355961"/>
            <a:ext cx="292608" cy="292608"/>
          </a:xfrm>
          <a:prstGeom prst="ellipse">
            <a:avLst/>
          </a:prstGeom>
          <a:solidFill>
            <a:schemeClr val="accent2"/>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1</a:t>
            </a:r>
            <a:endParaRPr lang="en-US" sz="1200" dirty="0"/>
          </a:p>
        </p:txBody>
      </p:sp>
      <p:sp>
        <p:nvSpPr>
          <p:cNvPr id="8" name="num-126"/>
          <p:cNvSpPr/>
          <p:nvPr/>
        </p:nvSpPr>
        <p:spPr>
          <a:xfrm>
            <a:off x="4513326" y="3462766"/>
            <a:ext cx="292608" cy="292608"/>
          </a:xfrm>
          <a:prstGeom prst="ellipse">
            <a:avLst/>
          </a:prstGeom>
          <a:solidFill>
            <a:schemeClr val="accent2"/>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2</a:t>
            </a:r>
            <a:endParaRPr lang="en-US" sz="1200" dirty="0"/>
          </a:p>
        </p:txBody>
      </p:sp>
      <p:sp>
        <p:nvSpPr>
          <p:cNvPr id="9" name="num-127"/>
          <p:cNvSpPr/>
          <p:nvPr/>
        </p:nvSpPr>
        <p:spPr>
          <a:xfrm>
            <a:off x="2813590" y="5241560"/>
            <a:ext cx="292608" cy="292608"/>
          </a:xfrm>
          <a:prstGeom prst="ellipse">
            <a:avLst/>
          </a:prstGeom>
          <a:solidFill>
            <a:schemeClr val="accent2"/>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3</a:t>
            </a:r>
            <a:endParaRPr lang="en-US" sz="1200" dirty="0"/>
          </a:p>
        </p:txBody>
      </p:sp>
      <p:sp>
        <p:nvSpPr>
          <p:cNvPr id="10" name="num-128"/>
          <p:cNvSpPr/>
          <p:nvPr/>
        </p:nvSpPr>
        <p:spPr>
          <a:xfrm>
            <a:off x="6568821" y="4510278"/>
            <a:ext cx="292608" cy="292608"/>
          </a:xfrm>
          <a:prstGeom prst="ellipse">
            <a:avLst/>
          </a:prstGeom>
          <a:solidFill>
            <a:schemeClr val="accent2"/>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4</a:t>
            </a:r>
            <a:endParaRPr lang="en-US" sz="1200" dirty="0"/>
          </a:p>
        </p:txBody>
      </p:sp>
      <p:sp>
        <p:nvSpPr>
          <p:cNvPr id="11" name="num-129"/>
          <p:cNvSpPr/>
          <p:nvPr/>
        </p:nvSpPr>
        <p:spPr>
          <a:xfrm>
            <a:off x="5027200" y="5854256"/>
            <a:ext cx="292608" cy="292608"/>
          </a:xfrm>
          <a:prstGeom prst="ellipse">
            <a:avLst/>
          </a:prstGeom>
          <a:solidFill>
            <a:schemeClr val="accent2"/>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5</a:t>
            </a:r>
            <a:endParaRPr lang="en-US" sz="1200" dirty="0"/>
          </a:p>
        </p:txBody>
      </p:sp>
      <p:sp>
        <p:nvSpPr>
          <p:cNvPr id="12" name="text-130"/>
          <p:cNvSpPr txBox="1"/>
          <p:nvPr/>
        </p:nvSpPr>
        <p:spPr>
          <a:xfrm>
            <a:off x="548640" y="6189345"/>
            <a:ext cx="7589520" cy="274320"/>
          </a:xfrm>
          <a:prstGeom prst="rect">
            <a:avLst/>
          </a:prstGeom>
          <a:noFill/>
          <a:ln/>
        </p:spPr>
        <p:txBody>
          <a:bodyPr wrap="square" lIns="0" tIns="0" rIns="0" bIns="0" rtlCol="0" anchor="t"/>
          <a:lstStyle/>
          <a:p>
            <a:pPr indent="0" marL="0">
              <a:buNone/>
            </a:pPr>
            <a:r>
              <a:rPr lang="en-US" sz="1100" i="1" dirty="0">
                <a:solidFill>
                  <a:schemeClr val="accent6"/>
                </a:solidFill>
              </a:rPr>
              <a:t>Projekt 26016606: Bestimmung A und B, zwei Blanks, Blank + ISTD</a:t>
            </a:r>
            <a:endParaRPr lang="en-US" sz="1100" dirty="0"/>
          </a:p>
        </p:txBody>
      </p:sp>
      <p:sp>
        <p:nvSpPr>
          <p:cNvPr id="13" name="num-131"/>
          <p:cNvSpPr/>
          <p:nvPr/>
        </p:nvSpPr>
        <p:spPr>
          <a:xfrm>
            <a:off x="8458200" y="1828800"/>
            <a:ext cx="292608" cy="292608"/>
          </a:xfrm>
          <a:prstGeom prst="ellipse">
            <a:avLst/>
          </a:prstGeom>
          <a:solidFill>
            <a:schemeClr val="accent2"/>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1</a:t>
            </a:r>
            <a:endParaRPr lang="en-US" sz="1200" dirty="0"/>
          </a:p>
        </p:txBody>
      </p:sp>
      <p:sp>
        <p:nvSpPr>
          <p:cNvPr id="14" name="text-132"/>
          <p:cNvSpPr txBox="1"/>
          <p:nvPr/>
        </p:nvSpPr>
        <p:spPr>
          <a:xfrm>
            <a:off x="8869680" y="1810512"/>
            <a:ext cx="2773375"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Chromatogramm 1 · FID</a:t>
            </a:r>
            <a:endParaRPr lang="en-US" sz="1400" dirty="0"/>
          </a:p>
        </p:txBody>
      </p:sp>
      <p:sp>
        <p:nvSpPr>
          <p:cNvPr id="15" name="text-133"/>
          <p:cNvSpPr txBox="1"/>
          <p:nvPr/>
        </p:nvSpPr>
        <p:spPr>
          <a:xfrm>
            <a:off x="8869680" y="2103120"/>
            <a:ext cx="2773375" cy="502920"/>
          </a:xfrm>
          <a:prstGeom prst="rect">
            <a:avLst/>
          </a:prstGeom>
          <a:noFill/>
          <a:ln/>
        </p:spPr>
        <p:txBody>
          <a:bodyPr wrap="square" lIns="0" tIns="0" rIns="0" bIns="0" rtlCol="0" anchor="t"/>
          <a:lstStyle/>
          <a:p>
            <a:pPr indent="0" marL="0">
              <a:buNone/>
            </a:pPr>
            <a:r>
              <a:rPr lang="en-US" sz="1200" dirty="0">
                <a:solidFill>
                  <a:schemeClr val="accent6"/>
                </a:solidFill>
              </a:rPr>
              <a:t>Flächen für die Quantifizierung, Overlay aller Läufe, Solvent-Cut</a:t>
            </a:r>
            <a:endParaRPr lang="en-US" sz="1200" dirty="0"/>
          </a:p>
        </p:txBody>
      </p:sp>
      <p:sp>
        <p:nvSpPr>
          <p:cNvPr id="16" name="num-134"/>
          <p:cNvSpPr/>
          <p:nvPr/>
        </p:nvSpPr>
        <p:spPr>
          <a:xfrm>
            <a:off x="8458200" y="2697480"/>
            <a:ext cx="292608" cy="292608"/>
          </a:xfrm>
          <a:prstGeom prst="ellipse">
            <a:avLst/>
          </a:prstGeom>
          <a:solidFill>
            <a:schemeClr val="accent2"/>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2</a:t>
            </a:r>
            <a:endParaRPr lang="en-US" sz="1200" dirty="0"/>
          </a:p>
        </p:txBody>
      </p:sp>
      <p:sp>
        <p:nvSpPr>
          <p:cNvPr id="17" name="text-135"/>
          <p:cNvSpPr txBox="1"/>
          <p:nvPr/>
        </p:nvSpPr>
        <p:spPr>
          <a:xfrm>
            <a:off x="8869680" y="2679192"/>
            <a:ext cx="2773375"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Chromatogramm 2 · TIC</a:t>
            </a:r>
            <a:endParaRPr lang="en-US" sz="1400" dirty="0"/>
          </a:p>
        </p:txBody>
      </p:sp>
      <p:sp>
        <p:nvSpPr>
          <p:cNvPr id="18" name="text-136"/>
          <p:cNvSpPr txBox="1"/>
          <p:nvPr/>
        </p:nvSpPr>
        <p:spPr>
          <a:xfrm>
            <a:off x="8869680" y="2971800"/>
            <a:ext cx="2773375" cy="502920"/>
          </a:xfrm>
          <a:prstGeom prst="rect">
            <a:avLst/>
          </a:prstGeom>
          <a:noFill/>
          <a:ln/>
        </p:spPr>
        <p:txBody>
          <a:bodyPr wrap="square" lIns="0" tIns="0" rIns="0" bIns="0" rtlCol="0" anchor="t"/>
          <a:lstStyle/>
          <a:p>
            <a:pPr indent="0" marL="0">
              <a:buNone/>
            </a:pPr>
            <a:r>
              <a:rPr lang="en-US" sz="1200" dirty="0">
                <a:solidFill>
                  <a:schemeClr val="accent6"/>
                </a:solidFill>
              </a:rPr>
              <a:t>um den gemessenen Delay verschoben, Zoom und Pan synchron</a:t>
            </a:r>
            <a:endParaRPr lang="en-US" sz="1200" dirty="0"/>
          </a:p>
        </p:txBody>
      </p:sp>
      <p:sp>
        <p:nvSpPr>
          <p:cNvPr id="19" name="num-137"/>
          <p:cNvSpPr/>
          <p:nvPr/>
        </p:nvSpPr>
        <p:spPr>
          <a:xfrm>
            <a:off x="8458200" y="3566160"/>
            <a:ext cx="292608" cy="292608"/>
          </a:xfrm>
          <a:prstGeom prst="ellipse">
            <a:avLst/>
          </a:prstGeom>
          <a:solidFill>
            <a:schemeClr val="accent2"/>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3</a:t>
            </a:r>
            <a:endParaRPr lang="en-US" sz="1200" dirty="0"/>
          </a:p>
        </p:txBody>
      </p:sp>
      <p:sp>
        <p:nvSpPr>
          <p:cNvPr id="20" name="text-138"/>
          <p:cNvSpPr txBox="1"/>
          <p:nvPr/>
        </p:nvSpPr>
        <p:spPr>
          <a:xfrm>
            <a:off x="8869680" y="3547872"/>
            <a:ext cx="2773375"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Peaks / Substanzen</a:t>
            </a:r>
            <a:endParaRPr lang="en-US" sz="1400" dirty="0"/>
          </a:p>
        </p:txBody>
      </p:sp>
      <p:sp>
        <p:nvSpPr>
          <p:cNvPr id="21" name="text-139"/>
          <p:cNvSpPr txBox="1"/>
          <p:nvPr/>
        </p:nvSpPr>
        <p:spPr>
          <a:xfrm>
            <a:off x="8869680" y="3840480"/>
            <a:ext cx="2773375" cy="502920"/>
          </a:xfrm>
          <a:prstGeom prst="rect">
            <a:avLst/>
          </a:prstGeom>
          <a:noFill/>
          <a:ln/>
        </p:spPr>
        <p:txBody>
          <a:bodyPr wrap="square" lIns="0" tIns="0" rIns="0" bIns="0" rtlCol="0" anchor="t"/>
          <a:lstStyle/>
          <a:p>
            <a:pPr indent="0" marL="0">
              <a:buNone/>
            </a:pPr>
            <a:r>
              <a:rPr lang="en-US" sz="1200" dirty="0">
                <a:solidFill>
                  <a:schemeClr val="accent6"/>
                </a:solidFill>
              </a:rPr>
              <a:t>Wertefilter, Spalten mg/kg, µg/dm², µg/L, RRT, Klassenhinweis</a:t>
            </a:r>
            <a:endParaRPr lang="en-US" sz="1200" dirty="0"/>
          </a:p>
        </p:txBody>
      </p:sp>
      <p:sp>
        <p:nvSpPr>
          <p:cNvPr id="22" name="num-140"/>
          <p:cNvSpPr/>
          <p:nvPr/>
        </p:nvSpPr>
        <p:spPr>
          <a:xfrm>
            <a:off x="8458200" y="4434840"/>
            <a:ext cx="292608" cy="292608"/>
          </a:xfrm>
          <a:prstGeom prst="ellipse">
            <a:avLst/>
          </a:prstGeom>
          <a:solidFill>
            <a:schemeClr val="accent2"/>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4</a:t>
            </a:r>
            <a:endParaRPr lang="en-US" sz="1200" dirty="0"/>
          </a:p>
        </p:txBody>
      </p:sp>
      <p:sp>
        <p:nvSpPr>
          <p:cNvPr id="23" name="text-141"/>
          <p:cNvSpPr txBox="1"/>
          <p:nvPr/>
        </p:nvSpPr>
        <p:spPr>
          <a:xfrm>
            <a:off x="8869680" y="4416552"/>
            <a:ext cx="2773375"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Massenspektrum</a:t>
            </a:r>
            <a:endParaRPr lang="en-US" sz="1400" dirty="0"/>
          </a:p>
        </p:txBody>
      </p:sp>
      <p:sp>
        <p:nvSpPr>
          <p:cNvPr id="24" name="text-142"/>
          <p:cNvSpPr txBox="1"/>
          <p:nvPr/>
        </p:nvSpPr>
        <p:spPr>
          <a:xfrm>
            <a:off x="8869680" y="4709160"/>
            <a:ext cx="2773375" cy="502920"/>
          </a:xfrm>
          <a:prstGeom prst="rect">
            <a:avLst/>
          </a:prstGeom>
          <a:noFill/>
          <a:ln/>
        </p:spPr>
        <p:txBody>
          <a:bodyPr wrap="square" lIns="0" tIns="0" rIns="0" bIns="0" rtlCol="0" anchor="t"/>
          <a:lstStyle/>
          <a:p>
            <a:pPr indent="0" marL="0">
              <a:buNone/>
            </a:pPr>
            <a:r>
              <a:rPr lang="en-US" sz="1200" dirty="0">
                <a:solidFill>
                  <a:schemeClr val="accent6"/>
                </a:solidFill>
              </a:rPr>
              <a:t>Apex minus Baseline-Scans, Trefferliste und Interpretation</a:t>
            </a:r>
            <a:endParaRPr lang="en-US" sz="1200" dirty="0"/>
          </a:p>
        </p:txBody>
      </p:sp>
      <p:sp>
        <p:nvSpPr>
          <p:cNvPr id="25" name="num-143"/>
          <p:cNvSpPr/>
          <p:nvPr/>
        </p:nvSpPr>
        <p:spPr>
          <a:xfrm>
            <a:off x="8458200" y="5303520"/>
            <a:ext cx="292608" cy="292608"/>
          </a:xfrm>
          <a:prstGeom prst="ellipse">
            <a:avLst/>
          </a:prstGeom>
          <a:solidFill>
            <a:schemeClr val="accent2"/>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5</a:t>
            </a:r>
            <a:endParaRPr lang="en-US" sz="1200" dirty="0"/>
          </a:p>
        </p:txBody>
      </p:sp>
      <p:sp>
        <p:nvSpPr>
          <p:cNvPr id="26" name="text-144"/>
          <p:cNvSpPr txBox="1"/>
          <p:nvPr/>
        </p:nvSpPr>
        <p:spPr>
          <a:xfrm>
            <a:off x="8869680" y="5285232"/>
            <a:ext cx="2773375"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Statusleiste</a:t>
            </a:r>
            <a:endParaRPr lang="en-US" sz="1400" dirty="0"/>
          </a:p>
        </p:txBody>
      </p:sp>
      <p:sp>
        <p:nvSpPr>
          <p:cNvPr id="27" name="text-145"/>
          <p:cNvSpPr txBox="1"/>
          <p:nvPr/>
        </p:nvSpPr>
        <p:spPr>
          <a:xfrm>
            <a:off x="8869680" y="5577840"/>
            <a:ext cx="2773375" cy="502920"/>
          </a:xfrm>
          <a:prstGeom prst="rect">
            <a:avLst/>
          </a:prstGeom>
          <a:noFill/>
          <a:ln/>
        </p:spPr>
        <p:txBody>
          <a:bodyPr wrap="square" lIns="0" tIns="0" rIns="0" bIns="0" rtlCol="0" anchor="t"/>
          <a:lstStyle/>
          <a:p>
            <a:pPr indent="0" marL="0">
              <a:buNone/>
            </a:pPr>
            <a:r>
              <a:rPr lang="en-US" sz="1200" dirty="0">
                <a:solidFill>
                  <a:schemeClr val="accent6"/>
                </a:solidFill>
              </a:rPr>
              <a:t>Rolle, Blanks und Delay (+0,0066 min) des aktiven Laufs</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04 · ROHDATEN</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Rohdaten direkt lesen – verifiziert, nie geraten</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Eigene Leser für drei Formatwelten; ein unbekanntes Layout wird abgewiesen statt plausibel falsch gelesen.</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5486400" cy="914400"/>
        </p:xfrm>
        <a:graphic>
          <a:graphicData uri="http://schemas.openxmlformats.org/drawingml/2006/table">
            <a:tbl>
              <a:tblPr/>
              <a:tblGrid>
                <a:gridCol w="1920240"/>
                <a:gridCol w="1508760"/>
                <a:gridCol w="2057400"/>
              </a:tblGrid>
              <a:tr h="329184">
                <a:tc>
                  <a:txBody>
                    <a:bodyPr/>
                    <a:lstStyle/>
                    <a:p>
                      <a:pPr indent="0" marL="0">
                        <a:buNone/>
                      </a:pPr>
                      <a:r>
                        <a:rPr lang="en-US" sz="1200" b="1" dirty="0">
                          <a:solidFill>
                            <a:srgbClr val="FFFFFF"/>
                          </a:solidFill>
                          <a:latin typeface="+mn-lt" pitchFamily="34" charset="0"/>
                          <a:ea typeface="+mn-lt" pitchFamily="34" charset="-122"/>
                          <a:cs typeface="+mn-lt" pitchFamily="34" charset="-120"/>
                        </a:rPr>
                        <a:t>Format</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chemeClr val="tx2"/>
                    </a:solidFill>
                  </a:tcPr>
                </a:tc>
                <a:tc>
                  <a:txBody>
                    <a:bodyPr/>
                    <a:lstStyle/>
                    <a:p>
                      <a:pPr indent="0" marL="0">
                        <a:buNone/>
                      </a:pPr>
                      <a:r>
                        <a:rPr lang="en-US" sz="1200" b="1" dirty="0">
                          <a:solidFill>
                            <a:srgbClr val="FFFFFF"/>
                          </a:solidFill>
                          <a:latin typeface="+mn-lt" pitchFamily="34" charset="0"/>
                          <a:ea typeface="+mn-lt" pitchFamily="34" charset="-122"/>
                          <a:cs typeface="+mn-lt" pitchFamily="34" charset="-120"/>
                        </a:rPr>
                        <a:t>FID</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chemeClr val="tx2"/>
                    </a:solidFill>
                  </a:tcPr>
                </a:tc>
                <a:tc>
                  <a:txBody>
                    <a:bodyPr/>
                    <a:lstStyle/>
                    <a:p>
                      <a:pPr indent="0" marL="0">
                        <a:buNone/>
                      </a:pPr>
                      <a:r>
                        <a:rPr lang="en-US" sz="1200" b="1" dirty="0">
                          <a:solidFill>
                            <a:srgbClr val="FFFFFF"/>
                          </a:solidFill>
                          <a:latin typeface="+mn-lt" pitchFamily="34" charset="0"/>
                          <a:ea typeface="+mn-lt" pitchFamily="34" charset="-122"/>
                          <a:cs typeface="+mn-lt" pitchFamily="34" charset="-120"/>
                        </a:rPr>
                        <a:t>MS</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chemeClr val="tx2"/>
                    </a:solidFill>
                  </a:tcPr>
                </a:tc>
              </a:tr>
              <a:tr h="329184">
                <a:tc>
                  <a:txBody>
                    <a:bodyPr/>
                    <a:lstStyle/>
                    <a:p>
                      <a:pPr indent="0" marL="0">
                        <a:buNone/>
                      </a:pPr>
                      <a:r>
                        <a:rPr lang="en-US" sz="1200" dirty="0">
                          <a:solidFill>
                            <a:srgbClr val="0F1C24"/>
                          </a:solidFill>
                          <a:latin typeface="+mn-lt" pitchFamily="34" charset="0"/>
                          <a:ea typeface="+mn-lt" pitchFamily="34" charset="-122"/>
                          <a:cs typeface="+mn-lt" pitchFamily="34" charset="-120"/>
                        </a:rPr>
                        <a:t>Agilent ChemStation</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200" dirty="0">
                          <a:solidFill>
                            <a:srgbClr val="0F1C24"/>
                          </a:solidFill>
                          <a:latin typeface="+mn-lt" pitchFamily="34" charset="0"/>
                          <a:ea typeface="+mn-lt" pitchFamily="34" charset="-122"/>
                          <a:cs typeface="+mn-lt" pitchFamily="34" charset="-120"/>
                        </a:rPr>
                        <a:t>*.ch (v179)</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200" dirty="0">
                          <a:solidFill>
                            <a:srgbClr val="0F1C24"/>
                          </a:solidFill>
                          <a:latin typeface="+mn-lt" pitchFamily="34" charset="0"/>
                          <a:ea typeface="+mn-lt" pitchFamily="34" charset="-122"/>
                          <a:cs typeface="+mn-lt" pitchFamily="34" charset="-120"/>
                        </a:rPr>
                        <a:t>data.ms</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F1C24"/>
                          </a:solidFill>
                          <a:latin typeface="+mn-lt" pitchFamily="34" charset="0"/>
                          <a:ea typeface="+mn-lt" pitchFamily="34" charset="-122"/>
                          <a:cs typeface="+mn-lt" pitchFamily="34" charset="-120"/>
                        </a:rPr>
                        <a:t>Agilent MassHunter</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200" dirty="0">
                          <a:solidFill>
                            <a:srgbClr val="0F1C24"/>
                          </a:solidFill>
                          <a:latin typeface="+mn-lt" pitchFamily="34" charset="0"/>
                          <a:ea typeface="+mn-lt" pitchFamily="34" charset="-122"/>
                          <a:cs typeface="+mn-lt" pitchFamily="34" charset="-120"/>
                        </a:rPr>
                        <a:t>FID*.cg + .cd</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200" dirty="0">
                          <a:solidFill>
                            <a:srgbClr val="0F1C24"/>
                          </a:solidFill>
                          <a:latin typeface="+mn-lt" pitchFamily="34" charset="0"/>
                          <a:ea typeface="+mn-lt" pitchFamily="34" charset="-122"/>
                          <a:cs typeface="+mn-lt" pitchFamily="34" charset="-120"/>
                        </a:rPr>
                        <a:t>MSScan.bin + MSPeak.bin</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F1C24"/>
                          </a:solidFill>
                          <a:latin typeface="+mn-lt" pitchFamily="34" charset="0"/>
                          <a:ea typeface="+mn-lt" pitchFamily="34" charset="-122"/>
                          <a:cs typeface="+mn-lt" pitchFamily="34" charset="-120"/>
                        </a:rPr>
                        <a:t>Shimadzu GCMSsolution</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200" dirty="0">
                          <a:solidFill>
                            <a:srgbClr val="0F1C24"/>
                          </a:solidFill>
                          <a:latin typeface="+mn-lt" pitchFamily="34" charset="0"/>
                          <a:ea typeface="+mn-lt" pitchFamily="34" charset="-122"/>
                          <a:cs typeface="+mn-lt" pitchFamily="34" charset="-120"/>
                        </a:rPr>
                        <a:t>–</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200" dirty="0">
                          <a:solidFill>
                            <a:srgbClr val="0F1C24"/>
                          </a:solidFill>
                          <a:latin typeface="+mn-lt" pitchFamily="34" charset="0"/>
                          <a:ea typeface="+mn-lt" pitchFamily="34" charset="-122"/>
                          <a:cs typeface="+mn-lt" pitchFamily="34" charset="-120"/>
                        </a:rPr>
                        <a:t>.qgd (OLE-Streams)</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0F1C24"/>
                          </a:solidFill>
                          <a:latin typeface="+mn-lt" pitchFamily="34" charset="0"/>
                          <a:ea typeface="+mn-lt" pitchFamily="34" charset="-122"/>
                          <a:cs typeface="+mn-lt" pitchFamily="34" charset="-120"/>
                        </a:rPr>
                        <a:t>Metadaten</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gridSpan="2">
                  <a:txBody>
                    <a:bodyPr/>
                    <a:lstStyle/>
                    <a:p>
                      <a:pPr indent="0" marL="0">
                        <a:buNone/>
                      </a:pPr>
                      <a:r>
                        <a:rPr lang="en-US" sz="1200" dirty="0">
                          <a:solidFill>
                            <a:srgbClr val="0F1C24"/>
                          </a:solidFill>
                          <a:latin typeface="+mn-lt" pitchFamily="34" charset="0"/>
                          <a:ea typeface="+mn-lt" pitchFamily="34" charset="-122"/>
                          <a:cs typeface="+mn-lt" pitchFamily="34" charset="-120"/>
                        </a:rPr>
                        <a:t>sample_info.xml · Contents.xml · Sequence Log .TSV</a:t>
                      </a:r>
                      <a:endParaRPr lang="en-US" sz="1200" dirty="0">
                        <a:latin typeface="+mn-lt" charset="0"/>
                        <a:ea typeface="+mn-lt" charset="0"/>
                        <a:cs typeface="+mn-lt" charset="0"/>
                      </a:endParaRPr>
                    </a:p>
                  </a:txBody>
                  <a:tcPr marL="91440" marR="91440"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hMerge="1">
                  <a:tcPr/>
                </a:tc>
              </a:tr>
            </a:tbl>
          </a:graphicData>
        </a:graphic>
      </p:graphicFrame>
      <p:sp>
        <p:nvSpPr>
          <p:cNvPr id="6" name="badge-146"/>
          <p:cNvSpPr/>
          <p:nvPr/>
        </p:nvSpPr>
        <p:spPr>
          <a:xfrm>
            <a:off x="548640" y="3767328"/>
            <a:ext cx="365760" cy="365760"/>
          </a:xfrm>
          <a:prstGeom prst="ellipse">
            <a:avLst/>
          </a:prstGeom>
          <a:solidFill>
            <a:schemeClr val="accent3"/>
          </a:solidFill>
          <a:ln/>
        </p:spPr>
      </p:sp>
      <p:pic>
        <p:nvPicPr>
          <p:cNvPr id="7" name="icon-147" descr="Symbol">    </p:cNvPr>
          <p:cNvPicPr>
            <a:picLocks noChangeAspect="1"/>
          </p:cNvPicPr>
          <p:nvPr/>
        </p:nvPicPr>
        <p:blipFill>
          <a:blip r:embed="rId1"/>
          <a:stretch>
            <a:fillRect/>
          </a:stretch>
        </p:blipFill>
        <p:spPr>
          <a:xfrm>
            <a:off x="629107" y="3847795"/>
            <a:ext cx="204826" cy="204826"/>
          </a:xfrm>
          <a:prstGeom prst="rect">
            <a:avLst/>
          </a:prstGeom>
        </p:spPr>
      </p:pic>
      <p:sp>
        <p:nvSpPr>
          <p:cNvPr id="8" name="text-148"/>
          <p:cNvSpPr txBox="1"/>
          <p:nvPr/>
        </p:nvSpPr>
        <p:spPr>
          <a:xfrm>
            <a:off x="1051560" y="3749040"/>
            <a:ext cx="4937760" cy="256032"/>
          </a:xfrm>
          <a:prstGeom prst="rect">
            <a:avLst/>
          </a:prstGeom>
          <a:noFill/>
          <a:ln/>
        </p:spPr>
        <p:txBody>
          <a:bodyPr wrap="square" lIns="0" tIns="0" rIns="0" bIns="0" rtlCol="0" anchor="t"/>
          <a:lstStyle/>
          <a:p>
            <a:pPr indent="0" marL="0">
              <a:buNone/>
            </a:pPr>
            <a:r>
              <a:rPr lang="en-US" sz="1400" b="1" dirty="0">
                <a:solidFill>
                  <a:schemeClr val="tx1"/>
                </a:solidFill>
              </a:rPr>
              <a:t>Bit-identisch</a:t>
            </a:r>
            <a:endParaRPr lang="en-US" sz="1400" dirty="0"/>
          </a:p>
        </p:txBody>
      </p:sp>
      <p:sp>
        <p:nvSpPr>
          <p:cNvPr id="9" name="text-149"/>
          <p:cNvSpPr txBox="1"/>
          <p:nvPr/>
        </p:nvSpPr>
        <p:spPr>
          <a:xfrm>
            <a:off x="1051560" y="4023360"/>
            <a:ext cx="4983480" cy="457200"/>
          </a:xfrm>
          <a:prstGeom prst="rect">
            <a:avLst/>
          </a:prstGeom>
          <a:noFill/>
          <a:ln/>
        </p:spPr>
        <p:txBody>
          <a:bodyPr wrap="square" lIns="0" tIns="0" rIns="0" bIns="0" rtlCol="0" anchor="t"/>
          <a:lstStyle/>
          <a:p>
            <a:pPr indent="0" marL="0">
              <a:buNone/>
            </a:pPr>
            <a:r>
              <a:rPr lang="en-US" sz="1200" dirty="0">
                <a:solidFill>
                  <a:schemeClr val="accent6"/>
                </a:solidFill>
              </a:rPr>
              <a:t>MassHunter- und ChemStation-Dateien derselben Injektion liefern dieselben Daten (tests/test_io.py).</a:t>
            </a:r>
            <a:endParaRPr lang="en-US" sz="1200" dirty="0"/>
          </a:p>
        </p:txBody>
      </p:sp>
      <p:sp>
        <p:nvSpPr>
          <p:cNvPr id="10" name="badge-150"/>
          <p:cNvSpPr/>
          <p:nvPr/>
        </p:nvSpPr>
        <p:spPr>
          <a:xfrm>
            <a:off x="548640" y="4553712"/>
            <a:ext cx="365760" cy="365760"/>
          </a:xfrm>
          <a:prstGeom prst="ellipse">
            <a:avLst/>
          </a:prstGeom>
          <a:solidFill>
            <a:schemeClr val="accent3"/>
          </a:solidFill>
          <a:ln/>
        </p:spPr>
      </p:sp>
      <p:pic>
        <p:nvPicPr>
          <p:cNvPr id="11" name="icon-151" descr="Symbol">    </p:cNvPr>
          <p:cNvPicPr>
            <a:picLocks noChangeAspect="1"/>
          </p:cNvPicPr>
          <p:nvPr/>
        </p:nvPicPr>
        <p:blipFill>
          <a:blip r:embed="rId2"/>
          <a:stretch>
            <a:fillRect/>
          </a:stretch>
        </p:blipFill>
        <p:spPr>
          <a:xfrm>
            <a:off x="629107" y="4634179"/>
            <a:ext cx="204826" cy="204826"/>
          </a:xfrm>
          <a:prstGeom prst="rect">
            <a:avLst/>
          </a:prstGeom>
        </p:spPr>
      </p:pic>
      <p:sp>
        <p:nvSpPr>
          <p:cNvPr id="12" name="text-152"/>
          <p:cNvSpPr txBox="1"/>
          <p:nvPr/>
        </p:nvSpPr>
        <p:spPr>
          <a:xfrm>
            <a:off x="1051560" y="4535424"/>
            <a:ext cx="4937760" cy="256032"/>
          </a:xfrm>
          <a:prstGeom prst="rect">
            <a:avLst/>
          </a:prstGeom>
          <a:noFill/>
          <a:ln/>
        </p:spPr>
        <p:txBody>
          <a:bodyPr wrap="square" lIns="0" tIns="0" rIns="0" bIns="0" rtlCol="0" anchor="t"/>
          <a:lstStyle/>
          <a:p>
            <a:pPr indent="0" marL="0">
              <a:buNone/>
            </a:pPr>
            <a:r>
              <a:rPr lang="en-US" sz="1400" b="1" dirty="0">
                <a:solidFill>
                  <a:schemeClr val="tx1"/>
                </a:solidFill>
              </a:rPr>
              <a:t>Shimadzu-Offset</a:t>
            </a:r>
            <a:endParaRPr lang="en-US" sz="1400" dirty="0"/>
          </a:p>
        </p:txBody>
      </p:sp>
      <p:sp>
        <p:nvSpPr>
          <p:cNvPr id="13" name="text-153"/>
          <p:cNvSpPr txBox="1"/>
          <p:nvPr/>
        </p:nvSpPr>
        <p:spPr>
          <a:xfrm>
            <a:off x="1051560" y="4809744"/>
            <a:ext cx="4983480" cy="457200"/>
          </a:xfrm>
          <a:prstGeom prst="rect">
            <a:avLst/>
          </a:prstGeom>
          <a:noFill/>
          <a:ln/>
        </p:spPr>
        <p:txBody>
          <a:bodyPr wrap="square" lIns="0" tIns="0" rIns="0" bIns="0" rtlCol="0" anchor="t"/>
          <a:lstStyle/>
          <a:p>
            <a:pPr indent="0" marL="0">
              <a:buNone/>
            </a:pPr>
            <a:r>
              <a:rPr lang="en-US" sz="1200" dirty="0">
                <a:solidFill>
                  <a:schemeClr val="accent6"/>
                </a:solidFill>
              </a:rPr>
              <a:t>Detektor-Offset von ~500 counts pro Scan entfernt; Ionen über 3 robusten σ bleiben.</a:t>
            </a:r>
            <a:endParaRPr lang="en-US" sz="1200" dirty="0"/>
          </a:p>
        </p:txBody>
      </p:sp>
      <p:sp>
        <p:nvSpPr>
          <p:cNvPr id="14" name="badge-154"/>
          <p:cNvSpPr/>
          <p:nvPr/>
        </p:nvSpPr>
        <p:spPr>
          <a:xfrm>
            <a:off x="548640" y="5340096"/>
            <a:ext cx="365760" cy="365760"/>
          </a:xfrm>
          <a:prstGeom prst="ellipse">
            <a:avLst/>
          </a:prstGeom>
          <a:solidFill>
            <a:schemeClr val="accent3"/>
          </a:solidFill>
          <a:ln/>
        </p:spPr>
      </p:sp>
      <p:pic>
        <p:nvPicPr>
          <p:cNvPr id="15" name="icon-155" descr="Symbol">    </p:cNvPr>
          <p:cNvPicPr>
            <a:picLocks noChangeAspect="1"/>
          </p:cNvPicPr>
          <p:nvPr/>
        </p:nvPicPr>
        <p:blipFill>
          <a:blip r:embed="rId3"/>
          <a:stretch>
            <a:fillRect/>
          </a:stretch>
        </p:blipFill>
        <p:spPr>
          <a:xfrm>
            <a:off x="629107" y="5420563"/>
            <a:ext cx="204826" cy="204826"/>
          </a:xfrm>
          <a:prstGeom prst="rect">
            <a:avLst/>
          </a:prstGeom>
        </p:spPr>
      </p:pic>
      <p:sp>
        <p:nvSpPr>
          <p:cNvPr id="16" name="text-156"/>
          <p:cNvSpPr txBox="1"/>
          <p:nvPr/>
        </p:nvSpPr>
        <p:spPr>
          <a:xfrm>
            <a:off x="1051560" y="5321808"/>
            <a:ext cx="4937760" cy="256032"/>
          </a:xfrm>
          <a:prstGeom prst="rect">
            <a:avLst/>
          </a:prstGeom>
          <a:noFill/>
          <a:ln/>
        </p:spPr>
        <p:txBody>
          <a:bodyPr wrap="square" lIns="0" tIns="0" rIns="0" bIns="0" rtlCol="0" anchor="t"/>
          <a:lstStyle/>
          <a:p>
            <a:pPr indent="0" marL="0">
              <a:buNone/>
            </a:pPr>
            <a:r>
              <a:rPr lang="en-US" sz="1400" b="1" dirty="0">
                <a:solidFill>
                  <a:schemeClr val="tx1"/>
                </a:solidFill>
              </a:rPr>
              <a:t>Validierung</a:t>
            </a:r>
            <a:endParaRPr lang="en-US" sz="1400" dirty="0"/>
          </a:p>
        </p:txBody>
      </p:sp>
      <p:sp>
        <p:nvSpPr>
          <p:cNvPr id="17" name="text-157"/>
          <p:cNvSpPr txBox="1"/>
          <p:nvPr/>
        </p:nvSpPr>
        <p:spPr>
          <a:xfrm>
            <a:off x="1051560" y="5596128"/>
            <a:ext cx="4983480" cy="457200"/>
          </a:xfrm>
          <a:prstGeom prst="rect">
            <a:avLst/>
          </a:prstGeom>
          <a:noFill/>
          <a:ln/>
        </p:spPr>
        <p:txBody>
          <a:bodyPr wrap="square" lIns="0" tIns="0" rIns="0" bIns="0" rtlCol="0" anchor="t"/>
          <a:lstStyle/>
          <a:p>
            <a:pPr indent="0" marL="0">
              <a:buNone/>
            </a:pPr>
            <a:r>
              <a:rPr lang="en-US" sz="1200" dirty="0">
                <a:solidFill>
                  <a:schemeClr val="accent6"/>
                </a:solidFill>
              </a:rPr>
              <a:t>Scan-Grenzen, Retentionszeiten und Spektrensummen gegen den gespeicherten TIC geprüft.</a:t>
            </a:r>
            <a:endParaRPr lang="en-US" sz="1200" dirty="0"/>
          </a:p>
        </p:txBody>
      </p:sp>
      <p:sp>
        <p:nvSpPr>
          <p:cNvPr id="18" name="text-158"/>
          <p:cNvSpPr txBox="1"/>
          <p:nvPr/>
        </p:nvSpPr>
        <p:spPr>
          <a:xfrm>
            <a:off x="6400800" y="1810512"/>
            <a:ext cx="310896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MSScan.bin – ein Scan-Record</a:t>
            </a:r>
            <a:endParaRPr lang="en-US" sz="1400" dirty="0"/>
          </a:p>
        </p:txBody>
      </p:sp>
      <p:sp>
        <p:nvSpPr>
          <p:cNvPr id="19" name="text-159"/>
          <p:cNvSpPr txBox="1"/>
          <p:nvPr/>
        </p:nvSpPr>
        <p:spPr>
          <a:xfrm>
            <a:off x="6400800" y="2103120"/>
            <a:ext cx="3108960" cy="411480"/>
          </a:xfrm>
          <a:prstGeom prst="rect">
            <a:avLst/>
          </a:prstGeom>
          <a:noFill/>
          <a:ln/>
        </p:spPr>
        <p:txBody>
          <a:bodyPr wrap="square" lIns="0" tIns="0" rIns="0" bIns="0" rtlCol="0" anchor="t"/>
          <a:lstStyle/>
          <a:p>
            <a:pPr indent="0" marL="0">
              <a:buNone/>
            </a:pPr>
            <a:r>
              <a:rPr lang="en-US" sz="1000" dirty="0">
                <a:solidFill>
                  <a:schemeClr val="accent6"/>
                </a:solidFill>
              </a:rPr>
              <a:t>Recordlänge aus NumOfScans (MSTS.xml), erster Record ab Int32 @0x58</a:t>
            </a:r>
            <a:endParaRPr lang="en-US" sz="1000" dirty="0"/>
          </a:p>
        </p:txBody>
      </p:sp>
      <p:sp>
        <p:nvSpPr>
          <p:cNvPr id="20" name="field-160"/>
          <p:cNvSpPr/>
          <p:nvPr/>
        </p:nvSpPr>
        <p:spPr>
          <a:xfrm>
            <a:off x="6400800" y="2578608"/>
            <a:ext cx="2971800" cy="310896"/>
          </a:xfrm>
          <a:prstGeom prst="rect">
            <a:avLst/>
          </a:prstGeom>
          <a:solidFill>
            <a:srgbClr val="EEF4F6"/>
          </a:solidFill>
          <a:ln w="6350">
            <a:solidFill>
              <a:srgbClr val="D3DDE2"/>
            </a:solidFill>
            <a:prstDash val="solid"/>
          </a:ln>
        </p:spPr>
      </p:sp>
      <p:sp>
        <p:nvSpPr>
          <p:cNvPr id="21" name="text-161"/>
          <p:cNvSpPr txBox="1"/>
          <p:nvPr/>
        </p:nvSpPr>
        <p:spPr>
          <a:xfrm>
            <a:off x="6473952" y="2624328"/>
            <a:ext cx="548640" cy="237744"/>
          </a:xfrm>
          <a:prstGeom prst="rect">
            <a:avLst/>
          </a:prstGeom>
          <a:noFill/>
          <a:ln/>
        </p:spPr>
        <p:txBody>
          <a:bodyPr wrap="square" lIns="0" tIns="0" rIns="0" bIns="0" rtlCol="0" anchor="t"/>
          <a:lstStyle/>
          <a:p>
            <a:pPr indent="0" marL="0">
              <a:buNone/>
            </a:pPr>
            <a:r>
              <a:rPr lang="en-US" sz="1100" dirty="0">
                <a:solidFill>
                  <a:schemeClr val="accent6"/>
                </a:solidFill>
                <a:latin typeface="Consolas" pitchFamily="34" charset="0"/>
                <a:ea typeface="Consolas" pitchFamily="34" charset="-122"/>
                <a:cs typeface="Consolas" pitchFamily="34" charset="-120"/>
              </a:rPr>
              <a:t>@0</a:t>
            </a:r>
            <a:endParaRPr lang="en-US" sz="1100" dirty="0"/>
          </a:p>
        </p:txBody>
      </p:sp>
      <p:sp>
        <p:nvSpPr>
          <p:cNvPr id="22" name="text-162"/>
          <p:cNvSpPr txBox="1"/>
          <p:nvPr/>
        </p:nvSpPr>
        <p:spPr>
          <a:xfrm>
            <a:off x="7114032" y="2624328"/>
            <a:ext cx="1691640" cy="237744"/>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ScanID</a:t>
            </a:r>
            <a:endParaRPr lang="en-US" sz="1100" dirty="0"/>
          </a:p>
        </p:txBody>
      </p:sp>
      <p:sp>
        <p:nvSpPr>
          <p:cNvPr id="23" name="text-163"/>
          <p:cNvSpPr txBox="1"/>
          <p:nvPr/>
        </p:nvSpPr>
        <p:spPr>
          <a:xfrm>
            <a:off x="8897112" y="2624328"/>
            <a:ext cx="457200" cy="237744"/>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i32</a:t>
            </a:r>
            <a:endParaRPr lang="en-US" sz="1100" dirty="0"/>
          </a:p>
        </p:txBody>
      </p:sp>
      <p:sp>
        <p:nvSpPr>
          <p:cNvPr id="24" name="field-164"/>
          <p:cNvSpPr/>
          <p:nvPr/>
        </p:nvSpPr>
        <p:spPr>
          <a:xfrm>
            <a:off x="6400800" y="2889504"/>
            <a:ext cx="2971800" cy="310896"/>
          </a:xfrm>
          <a:prstGeom prst="rect">
            <a:avLst/>
          </a:prstGeom>
          <a:solidFill>
            <a:srgbClr val="FFFFFF"/>
          </a:solidFill>
          <a:ln w="6350">
            <a:solidFill>
              <a:srgbClr val="D3DDE2"/>
            </a:solidFill>
            <a:prstDash val="solid"/>
          </a:ln>
        </p:spPr>
      </p:sp>
      <p:sp>
        <p:nvSpPr>
          <p:cNvPr id="25" name="text-165"/>
          <p:cNvSpPr txBox="1"/>
          <p:nvPr/>
        </p:nvSpPr>
        <p:spPr>
          <a:xfrm>
            <a:off x="6473952" y="2935224"/>
            <a:ext cx="548640" cy="237744"/>
          </a:xfrm>
          <a:prstGeom prst="rect">
            <a:avLst/>
          </a:prstGeom>
          <a:noFill/>
          <a:ln/>
        </p:spPr>
        <p:txBody>
          <a:bodyPr wrap="square" lIns="0" tIns="0" rIns="0" bIns="0" rtlCol="0" anchor="t"/>
          <a:lstStyle/>
          <a:p>
            <a:pPr indent="0" marL="0">
              <a:buNone/>
            </a:pPr>
            <a:r>
              <a:rPr lang="en-US" sz="1100" dirty="0">
                <a:solidFill>
                  <a:schemeClr val="accent6"/>
                </a:solidFill>
                <a:latin typeface="Consolas" pitchFamily="34" charset="0"/>
                <a:ea typeface="Consolas" pitchFamily="34" charset="-122"/>
                <a:cs typeface="Consolas" pitchFamily="34" charset="-120"/>
              </a:rPr>
              <a:t>@12</a:t>
            </a:r>
            <a:endParaRPr lang="en-US" sz="1100" dirty="0"/>
          </a:p>
        </p:txBody>
      </p:sp>
      <p:sp>
        <p:nvSpPr>
          <p:cNvPr id="26" name="text-166"/>
          <p:cNvSpPr txBox="1"/>
          <p:nvPr/>
        </p:nvSpPr>
        <p:spPr>
          <a:xfrm>
            <a:off x="7114032" y="2935224"/>
            <a:ext cx="1691640" cy="237744"/>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ScanTime</a:t>
            </a:r>
            <a:endParaRPr lang="en-US" sz="1100" dirty="0"/>
          </a:p>
        </p:txBody>
      </p:sp>
      <p:sp>
        <p:nvSpPr>
          <p:cNvPr id="27" name="text-167"/>
          <p:cNvSpPr txBox="1"/>
          <p:nvPr/>
        </p:nvSpPr>
        <p:spPr>
          <a:xfrm>
            <a:off x="8897112" y="2935224"/>
            <a:ext cx="457200" cy="237744"/>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f8</a:t>
            </a:r>
            <a:endParaRPr lang="en-US" sz="1100" dirty="0"/>
          </a:p>
        </p:txBody>
      </p:sp>
      <p:sp>
        <p:nvSpPr>
          <p:cNvPr id="28" name="field-168"/>
          <p:cNvSpPr/>
          <p:nvPr/>
        </p:nvSpPr>
        <p:spPr>
          <a:xfrm>
            <a:off x="6400800" y="3200400"/>
            <a:ext cx="2971800" cy="310896"/>
          </a:xfrm>
          <a:prstGeom prst="rect">
            <a:avLst/>
          </a:prstGeom>
          <a:solidFill>
            <a:srgbClr val="EEF4F6"/>
          </a:solidFill>
          <a:ln w="6350">
            <a:solidFill>
              <a:srgbClr val="D3DDE2"/>
            </a:solidFill>
            <a:prstDash val="solid"/>
          </a:ln>
        </p:spPr>
      </p:sp>
      <p:sp>
        <p:nvSpPr>
          <p:cNvPr id="29" name="text-169"/>
          <p:cNvSpPr txBox="1"/>
          <p:nvPr/>
        </p:nvSpPr>
        <p:spPr>
          <a:xfrm>
            <a:off x="6473952" y="3246120"/>
            <a:ext cx="548640" cy="237744"/>
          </a:xfrm>
          <a:prstGeom prst="rect">
            <a:avLst/>
          </a:prstGeom>
          <a:noFill/>
          <a:ln/>
        </p:spPr>
        <p:txBody>
          <a:bodyPr wrap="square" lIns="0" tIns="0" rIns="0" bIns="0" rtlCol="0" anchor="t"/>
          <a:lstStyle/>
          <a:p>
            <a:pPr indent="0" marL="0">
              <a:buNone/>
            </a:pPr>
            <a:r>
              <a:rPr lang="en-US" sz="1100" dirty="0">
                <a:solidFill>
                  <a:schemeClr val="accent6"/>
                </a:solidFill>
                <a:latin typeface="Consolas" pitchFamily="34" charset="0"/>
                <a:ea typeface="Consolas" pitchFamily="34" charset="-122"/>
                <a:cs typeface="Consolas" pitchFamily="34" charset="-120"/>
              </a:rPr>
              <a:t>@28</a:t>
            </a:r>
            <a:endParaRPr lang="en-US" sz="1100" dirty="0"/>
          </a:p>
        </p:txBody>
      </p:sp>
      <p:sp>
        <p:nvSpPr>
          <p:cNvPr id="30" name="text-170"/>
          <p:cNvSpPr txBox="1"/>
          <p:nvPr/>
        </p:nvSpPr>
        <p:spPr>
          <a:xfrm>
            <a:off x="7114032" y="3246120"/>
            <a:ext cx="1691640" cy="237744"/>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TIC</a:t>
            </a:r>
            <a:endParaRPr lang="en-US" sz="1100" dirty="0"/>
          </a:p>
        </p:txBody>
      </p:sp>
      <p:sp>
        <p:nvSpPr>
          <p:cNvPr id="31" name="text-171"/>
          <p:cNvSpPr txBox="1"/>
          <p:nvPr/>
        </p:nvSpPr>
        <p:spPr>
          <a:xfrm>
            <a:off x="8897112" y="3246120"/>
            <a:ext cx="457200" cy="237744"/>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f8</a:t>
            </a:r>
            <a:endParaRPr lang="en-US" sz="1100" dirty="0"/>
          </a:p>
        </p:txBody>
      </p:sp>
      <p:sp>
        <p:nvSpPr>
          <p:cNvPr id="32" name="field-172"/>
          <p:cNvSpPr/>
          <p:nvPr/>
        </p:nvSpPr>
        <p:spPr>
          <a:xfrm>
            <a:off x="6400800" y="3511296"/>
            <a:ext cx="2971800" cy="310896"/>
          </a:xfrm>
          <a:prstGeom prst="rect">
            <a:avLst/>
          </a:prstGeom>
          <a:solidFill>
            <a:srgbClr val="FFFFFF"/>
          </a:solidFill>
          <a:ln w="6350">
            <a:solidFill>
              <a:srgbClr val="D3DDE2"/>
            </a:solidFill>
            <a:prstDash val="solid"/>
          </a:ln>
        </p:spPr>
      </p:sp>
      <p:sp>
        <p:nvSpPr>
          <p:cNvPr id="33" name="text-173"/>
          <p:cNvSpPr txBox="1"/>
          <p:nvPr/>
        </p:nvSpPr>
        <p:spPr>
          <a:xfrm>
            <a:off x="6473952" y="3557016"/>
            <a:ext cx="548640" cy="237744"/>
          </a:xfrm>
          <a:prstGeom prst="rect">
            <a:avLst/>
          </a:prstGeom>
          <a:noFill/>
          <a:ln/>
        </p:spPr>
        <p:txBody>
          <a:bodyPr wrap="square" lIns="0" tIns="0" rIns="0" bIns="0" rtlCol="0" anchor="t"/>
          <a:lstStyle/>
          <a:p>
            <a:pPr indent="0" marL="0">
              <a:buNone/>
            </a:pPr>
            <a:r>
              <a:rPr lang="en-US" sz="1100" dirty="0">
                <a:solidFill>
                  <a:schemeClr val="accent6"/>
                </a:solidFill>
                <a:latin typeface="Consolas" pitchFamily="34" charset="0"/>
                <a:ea typeface="Consolas" pitchFamily="34" charset="-122"/>
                <a:cs typeface="Consolas" pitchFamily="34" charset="-120"/>
              </a:rPr>
              <a:t>@36</a:t>
            </a:r>
            <a:endParaRPr lang="en-US" sz="1100" dirty="0"/>
          </a:p>
        </p:txBody>
      </p:sp>
      <p:sp>
        <p:nvSpPr>
          <p:cNvPr id="34" name="text-174"/>
          <p:cNvSpPr txBox="1"/>
          <p:nvPr/>
        </p:nvSpPr>
        <p:spPr>
          <a:xfrm>
            <a:off x="7114032" y="3557016"/>
            <a:ext cx="1691640" cy="237744"/>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BasePeakMZ</a:t>
            </a:r>
            <a:endParaRPr lang="en-US" sz="1100" dirty="0"/>
          </a:p>
        </p:txBody>
      </p:sp>
      <p:sp>
        <p:nvSpPr>
          <p:cNvPr id="35" name="text-175"/>
          <p:cNvSpPr txBox="1"/>
          <p:nvPr/>
        </p:nvSpPr>
        <p:spPr>
          <a:xfrm>
            <a:off x="8897112" y="3557016"/>
            <a:ext cx="457200" cy="237744"/>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f8</a:t>
            </a:r>
            <a:endParaRPr lang="en-US" sz="1100" dirty="0"/>
          </a:p>
        </p:txBody>
      </p:sp>
      <p:sp>
        <p:nvSpPr>
          <p:cNvPr id="36" name="field-176"/>
          <p:cNvSpPr/>
          <p:nvPr/>
        </p:nvSpPr>
        <p:spPr>
          <a:xfrm>
            <a:off x="6400800" y="3822192"/>
            <a:ext cx="2971800" cy="310896"/>
          </a:xfrm>
          <a:prstGeom prst="rect">
            <a:avLst/>
          </a:prstGeom>
          <a:solidFill>
            <a:srgbClr val="EEF4F6"/>
          </a:solidFill>
          <a:ln w="6350">
            <a:solidFill>
              <a:srgbClr val="D3DDE2"/>
            </a:solidFill>
            <a:prstDash val="solid"/>
          </a:ln>
        </p:spPr>
      </p:sp>
      <p:sp>
        <p:nvSpPr>
          <p:cNvPr id="37" name="text-177"/>
          <p:cNvSpPr txBox="1"/>
          <p:nvPr/>
        </p:nvSpPr>
        <p:spPr>
          <a:xfrm>
            <a:off x="6473952" y="3867912"/>
            <a:ext cx="548640" cy="237744"/>
          </a:xfrm>
          <a:prstGeom prst="rect">
            <a:avLst/>
          </a:prstGeom>
          <a:noFill/>
          <a:ln/>
        </p:spPr>
        <p:txBody>
          <a:bodyPr wrap="square" lIns="0" tIns="0" rIns="0" bIns="0" rtlCol="0" anchor="t"/>
          <a:lstStyle/>
          <a:p>
            <a:pPr indent="0" marL="0">
              <a:buNone/>
            </a:pPr>
            <a:r>
              <a:rPr lang="en-US" sz="1100" dirty="0">
                <a:solidFill>
                  <a:schemeClr val="accent6"/>
                </a:solidFill>
                <a:latin typeface="Consolas" pitchFamily="34" charset="0"/>
                <a:ea typeface="Consolas" pitchFamily="34" charset="-122"/>
                <a:cs typeface="Consolas" pitchFamily="34" charset="-120"/>
              </a:rPr>
              <a:t>@44</a:t>
            </a:r>
            <a:endParaRPr lang="en-US" sz="1100" dirty="0"/>
          </a:p>
        </p:txBody>
      </p:sp>
      <p:sp>
        <p:nvSpPr>
          <p:cNvPr id="38" name="text-178"/>
          <p:cNvSpPr txBox="1"/>
          <p:nvPr/>
        </p:nvSpPr>
        <p:spPr>
          <a:xfrm>
            <a:off x="7114032" y="3867912"/>
            <a:ext cx="1691640" cy="237744"/>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BasePeakValue</a:t>
            </a:r>
            <a:endParaRPr lang="en-US" sz="1100" dirty="0"/>
          </a:p>
        </p:txBody>
      </p:sp>
      <p:sp>
        <p:nvSpPr>
          <p:cNvPr id="39" name="text-179"/>
          <p:cNvSpPr txBox="1"/>
          <p:nvPr/>
        </p:nvSpPr>
        <p:spPr>
          <a:xfrm>
            <a:off x="8897112" y="3867912"/>
            <a:ext cx="457200" cy="237744"/>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f8</a:t>
            </a:r>
            <a:endParaRPr lang="en-US" sz="1100" dirty="0"/>
          </a:p>
        </p:txBody>
      </p:sp>
      <p:sp>
        <p:nvSpPr>
          <p:cNvPr id="40" name="field-180"/>
          <p:cNvSpPr/>
          <p:nvPr/>
        </p:nvSpPr>
        <p:spPr>
          <a:xfrm>
            <a:off x="6400800" y="4133088"/>
            <a:ext cx="2971800" cy="310896"/>
          </a:xfrm>
          <a:prstGeom prst="rect">
            <a:avLst/>
          </a:prstGeom>
          <a:solidFill>
            <a:srgbClr val="FFFFFF"/>
          </a:solidFill>
          <a:ln w="6350">
            <a:solidFill>
              <a:srgbClr val="D3DDE2"/>
            </a:solidFill>
            <a:prstDash val="solid"/>
          </a:ln>
        </p:spPr>
      </p:sp>
      <p:sp>
        <p:nvSpPr>
          <p:cNvPr id="41" name="text-181"/>
          <p:cNvSpPr txBox="1"/>
          <p:nvPr/>
        </p:nvSpPr>
        <p:spPr>
          <a:xfrm>
            <a:off x="6473952" y="4178808"/>
            <a:ext cx="548640" cy="237744"/>
          </a:xfrm>
          <a:prstGeom prst="rect">
            <a:avLst/>
          </a:prstGeom>
          <a:noFill/>
          <a:ln/>
        </p:spPr>
        <p:txBody>
          <a:bodyPr wrap="square" lIns="0" tIns="0" rIns="0" bIns="0" rtlCol="0" anchor="t"/>
          <a:lstStyle/>
          <a:p>
            <a:pPr indent="0" marL="0">
              <a:buNone/>
            </a:pPr>
            <a:r>
              <a:rPr lang="en-US" sz="1100" dirty="0">
                <a:solidFill>
                  <a:schemeClr val="accent6"/>
                </a:solidFill>
                <a:latin typeface="Consolas" pitchFamily="34" charset="0"/>
                <a:ea typeface="Consolas" pitchFamily="34" charset="-122"/>
                <a:cs typeface="Consolas" pitchFamily="34" charset="-120"/>
              </a:rPr>
              <a:t>…</a:t>
            </a:r>
            <a:endParaRPr lang="en-US" sz="1100" dirty="0"/>
          </a:p>
        </p:txBody>
      </p:sp>
      <p:sp>
        <p:nvSpPr>
          <p:cNvPr id="42" name="text-182"/>
          <p:cNvSpPr txBox="1"/>
          <p:nvPr/>
        </p:nvSpPr>
        <p:spPr>
          <a:xfrm>
            <a:off x="7114032" y="4178808"/>
            <a:ext cx="1691640" cy="237744"/>
          </a:xfrm>
          <a:prstGeom prst="rect">
            <a:avLst/>
          </a:prstGeom>
          <a:noFill/>
          <a:ln/>
        </p:spPr>
        <p:txBody>
          <a:bodyPr wrap="square" lIns="0" tIns="0" rIns="0" bIns="0" rtlCol="0" anchor="t"/>
          <a:lstStyle/>
          <a:p>
            <a:pPr indent="0" marL="0">
              <a:buNone/>
            </a:pPr>
            <a:endParaRPr lang="en-US" sz="1100" dirty="0"/>
          </a:p>
        </p:txBody>
      </p:sp>
      <p:sp>
        <p:nvSpPr>
          <p:cNvPr id="43" name="text-183"/>
          <p:cNvSpPr txBox="1"/>
          <p:nvPr/>
        </p:nvSpPr>
        <p:spPr>
          <a:xfrm>
            <a:off x="8897112" y="4178808"/>
            <a:ext cx="457200" cy="237744"/>
          </a:xfrm>
          <a:prstGeom prst="rect">
            <a:avLst/>
          </a:prstGeom>
          <a:noFill/>
          <a:ln/>
        </p:spPr>
        <p:txBody>
          <a:bodyPr wrap="square" lIns="0" tIns="0" rIns="0" bIns="0" rtlCol="0" anchor="t"/>
          <a:lstStyle/>
          <a:p>
            <a:pPr indent="0" marL="0">
              <a:buNone/>
            </a:pPr>
            <a:endParaRPr lang="en-US" sz="1100" dirty="0"/>
          </a:p>
        </p:txBody>
      </p:sp>
      <p:sp>
        <p:nvSpPr>
          <p:cNvPr id="44" name="field-184"/>
          <p:cNvSpPr/>
          <p:nvPr/>
        </p:nvSpPr>
        <p:spPr>
          <a:xfrm>
            <a:off x="6400800" y="4443984"/>
            <a:ext cx="2971800" cy="310896"/>
          </a:xfrm>
          <a:prstGeom prst="rect">
            <a:avLst/>
          </a:prstGeom>
          <a:solidFill>
            <a:srgbClr val="FBE7DA"/>
          </a:solidFill>
          <a:ln w="6350">
            <a:solidFill>
              <a:srgbClr val="D3DDE2"/>
            </a:solidFill>
            <a:prstDash val="solid"/>
          </a:ln>
        </p:spPr>
      </p:sp>
      <p:sp>
        <p:nvSpPr>
          <p:cNvPr id="45" name="text-185"/>
          <p:cNvSpPr txBox="1"/>
          <p:nvPr/>
        </p:nvSpPr>
        <p:spPr>
          <a:xfrm>
            <a:off x="6473952" y="4489704"/>
            <a:ext cx="548640" cy="237744"/>
          </a:xfrm>
          <a:prstGeom prst="rect">
            <a:avLst/>
          </a:prstGeom>
          <a:noFill/>
          <a:ln/>
        </p:spPr>
        <p:txBody>
          <a:bodyPr wrap="square" lIns="0" tIns="0" rIns="0" bIns="0" rtlCol="0" anchor="t"/>
          <a:lstStyle/>
          <a:p>
            <a:pPr indent="0" marL="0">
              <a:buNone/>
            </a:pPr>
            <a:r>
              <a:rPr lang="en-US" sz="1100" dirty="0">
                <a:solidFill>
                  <a:schemeClr val="accent6"/>
                </a:solidFill>
                <a:latin typeface="Consolas" pitchFamily="34" charset="0"/>
                <a:ea typeface="Consolas" pitchFamily="34" charset="-122"/>
                <a:cs typeface="Consolas" pitchFamily="34" charset="-120"/>
              </a:rPr>
              <a:t>@136</a:t>
            </a:r>
            <a:endParaRPr lang="en-US" sz="1100" dirty="0"/>
          </a:p>
        </p:txBody>
      </p:sp>
      <p:sp>
        <p:nvSpPr>
          <p:cNvPr id="46" name="text-186"/>
          <p:cNvSpPr txBox="1"/>
          <p:nvPr/>
        </p:nvSpPr>
        <p:spPr>
          <a:xfrm>
            <a:off x="7114032" y="4489704"/>
            <a:ext cx="1691640" cy="237744"/>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SpectrumOffset</a:t>
            </a:r>
            <a:endParaRPr lang="en-US" sz="1100" dirty="0"/>
          </a:p>
        </p:txBody>
      </p:sp>
      <p:sp>
        <p:nvSpPr>
          <p:cNvPr id="47" name="text-187"/>
          <p:cNvSpPr txBox="1"/>
          <p:nvPr/>
        </p:nvSpPr>
        <p:spPr>
          <a:xfrm>
            <a:off x="8897112" y="4489704"/>
            <a:ext cx="457200" cy="237744"/>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i64</a:t>
            </a:r>
            <a:endParaRPr lang="en-US" sz="1100" dirty="0"/>
          </a:p>
        </p:txBody>
      </p:sp>
      <p:sp>
        <p:nvSpPr>
          <p:cNvPr id="48" name="field-188"/>
          <p:cNvSpPr/>
          <p:nvPr/>
        </p:nvSpPr>
        <p:spPr>
          <a:xfrm>
            <a:off x="6400800" y="4754880"/>
            <a:ext cx="2971800" cy="310896"/>
          </a:xfrm>
          <a:prstGeom prst="rect">
            <a:avLst/>
          </a:prstGeom>
          <a:solidFill>
            <a:srgbClr val="FFFFFF"/>
          </a:solidFill>
          <a:ln w="6350">
            <a:solidFill>
              <a:srgbClr val="D3DDE2"/>
            </a:solidFill>
            <a:prstDash val="solid"/>
          </a:ln>
        </p:spPr>
      </p:sp>
      <p:sp>
        <p:nvSpPr>
          <p:cNvPr id="49" name="text-189"/>
          <p:cNvSpPr txBox="1"/>
          <p:nvPr/>
        </p:nvSpPr>
        <p:spPr>
          <a:xfrm>
            <a:off x="6473952" y="4800600"/>
            <a:ext cx="548640" cy="237744"/>
          </a:xfrm>
          <a:prstGeom prst="rect">
            <a:avLst/>
          </a:prstGeom>
          <a:noFill/>
          <a:ln/>
        </p:spPr>
        <p:txBody>
          <a:bodyPr wrap="square" lIns="0" tIns="0" rIns="0" bIns="0" rtlCol="0" anchor="t"/>
          <a:lstStyle/>
          <a:p>
            <a:pPr indent="0" marL="0">
              <a:buNone/>
            </a:pPr>
            <a:r>
              <a:rPr lang="en-US" sz="1100" dirty="0">
                <a:solidFill>
                  <a:schemeClr val="accent6"/>
                </a:solidFill>
                <a:latin typeface="Consolas" pitchFamily="34" charset="0"/>
                <a:ea typeface="Consolas" pitchFamily="34" charset="-122"/>
                <a:cs typeface="Consolas" pitchFamily="34" charset="-120"/>
              </a:rPr>
              <a:t>@144</a:t>
            </a:r>
            <a:endParaRPr lang="en-US" sz="1100" dirty="0"/>
          </a:p>
        </p:txBody>
      </p:sp>
      <p:sp>
        <p:nvSpPr>
          <p:cNvPr id="50" name="text-190"/>
          <p:cNvSpPr txBox="1"/>
          <p:nvPr/>
        </p:nvSpPr>
        <p:spPr>
          <a:xfrm>
            <a:off x="7114032" y="4800600"/>
            <a:ext cx="1691640" cy="237744"/>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ByteCount</a:t>
            </a:r>
            <a:endParaRPr lang="en-US" sz="1100" dirty="0"/>
          </a:p>
        </p:txBody>
      </p:sp>
      <p:sp>
        <p:nvSpPr>
          <p:cNvPr id="51" name="text-191"/>
          <p:cNvSpPr txBox="1"/>
          <p:nvPr/>
        </p:nvSpPr>
        <p:spPr>
          <a:xfrm>
            <a:off x="8897112" y="4800600"/>
            <a:ext cx="457200" cy="237744"/>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i32</a:t>
            </a:r>
            <a:endParaRPr lang="en-US" sz="1100" dirty="0"/>
          </a:p>
        </p:txBody>
      </p:sp>
      <p:sp>
        <p:nvSpPr>
          <p:cNvPr id="52" name="field-192"/>
          <p:cNvSpPr/>
          <p:nvPr/>
        </p:nvSpPr>
        <p:spPr>
          <a:xfrm>
            <a:off x="6400800" y="5065776"/>
            <a:ext cx="2971800" cy="310896"/>
          </a:xfrm>
          <a:prstGeom prst="rect">
            <a:avLst/>
          </a:prstGeom>
          <a:solidFill>
            <a:srgbClr val="FBE7DA"/>
          </a:solidFill>
          <a:ln w="6350">
            <a:solidFill>
              <a:srgbClr val="D3DDE2"/>
            </a:solidFill>
            <a:prstDash val="solid"/>
          </a:ln>
        </p:spPr>
      </p:sp>
      <p:sp>
        <p:nvSpPr>
          <p:cNvPr id="53" name="text-193"/>
          <p:cNvSpPr txBox="1"/>
          <p:nvPr/>
        </p:nvSpPr>
        <p:spPr>
          <a:xfrm>
            <a:off x="6473952" y="5111496"/>
            <a:ext cx="548640" cy="237744"/>
          </a:xfrm>
          <a:prstGeom prst="rect">
            <a:avLst/>
          </a:prstGeom>
          <a:noFill/>
          <a:ln/>
        </p:spPr>
        <p:txBody>
          <a:bodyPr wrap="square" lIns="0" tIns="0" rIns="0" bIns="0" rtlCol="0" anchor="t"/>
          <a:lstStyle/>
          <a:p>
            <a:pPr indent="0" marL="0">
              <a:buNone/>
            </a:pPr>
            <a:r>
              <a:rPr lang="en-US" sz="1100" dirty="0">
                <a:solidFill>
                  <a:schemeClr val="accent6"/>
                </a:solidFill>
                <a:latin typeface="Consolas" pitchFamily="34" charset="0"/>
                <a:ea typeface="Consolas" pitchFamily="34" charset="-122"/>
                <a:cs typeface="Consolas" pitchFamily="34" charset="-120"/>
              </a:rPr>
              <a:t>@148</a:t>
            </a:r>
            <a:endParaRPr lang="en-US" sz="1100" dirty="0"/>
          </a:p>
        </p:txBody>
      </p:sp>
      <p:sp>
        <p:nvSpPr>
          <p:cNvPr id="54" name="text-194"/>
          <p:cNvSpPr txBox="1"/>
          <p:nvPr/>
        </p:nvSpPr>
        <p:spPr>
          <a:xfrm>
            <a:off x="7114032" y="5111496"/>
            <a:ext cx="1691640" cy="237744"/>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PointCount</a:t>
            </a:r>
            <a:endParaRPr lang="en-US" sz="1100" dirty="0"/>
          </a:p>
        </p:txBody>
      </p:sp>
      <p:sp>
        <p:nvSpPr>
          <p:cNvPr id="55" name="text-195"/>
          <p:cNvSpPr txBox="1"/>
          <p:nvPr/>
        </p:nvSpPr>
        <p:spPr>
          <a:xfrm>
            <a:off x="8897112" y="5111496"/>
            <a:ext cx="457200" cy="237744"/>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i32</a:t>
            </a:r>
            <a:endParaRPr lang="en-US" sz="1100" dirty="0"/>
          </a:p>
        </p:txBody>
      </p:sp>
      <p:sp>
        <p:nvSpPr>
          <p:cNvPr id="56" name="arrow-196"/>
          <p:cNvSpPr/>
          <p:nvPr/>
        </p:nvSpPr>
        <p:spPr>
          <a:xfrm>
            <a:off x="9418320" y="4599432"/>
            <a:ext cx="457200" cy="91"/>
          </a:xfrm>
          <a:prstGeom prst="line">
            <a:avLst/>
          </a:prstGeom>
          <a:noFill/>
          <a:ln w="22225">
            <a:solidFill>
              <a:schemeClr val="accent2"/>
            </a:solidFill>
            <a:prstDash val="solid"/>
            <a:tailEnd type="triangle"/>
          </a:ln>
        </p:spPr>
      </p:sp>
      <p:sp>
        <p:nvSpPr>
          <p:cNvPr id="57" name="card-197"/>
          <p:cNvSpPr/>
          <p:nvPr/>
        </p:nvSpPr>
        <p:spPr>
          <a:xfrm>
            <a:off x="9921240" y="4096512"/>
            <a:ext cx="1721815" cy="1481328"/>
          </a:xfrm>
          <a:prstGeom prst="roundRect">
            <a:avLst>
              <a:gd name="adj" fmla="val 4938"/>
            </a:avLst>
          </a:prstGeom>
          <a:solidFill>
            <a:schemeClr val="bg1"/>
          </a:solidFill>
          <a:ln w="12700">
            <a:solidFill>
              <a:srgbClr val="D55E00"/>
            </a:solidFill>
            <a:prstDash val="solid"/>
          </a:ln>
        </p:spPr>
      </p:sp>
      <p:sp>
        <p:nvSpPr>
          <p:cNvPr id="58" name="text-198"/>
          <p:cNvSpPr txBox="1"/>
          <p:nvPr/>
        </p:nvSpPr>
        <p:spPr>
          <a:xfrm>
            <a:off x="10058400" y="4169664"/>
            <a:ext cx="1447495" cy="256032"/>
          </a:xfrm>
          <a:prstGeom prst="rect">
            <a:avLst/>
          </a:prstGeom>
          <a:noFill/>
          <a:ln/>
        </p:spPr>
        <p:txBody>
          <a:bodyPr wrap="square" lIns="0" tIns="0" rIns="0" bIns="0" rtlCol="0" anchor="t"/>
          <a:lstStyle/>
          <a:p>
            <a:pPr indent="0" marL="0">
              <a:buNone/>
            </a:pPr>
            <a:r>
              <a:rPr lang="en-US" sz="1300" b="1" dirty="0">
                <a:solidFill>
                  <a:schemeClr val="accent2"/>
                </a:solidFill>
                <a:latin typeface="Consolas" pitchFamily="34" charset="0"/>
                <a:ea typeface="Consolas" pitchFamily="34" charset="-122"/>
                <a:cs typeface="Consolas" pitchFamily="34" charset="-120"/>
              </a:rPr>
              <a:t>MSPeak.bin</a:t>
            </a:r>
            <a:endParaRPr lang="en-US" sz="1300" dirty="0"/>
          </a:p>
        </p:txBody>
      </p:sp>
      <p:sp>
        <p:nvSpPr>
          <p:cNvPr id="59" name="text-199"/>
          <p:cNvSpPr txBox="1"/>
          <p:nvPr/>
        </p:nvSpPr>
        <p:spPr>
          <a:xfrm>
            <a:off x="10058400" y="4480560"/>
            <a:ext cx="1493215" cy="100584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@SpectrumOffset</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n × f8  m/z</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n × f8  Abundanz</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n = PointCount</a:t>
            </a:r>
            <a:endParaRPr lang="en-US" sz="1100" dirty="0"/>
          </a:p>
        </p:txBody>
      </p:sp>
      <p:sp>
        <p:nvSpPr>
          <p:cNvPr id="60" name="card-200"/>
          <p:cNvSpPr/>
          <p:nvPr/>
        </p:nvSpPr>
        <p:spPr>
          <a:xfrm>
            <a:off x="9921240" y="2578608"/>
            <a:ext cx="1721815" cy="1097280"/>
          </a:xfrm>
          <a:prstGeom prst="roundRect">
            <a:avLst>
              <a:gd name="adj" fmla="val 6667"/>
            </a:avLst>
          </a:prstGeom>
          <a:solidFill>
            <a:schemeClr val="bg2"/>
          </a:solidFill>
          <a:ln/>
        </p:spPr>
      </p:sp>
      <p:sp>
        <p:nvSpPr>
          <p:cNvPr id="61" name="text-201"/>
          <p:cNvSpPr txBox="1"/>
          <p:nvPr/>
        </p:nvSpPr>
        <p:spPr>
          <a:xfrm>
            <a:off x="10058400" y="2651760"/>
            <a:ext cx="1447495" cy="256032"/>
          </a:xfrm>
          <a:prstGeom prst="rect">
            <a:avLst/>
          </a:prstGeom>
          <a:noFill/>
          <a:ln/>
        </p:spPr>
        <p:txBody>
          <a:bodyPr wrap="square" lIns="0" tIns="0" rIns="0" bIns="0" rtlCol="0" anchor="t"/>
          <a:lstStyle/>
          <a:p>
            <a:pPr indent="0" marL="0">
              <a:buNone/>
            </a:pPr>
            <a:r>
              <a:rPr lang="en-US" sz="1300" b="1" dirty="0">
                <a:solidFill>
                  <a:schemeClr val="tx2"/>
                </a:solidFill>
                <a:latin typeface="Consolas" pitchFamily="34" charset="0"/>
                <a:ea typeface="Consolas" pitchFamily="34" charset="-122"/>
                <a:cs typeface="Consolas" pitchFamily="34" charset="-120"/>
              </a:rPr>
              <a:t>FID*.cg</a:t>
            </a:r>
            <a:endParaRPr lang="en-US" sz="1300" dirty="0"/>
          </a:p>
        </p:txBody>
      </p:sp>
      <p:sp>
        <p:nvSpPr>
          <p:cNvPr id="62" name="text-202"/>
          <p:cNvSpPr txBox="1"/>
          <p:nvPr/>
        </p:nvSpPr>
        <p:spPr>
          <a:xfrm>
            <a:off x="10058400" y="2926080"/>
            <a:ext cx="1493215" cy="73152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Header 84 Byte</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@0x44 f8 t0, Δt</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@0x54 f8 Samples</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05 · INTEGRATION</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Eigener Integrator mit Event-Sourcing</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Jede manuelle Korrektur ist ein Ereignis, das nach jeder Re-Integration erneut angewendet wird.</a:t>
            </a:r>
            <a:endParaRPr lang="en-US" sz="1600" dirty="0"/>
          </a:p>
        </p:txBody>
      </p:sp>
      <p:sp>
        <p:nvSpPr>
          <p:cNvPr id="5" name="card-203"/>
          <p:cNvSpPr/>
          <p:nvPr/>
        </p:nvSpPr>
        <p:spPr>
          <a:xfrm>
            <a:off x="548640" y="1920240"/>
            <a:ext cx="2194560" cy="1097280"/>
          </a:xfrm>
          <a:prstGeom prst="roundRect">
            <a:avLst>
              <a:gd name="adj" fmla="val 6667"/>
            </a:avLst>
          </a:prstGeom>
          <a:solidFill>
            <a:schemeClr val="bg2"/>
          </a:solidFill>
          <a:ln/>
        </p:spPr>
      </p:sp>
      <p:sp>
        <p:nvSpPr>
          <p:cNvPr id="6" name="text-204"/>
          <p:cNvSpPr txBox="1"/>
          <p:nvPr/>
        </p:nvSpPr>
        <p:spPr>
          <a:xfrm>
            <a:off x="713232" y="2048256"/>
            <a:ext cx="192024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Rohsignal</a:t>
            </a:r>
            <a:endParaRPr lang="en-US" sz="1400" dirty="0"/>
          </a:p>
        </p:txBody>
      </p:sp>
      <p:sp>
        <p:nvSpPr>
          <p:cNvPr id="7" name="text-205"/>
          <p:cNvSpPr txBox="1"/>
          <p:nvPr/>
        </p:nvSpPr>
        <p:spPr>
          <a:xfrm>
            <a:off x="713232" y="2359152"/>
            <a:ext cx="1920240" cy="594360"/>
          </a:xfrm>
          <a:prstGeom prst="rect">
            <a:avLst/>
          </a:prstGeom>
          <a:noFill/>
          <a:ln/>
        </p:spPr>
        <p:txBody>
          <a:bodyPr wrap="square" lIns="0" tIns="0" rIns="0" bIns="0" rtlCol="0" anchor="t"/>
          <a:lstStyle/>
          <a:p>
            <a:pPr indent="0" marL="0">
              <a:buNone/>
            </a:pPr>
            <a:r>
              <a:rPr lang="en-US" sz="1200" dirty="0">
                <a:solidFill>
                  <a:schemeClr val="accent6"/>
                </a:solidFill>
              </a:rPr>
              <a:t>FID, TIC, BPC, EIC und Blank-korrigierte Spuren</a:t>
            </a:r>
            <a:endParaRPr lang="en-US" sz="1200" dirty="0"/>
          </a:p>
        </p:txBody>
      </p:sp>
      <p:sp>
        <p:nvSpPr>
          <p:cNvPr id="8" name="arrow-206"/>
          <p:cNvSpPr/>
          <p:nvPr/>
        </p:nvSpPr>
        <p:spPr>
          <a:xfrm>
            <a:off x="2788920" y="2468880"/>
            <a:ext cx="365760" cy="91"/>
          </a:xfrm>
          <a:prstGeom prst="line">
            <a:avLst/>
          </a:prstGeom>
          <a:noFill/>
          <a:ln w="19050">
            <a:solidFill>
              <a:schemeClr val="accent6"/>
            </a:solidFill>
            <a:prstDash val="solid"/>
            <a:tailEnd type="triangle"/>
          </a:ln>
        </p:spPr>
      </p:sp>
      <p:sp>
        <p:nvSpPr>
          <p:cNvPr id="9" name="card-207"/>
          <p:cNvSpPr/>
          <p:nvPr/>
        </p:nvSpPr>
        <p:spPr>
          <a:xfrm>
            <a:off x="548640" y="3291840"/>
            <a:ext cx="2194560" cy="1097280"/>
          </a:xfrm>
          <a:prstGeom prst="roundRect">
            <a:avLst>
              <a:gd name="adj" fmla="val 6667"/>
            </a:avLst>
          </a:prstGeom>
          <a:solidFill>
            <a:schemeClr val="bg2"/>
          </a:solidFill>
          <a:ln/>
        </p:spPr>
      </p:sp>
      <p:sp>
        <p:nvSpPr>
          <p:cNvPr id="10" name="text-208"/>
          <p:cNvSpPr txBox="1"/>
          <p:nvPr/>
        </p:nvSpPr>
        <p:spPr>
          <a:xfrm>
            <a:off x="713232" y="3419856"/>
            <a:ext cx="192024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Integrationsmethode</a:t>
            </a:r>
            <a:endParaRPr lang="en-US" sz="1400" dirty="0"/>
          </a:p>
        </p:txBody>
      </p:sp>
      <p:sp>
        <p:nvSpPr>
          <p:cNvPr id="11" name="text-209"/>
          <p:cNvSpPr txBox="1"/>
          <p:nvPr/>
        </p:nvSpPr>
        <p:spPr>
          <a:xfrm>
            <a:off x="713232" y="3730752"/>
            <a:ext cx="1920240" cy="594360"/>
          </a:xfrm>
          <a:prstGeom prst="rect">
            <a:avLst/>
          </a:prstGeom>
          <a:noFill/>
          <a:ln/>
        </p:spPr>
        <p:txBody>
          <a:bodyPr wrap="square" lIns="0" tIns="0" rIns="0" bIns="0" rtlCol="0" anchor="t"/>
          <a:lstStyle/>
          <a:p>
            <a:pPr indent="0" marL="0">
              <a:buNone/>
            </a:pPr>
            <a:r>
              <a:rPr lang="en-US" sz="1200" dirty="0">
                <a:solidFill>
                  <a:schemeClr val="accent6"/>
                </a:solidFill>
              </a:rPr>
              <a:t>Auto-Parameter + Timed Events</a:t>
            </a:r>
            <a:endParaRPr lang="en-US" sz="1200" dirty="0"/>
          </a:p>
        </p:txBody>
      </p:sp>
      <p:sp>
        <p:nvSpPr>
          <p:cNvPr id="12" name="arrow-210"/>
          <p:cNvSpPr/>
          <p:nvPr/>
        </p:nvSpPr>
        <p:spPr>
          <a:xfrm>
            <a:off x="2788920" y="3840480"/>
            <a:ext cx="365760" cy="91"/>
          </a:xfrm>
          <a:prstGeom prst="line">
            <a:avLst/>
          </a:prstGeom>
          <a:noFill/>
          <a:ln w="19050">
            <a:solidFill>
              <a:schemeClr val="accent6"/>
            </a:solidFill>
            <a:prstDash val="solid"/>
            <a:tailEnd type="triangle"/>
          </a:ln>
        </p:spPr>
      </p:sp>
      <p:sp>
        <p:nvSpPr>
          <p:cNvPr id="13" name="card-211"/>
          <p:cNvSpPr/>
          <p:nvPr/>
        </p:nvSpPr>
        <p:spPr>
          <a:xfrm>
            <a:off x="548640" y="4663440"/>
            <a:ext cx="2194560" cy="1097280"/>
          </a:xfrm>
          <a:prstGeom prst="roundRect">
            <a:avLst>
              <a:gd name="adj" fmla="val 6667"/>
            </a:avLst>
          </a:prstGeom>
          <a:solidFill>
            <a:schemeClr val="bg2"/>
          </a:solidFill>
          <a:ln/>
        </p:spPr>
      </p:sp>
      <p:sp>
        <p:nvSpPr>
          <p:cNvPr id="14" name="text-212"/>
          <p:cNvSpPr txBox="1"/>
          <p:nvPr/>
        </p:nvSpPr>
        <p:spPr>
          <a:xfrm>
            <a:off x="713232" y="4791456"/>
            <a:ext cx="1920240" cy="274320"/>
          </a:xfrm>
          <a:prstGeom prst="rect">
            <a:avLst/>
          </a:prstGeom>
          <a:noFill/>
          <a:ln/>
        </p:spPr>
        <p:txBody>
          <a:bodyPr wrap="square" lIns="0" tIns="0" rIns="0" bIns="0" rtlCol="0" anchor="t"/>
          <a:lstStyle/>
          <a:p>
            <a:pPr indent="0" marL="0">
              <a:buNone/>
            </a:pPr>
            <a:r>
              <a:rPr lang="en-US" sz="1400" b="1" dirty="0">
                <a:solidFill>
                  <a:schemeClr val="accent2"/>
                </a:solidFill>
                <a:latin typeface="+mj-lt" pitchFamily="34" charset="0"/>
                <a:ea typeface="+mj-lt" pitchFamily="34" charset="-122"/>
                <a:cs typeface="+mj-lt" pitchFamily="34" charset="-120"/>
              </a:rPr>
              <a:t>Manuelle Events</a:t>
            </a:r>
            <a:endParaRPr lang="en-US" sz="1400" dirty="0"/>
          </a:p>
        </p:txBody>
      </p:sp>
      <p:sp>
        <p:nvSpPr>
          <p:cNvPr id="15" name="text-213"/>
          <p:cNvSpPr txBox="1"/>
          <p:nvPr/>
        </p:nvSpPr>
        <p:spPr>
          <a:xfrm>
            <a:off x="713232" y="5102352"/>
            <a:ext cx="1920240" cy="594360"/>
          </a:xfrm>
          <a:prstGeom prst="rect">
            <a:avLst/>
          </a:prstGeom>
          <a:noFill/>
          <a:ln/>
        </p:spPr>
        <p:txBody>
          <a:bodyPr wrap="square" lIns="0" tIns="0" rIns="0" bIns="0" rtlCol="0" anchor="t"/>
          <a:lstStyle/>
          <a:p>
            <a:pPr indent="0" marL="0">
              <a:buNone/>
            </a:pPr>
            <a:r>
              <a:rPr lang="en-US" sz="1200" dirty="0">
                <a:solidFill>
                  <a:schemeClr val="accent6"/>
                </a:solidFill>
              </a:rPr>
              <a:t>Basislinie, Split, Löschen, Peak, Skim, Merge …</a:t>
            </a:r>
            <a:endParaRPr lang="en-US" sz="1200" dirty="0"/>
          </a:p>
        </p:txBody>
      </p:sp>
      <p:sp>
        <p:nvSpPr>
          <p:cNvPr id="16" name="arrow-214"/>
          <p:cNvSpPr/>
          <p:nvPr/>
        </p:nvSpPr>
        <p:spPr>
          <a:xfrm>
            <a:off x="2788920" y="5212080"/>
            <a:ext cx="365760" cy="91"/>
          </a:xfrm>
          <a:prstGeom prst="line">
            <a:avLst/>
          </a:prstGeom>
          <a:noFill/>
          <a:ln w="19050">
            <a:solidFill>
              <a:schemeClr val="accent6"/>
            </a:solidFill>
            <a:prstDash val="solid"/>
            <a:tailEnd type="triangle"/>
          </a:ln>
        </p:spPr>
      </p:sp>
      <p:sp>
        <p:nvSpPr>
          <p:cNvPr id="17" name="card-215"/>
          <p:cNvSpPr/>
          <p:nvPr/>
        </p:nvSpPr>
        <p:spPr>
          <a:xfrm>
            <a:off x="3200400" y="1810512"/>
            <a:ext cx="2514600" cy="4224528"/>
          </a:xfrm>
          <a:prstGeom prst="roundRect">
            <a:avLst>
              <a:gd name="adj" fmla="val 2909"/>
            </a:avLst>
          </a:prstGeom>
          <a:solidFill>
            <a:schemeClr val="tx2"/>
          </a:solidFill>
          <a:ln/>
        </p:spPr>
      </p:sp>
      <p:sp>
        <p:nvSpPr>
          <p:cNvPr id="18" name="text-216"/>
          <p:cNvSpPr txBox="1"/>
          <p:nvPr/>
        </p:nvSpPr>
        <p:spPr>
          <a:xfrm>
            <a:off x="3383280" y="1901952"/>
            <a:ext cx="2148840" cy="292608"/>
          </a:xfrm>
          <a:prstGeom prst="rect">
            <a:avLst/>
          </a:prstGeom>
          <a:noFill/>
          <a:ln/>
        </p:spPr>
        <p:txBody>
          <a:bodyPr wrap="square" lIns="0" tIns="0" rIns="0" bIns="0" rtlCol="0" anchor="t"/>
          <a:lstStyle/>
          <a:p>
            <a:pPr indent="0" marL="0">
              <a:buNone/>
            </a:pPr>
            <a:r>
              <a:rPr lang="en-US" sz="1500" b="1" dirty="0">
                <a:solidFill>
                  <a:srgbClr val="FFFFFF"/>
                </a:solidFill>
                <a:latin typeface="+mj-lt" pitchFamily="34" charset="0"/>
                <a:ea typeface="+mj-lt" pitchFamily="34" charset="-122"/>
                <a:cs typeface="+mj-lt" pitchFamily="34" charset="-120"/>
              </a:rPr>
              <a:t>Integrator</a:t>
            </a:r>
            <a:endParaRPr lang="en-US" sz="1500" dirty="0"/>
          </a:p>
        </p:txBody>
      </p:sp>
      <p:sp>
        <p:nvSpPr>
          <p:cNvPr id="19" name="text-217"/>
          <p:cNvSpPr txBox="1"/>
          <p:nvPr/>
        </p:nvSpPr>
        <p:spPr>
          <a:xfrm>
            <a:off x="3383280" y="2286000"/>
            <a:ext cx="274320" cy="274320"/>
          </a:xfrm>
          <a:prstGeom prst="rect">
            <a:avLst/>
          </a:prstGeom>
          <a:noFill/>
          <a:ln/>
        </p:spPr>
        <p:txBody>
          <a:bodyPr wrap="square" lIns="0" tIns="0" rIns="0" bIns="0" rtlCol="0" anchor="t"/>
          <a:lstStyle/>
          <a:p>
            <a:pPr indent="0" marL="0">
              <a:buNone/>
            </a:pPr>
            <a:r>
              <a:rPr lang="en-US" sz="1100" b="1" dirty="0">
                <a:solidFill>
                  <a:srgbClr val="7CC8E0"/>
                </a:solidFill>
                <a:latin typeface="Consolas" pitchFamily="34" charset="0"/>
                <a:ea typeface="Consolas" pitchFamily="34" charset="-122"/>
                <a:cs typeface="Consolas" pitchFamily="34" charset="-120"/>
              </a:rPr>
              <a:t>1</a:t>
            </a:r>
            <a:endParaRPr lang="en-US" sz="1100" dirty="0"/>
          </a:p>
        </p:txBody>
      </p:sp>
      <p:sp>
        <p:nvSpPr>
          <p:cNvPr id="20" name="text-218"/>
          <p:cNvSpPr txBox="1"/>
          <p:nvPr/>
        </p:nvSpPr>
        <p:spPr>
          <a:xfrm>
            <a:off x="3675888" y="2286000"/>
            <a:ext cx="1965960" cy="274320"/>
          </a:xfrm>
          <a:prstGeom prst="rect">
            <a:avLst/>
          </a:prstGeom>
          <a:noFill/>
          <a:ln/>
        </p:spPr>
        <p:txBody>
          <a:bodyPr wrap="square" lIns="0" tIns="0" rIns="0" bIns="0" rtlCol="0" anchor="t"/>
          <a:lstStyle/>
          <a:p>
            <a:pPr indent="0" marL="0">
              <a:buNone/>
            </a:pPr>
            <a:r>
              <a:rPr lang="en-US" sz="1100" dirty="0">
                <a:solidFill>
                  <a:srgbClr val="FFFFFF"/>
                </a:solidFill>
              </a:rPr>
              <a:t>Auto-Parameter (σ, FWHM)</a:t>
            </a:r>
            <a:endParaRPr lang="en-US" sz="1100" dirty="0"/>
          </a:p>
        </p:txBody>
      </p:sp>
      <p:sp>
        <p:nvSpPr>
          <p:cNvPr id="21" name="text-219"/>
          <p:cNvSpPr txBox="1"/>
          <p:nvPr/>
        </p:nvSpPr>
        <p:spPr>
          <a:xfrm>
            <a:off x="3383280" y="2651760"/>
            <a:ext cx="274320" cy="274320"/>
          </a:xfrm>
          <a:prstGeom prst="rect">
            <a:avLst/>
          </a:prstGeom>
          <a:noFill/>
          <a:ln/>
        </p:spPr>
        <p:txBody>
          <a:bodyPr wrap="square" lIns="0" tIns="0" rIns="0" bIns="0" rtlCol="0" anchor="t"/>
          <a:lstStyle/>
          <a:p>
            <a:pPr indent="0" marL="0">
              <a:buNone/>
            </a:pPr>
            <a:r>
              <a:rPr lang="en-US" sz="1100" b="1" dirty="0">
                <a:solidFill>
                  <a:srgbClr val="7CC8E0"/>
                </a:solidFill>
                <a:latin typeface="Consolas" pitchFamily="34" charset="0"/>
                <a:ea typeface="Consolas" pitchFamily="34" charset="-122"/>
                <a:cs typeface="Consolas" pitchFamily="34" charset="-120"/>
              </a:rPr>
              <a:t>2</a:t>
            </a:r>
            <a:endParaRPr lang="en-US" sz="1100" dirty="0"/>
          </a:p>
        </p:txBody>
      </p:sp>
      <p:sp>
        <p:nvSpPr>
          <p:cNvPr id="22" name="text-220"/>
          <p:cNvSpPr txBox="1"/>
          <p:nvPr/>
        </p:nvSpPr>
        <p:spPr>
          <a:xfrm>
            <a:off x="3675888" y="2651760"/>
            <a:ext cx="1965960" cy="274320"/>
          </a:xfrm>
          <a:prstGeom prst="rect">
            <a:avLst/>
          </a:prstGeom>
          <a:noFill/>
          <a:ln/>
        </p:spPr>
        <p:txBody>
          <a:bodyPr wrap="square" lIns="0" tIns="0" rIns="0" bIns="0" rtlCol="0" anchor="t"/>
          <a:lstStyle/>
          <a:p>
            <a:pPr indent="0" marL="0">
              <a:buNone/>
            </a:pPr>
            <a:r>
              <a:rPr lang="en-US" sz="1100" dirty="0">
                <a:solidFill>
                  <a:srgbClr val="FFFFFF"/>
                </a:solidFill>
              </a:rPr>
              <a:t>Timed Events → Arrays</a:t>
            </a:r>
            <a:endParaRPr lang="en-US" sz="1100" dirty="0"/>
          </a:p>
        </p:txBody>
      </p:sp>
      <p:sp>
        <p:nvSpPr>
          <p:cNvPr id="23" name="text-221"/>
          <p:cNvSpPr txBox="1"/>
          <p:nvPr/>
        </p:nvSpPr>
        <p:spPr>
          <a:xfrm>
            <a:off x="3383280" y="3017520"/>
            <a:ext cx="274320" cy="274320"/>
          </a:xfrm>
          <a:prstGeom prst="rect">
            <a:avLst/>
          </a:prstGeom>
          <a:noFill/>
          <a:ln/>
        </p:spPr>
        <p:txBody>
          <a:bodyPr wrap="square" lIns="0" tIns="0" rIns="0" bIns="0" rtlCol="0" anchor="t"/>
          <a:lstStyle/>
          <a:p>
            <a:pPr indent="0" marL="0">
              <a:buNone/>
            </a:pPr>
            <a:r>
              <a:rPr lang="en-US" sz="1100" b="1" dirty="0">
                <a:solidFill>
                  <a:srgbClr val="7CC8E0"/>
                </a:solidFill>
                <a:latin typeface="Consolas" pitchFamily="34" charset="0"/>
                <a:ea typeface="Consolas" pitchFamily="34" charset="-122"/>
                <a:cs typeface="Consolas" pitchFamily="34" charset="-120"/>
              </a:rPr>
              <a:t>3</a:t>
            </a:r>
            <a:endParaRPr lang="en-US" sz="1100" dirty="0"/>
          </a:p>
        </p:txBody>
      </p:sp>
      <p:sp>
        <p:nvSpPr>
          <p:cNvPr id="24" name="text-222"/>
          <p:cNvSpPr txBox="1"/>
          <p:nvPr/>
        </p:nvSpPr>
        <p:spPr>
          <a:xfrm>
            <a:off x="3675888" y="3017520"/>
            <a:ext cx="1965960" cy="274320"/>
          </a:xfrm>
          <a:prstGeom prst="rect">
            <a:avLst/>
          </a:prstGeom>
          <a:noFill/>
          <a:ln/>
        </p:spPr>
        <p:txBody>
          <a:bodyPr wrap="square" lIns="0" tIns="0" rIns="0" bIns="0" rtlCol="0" anchor="t"/>
          <a:lstStyle/>
          <a:p>
            <a:pPr indent="0" marL="0">
              <a:buNone/>
            </a:pPr>
            <a:r>
              <a:rPr lang="en-US" sz="1100" dirty="0">
                <a:solidFill>
                  <a:srgbClr val="FFFFFF"/>
                </a:solidFill>
              </a:rPr>
              <a:t>Savitzky-Golay + Ableitungen</a:t>
            </a:r>
            <a:endParaRPr lang="en-US" sz="1100" dirty="0"/>
          </a:p>
        </p:txBody>
      </p:sp>
      <p:sp>
        <p:nvSpPr>
          <p:cNvPr id="25" name="text-223"/>
          <p:cNvSpPr txBox="1"/>
          <p:nvPr/>
        </p:nvSpPr>
        <p:spPr>
          <a:xfrm>
            <a:off x="3383280" y="3383280"/>
            <a:ext cx="274320" cy="274320"/>
          </a:xfrm>
          <a:prstGeom prst="rect">
            <a:avLst/>
          </a:prstGeom>
          <a:noFill/>
          <a:ln/>
        </p:spPr>
        <p:txBody>
          <a:bodyPr wrap="square" lIns="0" tIns="0" rIns="0" bIns="0" rtlCol="0" anchor="t"/>
          <a:lstStyle/>
          <a:p>
            <a:pPr indent="0" marL="0">
              <a:buNone/>
            </a:pPr>
            <a:r>
              <a:rPr lang="en-US" sz="1100" b="1" dirty="0">
                <a:solidFill>
                  <a:srgbClr val="7CC8E0"/>
                </a:solidFill>
                <a:latin typeface="Consolas" pitchFamily="34" charset="0"/>
                <a:ea typeface="Consolas" pitchFamily="34" charset="-122"/>
                <a:cs typeface="Consolas" pitchFamily="34" charset="-120"/>
              </a:rPr>
              <a:t>4</a:t>
            </a:r>
            <a:endParaRPr lang="en-US" sz="1100" dirty="0"/>
          </a:p>
        </p:txBody>
      </p:sp>
      <p:sp>
        <p:nvSpPr>
          <p:cNvPr id="26" name="text-224"/>
          <p:cNvSpPr txBox="1"/>
          <p:nvPr/>
        </p:nvSpPr>
        <p:spPr>
          <a:xfrm>
            <a:off x="3675888" y="3383280"/>
            <a:ext cx="1965960" cy="274320"/>
          </a:xfrm>
          <a:prstGeom prst="rect">
            <a:avLst/>
          </a:prstGeom>
          <a:noFill/>
          <a:ln/>
        </p:spPr>
        <p:txBody>
          <a:bodyPr wrap="square" lIns="0" tIns="0" rIns="0" bIns="0" rtlCol="0" anchor="t"/>
          <a:lstStyle/>
          <a:p>
            <a:pPr indent="0" marL="0">
              <a:buNone/>
            </a:pPr>
            <a:r>
              <a:rPr lang="en-US" sz="1100" dirty="0">
                <a:solidFill>
                  <a:srgbClr val="FFFFFF"/>
                </a:solidFill>
              </a:rPr>
              <a:t>Steigungsdetektion, Cluster</a:t>
            </a:r>
            <a:endParaRPr lang="en-US" sz="1100" dirty="0"/>
          </a:p>
        </p:txBody>
      </p:sp>
      <p:sp>
        <p:nvSpPr>
          <p:cNvPr id="27" name="text-225"/>
          <p:cNvSpPr txBox="1"/>
          <p:nvPr/>
        </p:nvSpPr>
        <p:spPr>
          <a:xfrm>
            <a:off x="3383280" y="3749040"/>
            <a:ext cx="274320" cy="274320"/>
          </a:xfrm>
          <a:prstGeom prst="rect">
            <a:avLst/>
          </a:prstGeom>
          <a:noFill/>
          <a:ln/>
        </p:spPr>
        <p:txBody>
          <a:bodyPr wrap="square" lIns="0" tIns="0" rIns="0" bIns="0" rtlCol="0" anchor="t"/>
          <a:lstStyle/>
          <a:p>
            <a:pPr indent="0" marL="0">
              <a:buNone/>
            </a:pPr>
            <a:r>
              <a:rPr lang="en-US" sz="1100" b="1" dirty="0">
                <a:solidFill>
                  <a:srgbClr val="7CC8E0"/>
                </a:solidFill>
                <a:latin typeface="Consolas" pitchFamily="34" charset="0"/>
                <a:ea typeface="Consolas" pitchFamily="34" charset="-122"/>
                <a:cs typeface="Consolas" pitchFamily="34" charset="-120"/>
              </a:rPr>
              <a:t>5</a:t>
            </a:r>
            <a:endParaRPr lang="en-US" sz="1100" dirty="0"/>
          </a:p>
        </p:txBody>
      </p:sp>
      <p:sp>
        <p:nvSpPr>
          <p:cNvPr id="28" name="text-226"/>
          <p:cNvSpPr txBox="1"/>
          <p:nvPr/>
        </p:nvSpPr>
        <p:spPr>
          <a:xfrm>
            <a:off x="3675888" y="3749040"/>
            <a:ext cx="1965960" cy="274320"/>
          </a:xfrm>
          <a:prstGeom prst="rect">
            <a:avLst/>
          </a:prstGeom>
          <a:noFill/>
          <a:ln/>
        </p:spPr>
        <p:txBody>
          <a:bodyPr wrap="square" lIns="0" tIns="0" rIns="0" bIns="0" rtlCol="0" anchor="t"/>
          <a:lstStyle/>
          <a:p>
            <a:pPr indent="0" marL="0">
              <a:buNone/>
            </a:pPr>
            <a:r>
              <a:rPr lang="en-US" sz="1100" dirty="0">
                <a:solidFill>
                  <a:srgbClr val="FFFFFF"/>
                </a:solidFill>
              </a:rPr>
              <a:t>Basislinien-Events</a:t>
            </a:r>
            <a:endParaRPr lang="en-US" sz="1100" dirty="0"/>
          </a:p>
        </p:txBody>
      </p:sp>
      <p:sp>
        <p:nvSpPr>
          <p:cNvPr id="29" name="text-227"/>
          <p:cNvSpPr txBox="1"/>
          <p:nvPr/>
        </p:nvSpPr>
        <p:spPr>
          <a:xfrm>
            <a:off x="3383280" y="4114800"/>
            <a:ext cx="274320" cy="274320"/>
          </a:xfrm>
          <a:prstGeom prst="rect">
            <a:avLst/>
          </a:prstGeom>
          <a:noFill/>
          <a:ln/>
        </p:spPr>
        <p:txBody>
          <a:bodyPr wrap="square" lIns="0" tIns="0" rIns="0" bIns="0" rtlCol="0" anchor="t"/>
          <a:lstStyle/>
          <a:p>
            <a:pPr indent="0" marL="0">
              <a:buNone/>
            </a:pPr>
            <a:r>
              <a:rPr lang="en-US" sz="1100" b="1" dirty="0">
                <a:solidFill>
                  <a:srgbClr val="7CC8E0"/>
                </a:solidFill>
                <a:latin typeface="Consolas" pitchFamily="34" charset="0"/>
                <a:ea typeface="Consolas" pitchFamily="34" charset="-122"/>
                <a:cs typeface="Consolas" pitchFamily="34" charset="-120"/>
              </a:rPr>
              <a:t>6</a:t>
            </a:r>
            <a:endParaRPr lang="en-US" sz="1100" dirty="0"/>
          </a:p>
        </p:txBody>
      </p:sp>
      <p:sp>
        <p:nvSpPr>
          <p:cNvPr id="30" name="text-228"/>
          <p:cNvSpPr txBox="1"/>
          <p:nvPr/>
        </p:nvSpPr>
        <p:spPr>
          <a:xfrm>
            <a:off x="3675888" y="4114800"/>
            <a:ext cx="1965960" cy="274320"/>
          </a:xfrm>
          <a:prstGeom prst="rect">
            <a:avLst/>
          </a:prstGeom>
          <a:noFill/>
          <a:ln/>
        </p:spPr>
        <p:txBody>
          <a:bodyPr wrap="square" lIns="0" tIns="0" rIns="0" bIns="0" rtlCol="0" anchor="t"/>
          <a:lstStyle/>
          <a:p>
            <a:pPr indent="0" marL="0">
              <a:buNone/>
            </a:pPr>
            <a:r>
              <a:rPr lang="en-US" sz="1100" dirty="0">
                <a:solidFill>
                  <a:srgbClr val="FFFFFF"/>
                </a:solidFill>
              </a:rPr>
              <a:t>Drop / Tal-zu-Tal</a:t>
            </a:r>
            <a:endParaRPr lang="en-US" sz="1100" dirty="0"/>
          </a:p>
        </p:txBody>
      </p:sp>
      <p:sp>
        <p:nvSpPr>
          <p:cNvPr id="31" name="text-229"/>
          <p:cNvSpPr txBox="1"/>
          <p:nvPr/>
        </p:nvSpPr>
        <p:spPr>
          <a:xfrm>
            <a:off x="3383280" y="4480560"/>
            <a:ext cx="274320" cy="274320"/>
          </a:xfrm>
          <a:prstGeom prst="rect">
            <a:avLst/>
          </a:prstGeom>
          <a:noFill/>
          <a:ln/>
        </p:spPr>
        <p:txBody>
          <a:bodyPr wrap="square" lIns="0" tIns="0" rIns="0" bIns="0" rtlCol="0" anchor="t"/>
          <a:lstStyle/>
          <a:p>
            <a:pPr indent="0" marL="0">
              <a:buNone/>
            </a:pPr>
            <a:r>
              <a:rPr lang="en-US" sz="1100" b="1" dirty="0">
                <a:solidFill>
                  <a:srgbClr val="7CC8E0"/>
                </a:solidFill>
                <a:latin typeface="Consolas" pitchFamily="34" charset="0"/>
                <a:ea typeface="Consolas" pitchFamily="34" charset="-122"/>
                <a:cs typeface="Consolas" pitchFamily="34" charset="-120"/>
              </a:rPr>
              <a:t>7</a:t>
            </a:r>
            <a:endParaRPr lang="en-US" sz="1100" dirty="0"/>
          </a:p>
        </p:txBody>
      </p:sp>
      <p:sp>
        <p:nvSpPr>
          <p:cNvPr id="32" name="text-230"/>
          <p:cNvSpPr txBox="1"/>
          <p:nvPr/>
        </p:nvSpPr>
        <p:spPr>
          <a:xfrm>
            <a:off x="3675888" y="4480560"/>
            <a:ext cx="1965960" cy="274320"/>
          </a:xfrm>
          <a:prstGeom prst="rect">
            <a:avLst/>
          </a:prstGeom>
          <a:noFill/>
          <a:ln/>
        </p:spPr>
        <p:txBody>
          <a:bodyPr wrap="square" lIns="0" tIns="0" rIns="0" bIns="0" rtlCol="0" anchor="t"/>
          <a:lstStyle/>
          <a:p>
            <a:pPr indent="0" marL="0">
              <a:buNone/>
            </a:pPr>
            <a:r>
              <a:rPr lang="en-US" sz="1100" dirty="0">
                <a:solidFill>
                  <a:srgbClr val="FFFFFF"/>
                </a:solidFill>
              </a:rPr>
              <a:t>Schultern, Skims</a:t>
            </a:r>
            <a:endParaRPr lang="en-US" sz="1100" dirty="0"/>
          </a:p>
        </p:txBody>
      </p:sp>
      <p:sp>
        <p:nvSpPr>
          <p:cNvPr id="33" name="text-231"/>
          <p:cNvSpPr txBox="1"/>
          <p:nvPr/>
        </p:nvSpPr>
        <p:spPr>
          <a:xfrm>
            <a:off x="3383280" y="4846320"/>
            <a:ext cx="274320" cy="274320"/>
          </a:xfrm>
          <a:prstGeom prst="rect">
            <a:avLst/>
          </a:prstGeom>
          <a:noFill/>
          <a:ln/>
        </p:spPr>
        <p:txBody>
          <a:bodyPr wrap="square" lIns="0" tIns="0" rIns="0" bIns="0" rtlCol="0" anchor="t"/>
          <a:lstStyle/>
          <a:p>
            <a:pPr indent="0" marL="0">
              <a:buNone/>
            </a:pPr>
            <a:r>
              <a:rPr lang="en-US" sz="1100" b="1" dirty="0">
                <a:solidFill>
                  <a:srgbClr val="7CC8E0"/>
                </a:solidFill>
                <a:latin typeface="Consolas" pitchFamily="34" charset="0"/>
                <a:ea typeface="Consolas" pitchFamily="34" charset="-122"/>
                <a:cs typeface="Consolas" pitchFamily="34" charset="-120"/>
              </a:rPr>
              <a:t>8</a:t>
            </a:r>
            <a:endParaRPr lang="en-US" sz="1100" dirty="0"/>
          </a:p>
        </p:txBody>
      </p:sp>
      <p:sp>
        <p:nvSpPr>
          <p:cNvPr id="34" name="text-232"/>
          <p:cNvSpPr txBox="1"/>
          <p:nvPr/>
        </p:nvSpPr>
        <p:spPr>
          <a:xfrm>
            <a:off x="3675888" y="4846320"/>
            <a:ext cx="1965960" cy="274320"/>
          </a:xfrm>
          <a:prstGeom prst="rect">
            <a:avLst/>
          </a:prstGeom>
          <a:noFill/>
          <a:ln/>
        </p:spPr>
        <p:txBody>
          <a:bodyPr wrap="square" lIns="0" tIns="0" rIns="0" bIns="0" rtlCol="0" anchor="t"/>
          <a:lstStyle/>
          <a:p>
            <a:pPr indent="0" marL="0">
              <a:buNone/>
            </a:pPr>
            <a:r>
              <a:rPr lang="en-US" sz="1100" dirty="0">
                <a:solidFill>
                  <a:srgbClr val="FFFFFF"/>
                </a:solidFill>
              </a:rPr>
              <a:t>Negative Peaks</a:t>
            </a:r>
            <a:endParaRPr lang="en-US" sz="1100" dirty="0"/>
          </a:p>
        </p:txBody>
      </p:sp>
      <p:sp>
        <p:nvSpPr>
          <p:cNvPr id="35" name="text-233"/>
          <p:cNvSpPr txBox="1"/>
          <p:nvPr/>
        </p:nvSpPr>
        <p:spPr>
          <a:xfrm>
            <a:off x="3383280" y="5212080"/>
            <a:ext cx="274320" cy="274320"/>
          </a:xfrm>
          <a:prstGeom prst="rect">
            <a:avLst/>
          </a:prstGeom>
          <a:noFill/>
          <a:ln/>
        </p:spPr>
        <p:txBody>
          <a:bodyPr wrap="square" lIns="0" tIns="0" rIns="0" bIns="0" rtlCol="0" anchor="t"/>
          <a:lstStyle/>
          <a:p>
            <a:pPr indent="0" marL="0">
              <a:buNone/>
            </a:pPr>
            <a:r>
              <a:rPr lang="en-US" sz="1100" b="1" dirty="0">
                <a:solidFill>
                  <a:srgbClr val="7CC8E0"/>
                </a:solidFill>
                <a:latin typeface="Consolas" pitchFamily="34" charset="0"/>
                <a:ea typeface="Consolas" pitchFamily="34" charset="-122"/>
                <a:cs typeface="Consolas" pitchFamily="34" charset="-120"/>
              </a:rPr>
              <a:t>9</a:t>
            </a:r>
            <a:endParaRPr lang="en-US" sz="1100" dirty="0"/>
          </a:p>
        </p:txBody>
      </p:sp>
      <p:sp>
        <p:nvSpPr>
          <p:cNvPr id="36" name="text-234"/>
          <p:cNvSpPr txBox="1"/>
          <p:nvPr/>
        </p:nvSpPr>
        <p:spPr>
          <a:xfrm>
            <a:off x="3675888" y="5212080"/>
            <a:ext cx="1965960" cy="274320"/>
          </a:xfrm>
          <a:prstGeom prst="rect">
            <a:avLst/>
          </a:prstGeom>
          <a:noFill/>
          <a:ln/>
        </p:spPr>
        <p:txBody>
          <a:bodyPr wrap="square" lIns="0" tIns="0" rIns="0" bIns="0" rtlCol="0" anchor="t"/>
          <a:lstStyle/>
          <a:p>
            <a:pPr indent="0" marL="0">
              <a:buNone/>
            </a:pPr>
            <a:r>
              <a:rPr lang="en-US" sz="1100" dirty="0">
                <a:solidFill>
                  <a:srgbClr val="FFFFFF"/>
                </a:solidFill>
              </a:rPr>
              <a:t>Messung, Rejects</a:t>
            </a:r>
            <a:endParaRPr lang="en-US" sz="1100" dirty="0"/>
          </a:p>
        </p:txBody>
      </p:sp>
      <p:sp>
        <p:nvSpPr>
          <p:cNvPr id="37" name="text-235"/>
          <p:cNvSpPr txBox="1"/>
          <p:nvPr/>
        </p:nvSpPr>
        <p:spPr>
          <a:xfrm>
            <a:off x="3383280" y="5577840"/>
            <a:ext cx="274320" cy="274320"/>
          </a:xfrm>
          <a:prstGeom prst="rect">
            <a:avLst/>
          </a:prstGeom>
          <a:noFill/>
          <a:ln/>
        </p:spPr>
        <p:txBody>
          <a:bodyPr wrap="square" lIns="0" tIns="0" rIns="0" bIns="0" rtlCol="0" anchor="t"/>
          <a:lstStyle/>
          <a:p>
            <a:pPr indent="0" marL="0">
              <a:buNone/>
            </a:pPr>
            <a:r>
              <a:rPr lang="en-US" sz="1100" b="1" dirty="0">
                <a:solidFill>
                  <a:srgbClr val="7CC8E0"/>
                </a:solidFill>
                <a:latin typeface="Consolas" pitchFamily="34" charset="0"/>
                <a:ea typeface="Consolas" pitchFamily="34" charset="-122"/>
                <a:cs typeface="Consolas" pitchFamily="34" charset="-120"/>
              </a:rPr>
              <a:t>10</a:t>
            </a:r>
            <a:endParaRPr lang="en-US" sz="1100" dirty="0"/>
          </a:p>
        </p:txBody>
      </p:sp>
      <p:sp>
        <p:nvSpPr>
          <p:cNvPr id="38" name="text-236"/>
          <p:cNvSpPr txBox="1"/>
          <p:nvPr/>
        </p:nvSpPr>
        <p:spPr>
          <a:xfrm>
            <a:off x="3675888" y="5577840"/>
            <a:ext cx="1965960" cy="274320"/>
          </a:xfrm>
          <a:prstGeom prst="rect">
            <a:avLst/>
          </a:prstGeom>
          <a:noFill/>
          <a:ln/>
        </p:spPr>
        <p:txBody>
          <a:bodyPr wrap="square" lIns="0" tIns="0" rIns="0" bIns="0" rtlCol="0" anchor="t"/>
          <a:lstStyle/>
          <a:p>
            <a:pPr indent="0" marL="0">
              <a:buNone/>
            </a:pPr>
            <a:r>
              <a:rPr lang="en-US" sz="1100" dirty="0">
                <a:solidFill>
                  <a:srgbClr val="FFFFFF"/>
                </a:solidFill>
              </a:rPr>
              <a:t>Manuelle Events, Digest</a:t>
            </a:r>
            <a:endParaRPr lang="en-US" sz="1100" dirty="0"/>
          </a:p>
        </p:txBody>
      </p:sp>
      <p:sp>
        <p:nvSpPr>
          <p:cNvPr id="39" name="arrow-237"/>
          <p:cNvSpPr/>
          <p:nvPr/>
        </p:nvSpPr>
        <p:spPr>
          <a:xfrm>
            <a:off x="5760720" y="3931920"/>
            <a:ext cx="411480" cy="91"/>
          </a:xfrm>
          <a:prstGeom prst="line">
            <a:avLst/>
          </a:prstGeom>
          <a:noFill/>
          <a:ln w="19050">
            <a:solidFill>
              <a:schemeClr val="accent6"/>
            </a:solidFill>
            <a:prstDash val="solid"/>
            <a:tailEnd type="triangle"/>
          </a:ln>
        </p:spPr>
      </p:sp>
      <p:sp>
        <p:nvSpPr>
          <p:cNvPr id="40" name="card-238"/>
          <p:cNvSpPr/>
          <p:nvPr/>
        </p:nvSpPr>
        <p:spPr>
          <a:xfrm>
            <a:off x="6217920" y="3429000"/>
            <a:ext cx="1508760" cy="1005840"/>
          </a:xfrm>
          <a:prstGeom prst="roundRect">
            <a:avLst>
              <a:gd name="adj" fmla="val 7273"/>
            </a:avLst>
          </a:prstGeom>
          <a:solidFill>
            <a:schemeClr val="bg1"/>
          </a:solidFill>
          <a:ln w="12700">
            <a:solidFill>
              <a:srgbClr val="1F7A99"/>
            </a:solidFill>
            <a:prstDash val="solid"/>
          </a:ln>
        </p:spPr>
      </p:sp>
      <p:sp>
        <p:nvSpPr>
          <p:cNvPr id="41" name="text-239"/>
          <p:cNvSpPr txBox="1"/>
          <p:nvPr/>
        </p:nvSpPr>
        <p:spPr>
          <a:xfrm>
            <a:off x="6355080" y="3547872"/>
            <a:ext cx="1325880" cy="292608"/>
          </a:xfrm>
          <a:prstGeom prst="rect">
            <a:avLst/>
          </a:prstGeom>
          <a:noFill/>
          <a:ln/>
        </p:spPr>
        <p:txBody>
          <a:bodyPr wrap="square" lIns="0" tIns="0" rIns="0" bIns="0" rtlCol="0" anchor="t"/>
          <a:lstStyle/>
          <a:p>
            <a:pPr indent="0" marL="0">
              <a:buNone/>
            </a:pPr>
            <a:r>
              <a:rPr lang="en-US" sz="1400" b="1" dirty="0">
                <a:solidFill>
                  <a:schemeClr val="accent1"/>
                </a:solidFill>
                <a:latin typeface="+mj-lt" pitchFamily="34" charset="0"/>
                <a:ea typeface="+mj-lt" pitchFamily="34" charset="-122"/>
                <a:cs typeface="+mj-lt" pitchFamily="34" charset="-120"/>
              </a:rPr>
              <a:t>Peaktabelle</a:t>
            </a:r>
            <a:endParaRPr lang="en-US" sz="1400" dirty="0"/>
          </a:p>
        </p:txBody>
      </p:sp>
      <p:sp>
        <p:nvSpPr>
          <p:cNvPr id="42" name="text-240"/>
          <p:cNvSpPr txBox="1"/>
          <p:nvPr/>
        </p:nvSpPr>
        <p:spPr>
          <a:xfrm>
            <a:off x="6355080" y="3858768"/>
            <a:ext cx="1325880" cy="502920"/>
          </a:xfrm>
          <a:prstGeom prst="rect">
            <a:avLst/>
          </a:prstGeom>
          <a:noFill/>
          <a:ln/>
        </p:spPr>
        <p:txBody>
          <a:bodyPr wrap="square" lIns="0" tIns="0" rIns="0" bIns="0" rtlCol="0" anchor="t"/>
          <a:lstStyle/>
          <a:p>
            <a:pPr indent="0" marL="0">
              <a:buNone/>
            </a:pPr>
            <a:r>
              <a:rPr lang="en-US" sz="1100" dirty="0">
                <a:solidFill>
                  <a:schemeClr val="accent6"/>
                </a:solidFill>
              </a:rPr>
              <a:t>+ Digest für den Projekt-Abgleich</a:t>
            </a:r>
            <a:endParaRPr lang="en-US" sz="1100" dirty="0"/>
          </a:p>
        </p:txBody>
      </p:sp>
      <p:sp>
        <p:nvSpPr>
          <p:cNvPr id="43" name="text-241"/>
          <p:cNvSpPr txBox="1"/>
          <p:nvPr/>
        </p:nvSpPr>
        <p:spPr>
          <a:xfrm>
            <a:off x="8046720" y="1810512"/>
            <a:ext cx="3596335"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Auto-Parameter</a:t>
            </a:r>
            <a:endParaRPr lang="en-US" sz="1500" dirty="0"/>
          </a:p>
        </p:txBody>
      </p:sp>
      <p:sp>
        <p:nvSpPr>
          <p:cNvPr id="44" name="text-242"/>
          <p:cNvSpPr txBox="1"/>
          <p:nvPr/>
        </p:nvSpPr>
        <p:spPr>
          <a:xfrm>
            <a:off x="8046720" y="2112264"/>
            <a:ext cx="3596335" cy="713232"/>
          </a:xfrm>
          <a:prstGeom prst="rect">
            <a:avLst/>
          </a:prstGeom>
          <a:noFill/>
          <a:ln/>
        </p:spPr>
        <p:txBody>
          <a:bodyPr wrap="square" lIns="0" tIns="0" rIns="0" bIns="0" rtlCol="0" anchor="t"/>
          <a:lstStyle/>
          <a:p>
            <a:pPr indent="0" marL="0">
              <a:buNone/>
            </a:pPr>
            <a:r>
              <a:rPr lang="en-US" sz="1300" dirty="0">
                <a:solidFill>
                  <a:schemeClr val="tx1"/>
                </a:solidFill>
              </a:rPr>
              <a:t>Wie Chromeleon Cobra oder MassHunter Agile2: Rauschen und Peakbreite messen, Schwellen relativ (Steigung 8 × σ).</a:t>
            </a:r>
            <a:endParaRPr lang="en-US" sz="1300" dirty="0"/>
          </a:p>
        </p:txBody>
      </p:sp>
      <p:sp>
        <p:nvSpPr>
          <p:cNvPr id="45" name="text-243"/>
          <p:cNvSpPr txBox="1"/>
          <p:nvPr/>
        </p:nvSpPr>
        <p:spPr>
          <a:xfrm>
            <a:off x="8046720" y="2880360"/>
            <a:ext cx="3596335"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Event-Sourcing</a:t>
            </a:r>
            <a:endParaRPr lang="en-US" sz="1500" dirty="0"/>
          </a:p>
        </p:txBody>
      </p:sp>
      <p:sp>
        <p:nvSpPr>
          <p:cNvPr id="46" name="text-244"/>
          <p:cNvSpPr txBox="1"/>
          <p:nvPr/>
        </p:nvSpPr>
        <p:spPr>
          <a:xfrm>
            <a:off x="8046720" y="3182112"/>
            <a:ext cx="3596335" cy="713232"/>
          </a:xfrm>
          <a:prstGeom prst="rect">
            <a:avLst/>
          </a:prstGeom>
          <a:noFill/>
          <a:ln/>
        </p:spPr>
        <p:txBody>
          <a:bodyPr wrap="square" lIns="0" tIns="0" rIns="0" bIns="0" rtlCol="0" anchor="t"/>
          <a:lstStyle/>
          <a:p>
            <a:pPr indent="0" marL="0">
              <a:buNone/>
            </a:pPr>
            <a:r>
              <a:rPr lang="en-US" sz="1300" dirty="0">
                <a:solidFill>
                  <a:schemeClr val="tx1"/>
                </a:solidFill>
              </a:rPr>
              <a:t>Werkzeuge erzeugen Events; Undo/Redo je Lauf, jede Änderung im Audit-Trail.</a:t>
            </a:r>
            <a:endParaRPr lang="en-US" sz="1300" dirty="0"/>
          </a:p>
        </p:txBody>
      </p:sp>
      <p:sp>
        <p:nvSpPr>
          <p:cNvPr id="47" name="text-245"/>
          <p:cNvSpPr txBox="1"/>
          <p:nvPr/>
        </p:nvSpPr>
        <p:spPr>
          <a:xfrm>
            <a:off x="8046720" y="3950208"/>
            <a:ext cx="3596335"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Projekt ohne Peaks</a:t>
            </a:r>
            <a:endParaRPr lang="en-US" sz="1500" dirty="0"/>
          </a:p>
        </p:txBody>
      </p:sp>
      <p:sp>
        <p:nvSpPr>
          <p:cNvPr id="48" name="text-246"/>
          <p:cNvSpPr txBox="1"/>
          <p:nvPr/>
        </p:nvSpPr>
        <p:spPr>
          <a:xfrm>
            <a:off x="8046720" y="4251960"/>
            <a:ext cx="3596335" cy="713232"/>
          </a:xfrm>
          <a:prstGeom prst="rect">
            <a:avLst/>
          </a:prstGeom>
          <a:noFill/>
          <a:ln/>
        </p:spPr>
        <p:txBody>
          <a:bodyPr wrap="square" lIns="0" tIns="0" rIns="0" bIns="0" rtlCol="0" anchor="t"/>
          <a:lstStyle/>
          <a:p>
            <a:pPr indent="0" marL="0">
              <a:buNone/>
            </a:pPr>
            <a:r>
              <a:rPr lang="en-US" sz="1300" dirty="0">
                <a:solidFill>
                  <a:schemeClr val="tx1"/>
                </a:solidFill>
              </a:rPr>
              <a:t>Gespeichert werden Methoden und Events; beim Öffnen neu integriert, der Digest meldet Abweichungen.</a:t>
            </a:r>
            <a:endParaRPr lang="en-US" sz="1300" dirty="0"/>
          </a:p>
        </p:txBody>
      </p:sp>
      <p:sp>
        <p:nvSpPr>
          <p:cNvPr id="49" name="text-247"/>
          <p:cNvSpPr txBox="1"/>
          <p:nvPr/>
        </p:nvSpPr>
        <p:spPr>
          <a:xfrm>
            <a:off x="8046720" y="5020056"/>
            <a:ext cx="3596335"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Referenz</a:t>
            </a:r>
            <a:endParaRPr lang="en-US" sz="1500" dirty="0"/>
          </a:p>
        </p:txBody>
      </p:sp>
      <p:sp>
        <p:nvSpPr>
          <p:cNvPr id="50" name="text-248"/>
          <p:cNvSpPr txBox="1"/>
          <p:nvPr/>
        </p:nvSpPr>
        <p:spPr>
          <a:xfrm>
            <a:off x="8046720" y="5321808"/>
            <a:ext cx="3596335" cy="713232"/>
          </a:xfrm>
          <a:prstGeom prst="rect">
            <a:avLst/>
          </a:prstGeom>
          <a:noFill/>
          <a:ln/>
        </p:spPr>
        <p:txBody>
          <a:bodyPr wrap="square" lIns="0" tIns="0" rIns="0" bIns="0" rtlCol="0" anchor="t"/>
          <a:lstStyle/>
          <a:p>
            <a:pPr indent="0" marL="0">
              <a:buNone/>
            </a:pPr>
            <a:r>
              <a:rPr lang="en-US" sz="1300" dirty="0">
                <a:solidFill>
                  <a:schemeClr val="tx1"/>
                </a:solidFill>
              </a:rPr>
              <a:t>tools/oracle_report.py vergleicht mit der früheren ChemStation-Integration.</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06 · BLANK-KORREKTUR</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Blank-Korrektur auf Spur- und Peak-Ebene</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Blanks aus dem eigenen Batch-Ordner, zeitlich ausgerichtet; interne Standards werden nie subtrahiert.</a:t>
            </a:r>
            <a:endParaRPr lang="en-US" sz="1600" dirty="0"/>
          </a:p>
        </p:txBody>
      </p:sp>
      <p:sp>
        <p:nvSpPr>
          <p:cNvPr id="5" name="frame-249"/>
          <p:cNvSpPr/>
          <p:nvPr/>
        </p:nvSpPr>
        <p:spPr>
          <a:xfrm>
            <a:off x="502920" y="1783080"/>
            <a:ext cx="5577840" cy="4151376"/>
          </a:xfrm>
          <a:prstGeom prst="roundRect">
            <a:avLst>
              <a:gd name="adj" fmla="val 1101"/>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Schema der Blank-Subtraktion-250" descr="Schema der Blank-Subtraktion">    </p:cNvPr>
          <p:cNvPicPr>
            <a:picLocks noChangeAspect="1"/>
          </p:cNvPicPr>
          <p:nvPr/>
        </p:nvPicPr>
        <p:blipFill>
          <a:blip r:embed="rId1"/>
          <a:stretch>
            <a:fillRect/>
          </a:stretch>
        </p:blipFill>
        <p:spPr>
          <a:xfrm>
            <a:off x="548640" y="1828800"/>
            <a:ext cx="5486400" cy="4059936"/>
          </a:xfrm>
          <a:prstGeom prst="rect">
            <a:avLst/>
          </a:prstGeom>
        </p:spPr>
      </p:pic>
      <p:sp>
        <p:nvSpPr>
          <p:cNvPr id="7" name="badge-251"/>
          <p:cNvSpPr/>
          <p:nvPr/>
        </p:nvSpPr>
        <p:spPr>
          <a:xfrm>
            <a:off x="6537960" y="1874520"/>
            <a:ext cx="457200" cy="457200"/>
          </a:xfrm>
          <a:prstGeom prst="ellipse">
            <a:avLst/>
          </a:prstGeom>
          <a:solidFill>
            <a:schemeClr val="accent1"/>
          </a:solidFill>
          <a:ln/>
        </p:spPr>
      </p:sp>
      <p:pic>
        <p:nvPicPr>
          <p:cNvPr id="8" name="icon-252" descr="Symbol">    </p:cNvPr>
          <p:cNvPicPr>
            <a:picLocks noChangeAspect="1"/>
          </p:cNvPicPr>
          <p:nvPr/>
        </p:nvPicPr>
        <p:blipFill>
          <a:blip r:embed="rId2"/>
          <a:stretch>
            <a:fillRect/>
          </a:stretch>
        </p:blipFill>
        <p:spPr>
          <a:xfrm>
            <a:off x="6638544" y="1975104"/>
            <a:ext cx="256032" cy="256032"/>
          </a:xfrm>
          <a:prstGeom prst="rect">
            <a:avLst/>
          </a:prstGeom>
        </p:spPr>
      </p:pic>
      <p:sp>
        <p:nvSpPr>
          <p:cNvPr id="9" name="text-253"/>
          <p:cNvSpPr txBox="1"/>
          <p:nvPr/>
        </p:nvSpPr>
        <p:spPr>
          <a:xfrm>
            <a:off x="7178040" y="1892808"/>
            <a:ext cx="438912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Spur-Ebene</a:t>
            </a:r>
            <a:endParaRPr lang="en-US" sz="1500" dirty="0"/>
          </a:p>
        </p:txBody>
      </p:sp>
      <p:sp>
        <p:nvSpPr>
          <p:cNvPr id="10" name="text-254"/>
          <p:cNvSpPr txBox="1"/>
          <p:nvPr/>
        </p:nvSpPr>
        <p:spPr>
          <a:xfrm>
            <a:off x="7178040" y="2221992"/>
            <a:ext cx="4465015" cy="1005840"/>
          </a:xfrm>
          <a:prstGeom prst="rect">
            <a:avLst/>
          </a:prstGeom>
          <a:noFill/>
          <a:ln/>
        </p:spPr>
        <p:txBody>
          <a:bodyPr wrap="square" lIns="0" tIns="0" rIns="0" bIns="0" rtlCol="0" anchor="t"/>
          <a:lstStyle/>
          <a:p>
            <a:pPr indent="0" marL="0">
              <a:buNone/>
            </a:pPr>
            <a:r>
              <a:rPr lang="en-US" sz="1300" dirty="0">
                <a:solidFill>
                  <a:schemeClr val="tx1"/>
                </a:solidFill>
              </a:rPr>
              <a:t>Probe − Skala × Blank auf dem Zeitraster der Probe. Modus peaks nimmt die SNIP-Basislinie des Blanks vorher heraus (FID), full entfernt auch Säulenbluten (MS).</a:t>
            </a:r>
            <a:endParaRPr lang="en-US" sz="1300" dirty="0"/>
          </a:p>
        </p:txBody>
      </p:sp>
      <p:sp>
        <p:nvSpPr>
          <p:cNvPr id="11" name="badge-255"/>
          <p:cNvSpPr/>
          <p:nvPr/>
        </p:nvSpPr>
        <p:spPr>
          <a:xfrm>
            <a:off x="6537960" y="3429000"/>
            <a:ext cx="457200" cy="457200"/>
          </a:xfrm>
          <a:prstGeom prst="ellipse">
            <a:avLst/>
          </a:prstGeom>
          <a:solidFill>
            <a:schemeClr val="accent1"/>
          </a:solidFill>
          <a:ln/>
        </p:spPr>
      </p:sp>
      <p:pic>
        <p:nvPicPr>
          <p:cNvPr id="12" name="icon-256" descr="Symbol">    </p:cNvPr>
          <p:cNvPicPr>
            <a:picLocks noChangeAspect="1"/>
          </p:cNvPicPr>
          <p:nvPr/>
        </p:nvPicPr>
        <p:blipFill>
          <a:blip r:embed="rId3"/>
          <a:stretch>
            <a:fillRect/>
          </a:stretch>
        </p:blipFill>
        <p:spPr>
          <a:xfrm>
            <a:off x="6638544" y="3529584"/>
            <a:ext cx="256032" cy="256032"/>
          </a:xfrm>
          <a:prstGeom prst="rect">
            <a:avLst/>
          </a:prstGeom>
        </p:spPr>
      </p:pic>
      <p:sp>
        <p:nvSpPr>
          <p:cNvPr id="13" name="text-257"/>
          <p:cNvSpPr txBox="1"/>
          <p:nvPr/>
        </p:nvSpPr>
        <p:spPr>
          <a:xfrm>
            <a:off x="7178040" y="3447288"/>
            <a:ext cx="438912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Peak-Ebene</a:t>
            </a:r>
            <a:endParaRPr lang="en-US" sz="1500" dirty="0"/>
          </a:p>
        </p:txBody>
      </p:sp>
      <p:sp>
        <p:nvSpPr>
          <p:cNvPr id="14" name="text-258"/>
          <p:cNvSpPr txBox="1"/>
          <p:nvPr/>
        </p:nvSpPr>
        <p:spPr>
          <a:xfrm>
            <a:off x="7178040" y="3776472"/>
            <a:ext cx="4465015" cy="1005840"/>
          </a:xfrm>
          <a:prstGeom prst="rect">
            <a:avLst/>
          </a:prstGeom>
          <a:noFill/>
          <a:ln/>
        </p:spPr>
        <p:txBody>
          <a:bodyPr wrap="square" lIns="0" tIns="0" rIns="0" bIns="0" rtlCol="0" anchor="t"/>
          <a:lstStyle/>
          <a:p>
            <a:pPr indent="0" marL="0">
              <a:buNone/>
            </a:pPr>
            <a:r>
              <a:rPr lang="en-US" sz="1300" dirty="0">
                <a:solidFill>
                  <a:schemeClr val="tx1"/>
                </a:solidFill>
              </a:rPr>
              <a:t>1:1-Pairing mit den Blank-Peaks, mit MS zusätzlich über Spektren: Blank-Niveau, teilweise oder auch im Blank.</a:t>
            </a:r>
            <a:endParaRPr lang="en-US" sz="1300" dirty="0"/>
          </a:p>
        </p:txBody>
      </p:sp>
      <p:sp>
        <p:nvSpPr>
          <p:cNvPr id="15" name="badge-259"/>
          <p:cNvSpPr/>
          <p:nvPr/>
        </p:nvSpPr>
        <p:spPr>
          <a:xfrm>
            <a:off x="6537960" y="4663440"/>
            <a:ext cx="457200" cy="457200"/>
          </a:xfrm>
          <a:prstGeom prst="ellipse">
            <a:avLst/>
          </a:prstGeom>
          <a:solidFill>
            <a:schemeClr val="accent1"/>
          </a:solidFill>
          <a:ln/>
        </p:spPr>
      </p:sp>
      <p:pic>
        <p:nvPicPr>
          <p:cNvPr id="16" name="icon-260" descr="Symbol">    </p:cNvPr>
          <p:cNvPicPr>
            <a:picLocks noChangeAspect="1"/>
          </p:cNvPicPr>
          <p:nvPr/>
        </p:nvPicPr>
        <p:blipFill>
          <a:blip r:embed="rId4"/>
          <a:stretch>
            <a:fillRect/>
          </a:stretch>
        </p:blipFill>
        <p:spPr>
          <a:xfrm>
            <a:off x="6638544" y="4764024"/>
            <a:ext cx="256032" cy="256032"/>
          </a:xfrm>
          <a:prstGeom prst="rect">
            <a:avLst/>
          </a:prstGeom>
        </p:spPr>
      </p:pic>
      <p:sp>
        <p:nvSpPr>
          <p:cNvPr id="17" name="text-261"/>
          <p:cNvSpPr txBox="1"/>
          <p:nvPr/>
        </p:nvSpPr>
        <p:spPr>
          <a:xfrm>
            <a:off x="7178040" y="4681728"/>
            <a:ext cx="438912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Zuordnung</a:t>
            </a:r>
            <a:endParaRPr lang="en-US" sz="1500" dirty="0"/>
          </a:p>
        </p:txBody>
      </p:sp>
      <p:sp>
        <p:nvSpPr>
          <p:cNvPr id="18" name="text-262"/>
          <p:cNvSpPr txBox="1"/>
          <p:nvPr/>
        </p:nvSpPr>
        <p:spPr>
          <a:xfrm>
            <a:off x="7178040" y="5010912"/>
            <a:ext cx="4465015" cy="1005840"/>
          </a:xfrm>
          <a:prstGeom prst="rect">
            <a:avLst/>
          </a:prstGeom>
          <a:noFill/>
          <a:ln/>
        </p:spPr>
        <p:txBody>
          <a:bodyPr wrap="square" lIns="0" tIns="0" rIns="0" bIns="0" rtlCol="0" anchor="t"/>
          <a:lstStyle/>
          <a:p>
            <a:pPr indent="0" marL="0">
              <a:buNone/>
            </a:pPr>
            <a:r>
              <a:rPr lang="en-US" sz="1300" dirty="0">
                <a:solidFill>
                  <a:schemeClr val="tx1"/>
                </a:solidFill>
              </a:rPr>
              <a:t>Vorschlag aus dem Sequence-Log des eigenen Batch-Ordners. Ohne Batch-Blank verarbeitet die Automation die Probe nicht.</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07 · BIBLIOTHEKSSUCHE</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Suche in den eigenen Bibliotheken</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Eingebaute SpectrAtlas-Engine: PBM wie ChemStation oder NIST-Similarity, jeweils vorwärts und rückwärts.</a:t>
            </a:r>
            <a:endParaRPr lang="en-US" sz="1600" dirty="0"/>
          </a:p>
        </p:txBody>
      </p:sp>
      <p:sp>
        <p:nvSpPr>
          <p:cNvPr id="5" name="frame-263"/>
          <p:cNvSpPr/>
          <p:nvPr/>
        </p:nvSpPr>
        <p:spPr>
          <a:xfrm>
            <a:off x="502920" y="1783080"/>
            <a:ext cx="6858000" cy="2608226"/>
          </a:xfrm>
          <a:prstGeom prst="roundRect">
            <a:avLst>
              <a:gd name="adj" fmla="val 1753"/>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Massenspektrum mit Bibliothekstreffern-264" descr="Massenspektrum mit Bibliothekstreffern">    </p:cNvPr>
          <p:cNvPicPr>
            <a:picLocks noChangeAspect="1"/>
          </p:cNvPicPr>
          <p:nvPr/>
        </p:nvPicPr>
        <p:blipFill>
          <a:blip r:embed="rId1"/>
          <a:stretch>
            <a:fillRect/>
          </a:stretch>
        </p:blipFill>
        <p:spPr>
          <a:xfrm>
            <a:off x="548640" y="1828800"/>
            <a:ext cx="6766560" cy="2516786"/>
          </a:xfrm>
          <a:prstGeom prst="rect">
            <a:avLst/>
          </a:prstGeom>
        </p:spPr>
      </p:pic>
      <p:sp>
        <p:nvSpPr>
          <p:cNvPr id="7" name="text-265"/>
          <p:cNvSpPr txBox="1"/>
          <p:nvPr/>
        </p:nvSpPr>
        <p:spPr>
          <a:xfrm>
            <a:off x="548640" y="4437026"/>
            <a:ext cx="6766560" cy="274320"/>
          </a:xfrm>
          <a:prstGeom prst="rect">
            <a:avLst/>
          </a:prstGeom>
          <a:noFill/>
          <a:ln/>
        </p:spPr>
        <p:txBody>
          <a:bodyPr wrap="square" lIns="0" tIns="0" rIns="0" bIns="0" rtlCol="0" anchor="t"/>
          <a:lstStyle/>
          <a:p>
            <a:pPr indent="0" marL="0">
              <a:buNone/>
            </a:pPr>
            <a:r>
              <a:rPr lang="en-US" sz="1100" i="1" dirty="0">
                <a:solidFill>
                  <a:schemeClr val="accent6"/>
                </a:solidFill>
              </a:rPr>
              <a:t>Peak 16,222 min: Irganox-1076/1010-Abbauprodukt, Score 92 (Fwd 100,0 / Rev 88,1)</a:t>
            </a:r>
            <a:endParaRPr lang="en-US" sz="1100" dirty="0"/>
          </a:p>
        </p:txBody>
      </p:sp>
      <p:sp>
        <p:nvSpPr>
          <p:cNvPr id="8" name="card-266"/>
          <p:cNvSpPr/>
          <p:nvPr/>
        </p:nvSpPr>
        <p:spPr>
          <a:xfrm>
            <a:off x="548640" y="4800600"/>
            <a:ext cx="3154680" cy="1298448"/>
          </a:xfrm>
          <a:prstGeom prst="roundRect">
            <a:avLst>
              <a:gd name="adj" fmla="val 5634"/>
            </a:avLst>
          </a:prstGeom>
          <a:solidFill>
            <a:schemeClr val="bg2"/>
          </a:solidFill>
          <a:ln/>
        </p:spPr>
      </p:sp>
      <p:sp>
        <p:nvSpPr>
          <p:cNvPr id="9" name="text-267"/>
          <p:cNvSpPr txBox="1"/>
          <p:nvPr/>
        </p:nvSpPr>
        <p:spPr>
          <a:xfrm>
            <a:off x="713232" y="4910328"/>
            <a:ext cx="2825496" cy="274320"/>
          </a:xfrm>
          <a:prstGeom prst="rect">
            <a:avLst/>
          </a:prstGeom>
          <a:noFill/>
          <a:ln/>
        </p:spPr>
        <p:txBody>
          <a:bodyPr wrap="square" lIns="0" tIns="0" rIns="0" bIns="0" rtlCol="0" anchor="t"/>
          <a:lstStyle/>
          <a:p>
            <a:pPr indent="0" marL="0">
              <a:buNone/>
            </a:pPr>
            <a:r>
              <a:rPr lang="en-US" sz="1400" b="1" dirty="0">
                <a:solidFill>
                  <a:schemeClr val="tx2"/>
                </a:solidFill>
                <a:latin typeface="+mj-lt" pitchFamily="34" charset="0"/>
                <a:ea typeface="+mj-lt" pitchFamily="34" charset="-122"/>
                <a:cs typeface="+mj-lt" pitchFamily="34" charset="-120"/>
              </a:rPr>
              <a:t>1 · Vorfilter</a:t>
            </a:r>
            <a:endParaRPr lang="en-US" sz="1400" dirty="0"/>
          </a:p>
        </p:txBody>
      </p:sp>
      <p:sp>
        <p:nvSpPr>
          <p:cNvPr id="10" name="text-268"/>
          <p:cNvSpPr txBox="1"/>
          <p:nvPr/>
        </p:nvSpPr>
        <p:spPr>
          <a:xfrm>
            <a:off x="713232" y="5212080"/>
            <a:ext cx="2880360" cy="822960"/>
          </a:xfrm>
          <a:prstGeom prst="rect">
            <a:avLst/>
          </a:prstGeom>
          <a:noFill/>
          <a:ln/>
        </p:spPr>
        <p:txBody>
          <a:bodyPr wrap="square" lIns="0" tIns="0" rIns="0" bIns="0" rtlCol="0" anchor="t"/>
          <a:lstStyle/>
          <a:p>
            <a:pPr indent="0" marL="0">
              <a:buNone/>
            </a:pPr>
            <a:r>
              <a:rPr lang="en-US" sz="1200" dirty="0">
                <a:solidFill>
                  <a:schemeClr val="tx1"/>
                </a:solidFill>
              </a:rPr>
              <a:t>gewichteter Kosinus I·(m/100)² über einen invertierten Index gegen alle Spektren – je Richtung die 300 besten</a:t>
            </a:r>
            <a:endParaRPr lang="en-US" sz="1200" dirty="0"/>
          </a:p>
        </p:txBody>
      </p:sp>
      <p:sp>
        <p:nvSpPr>
          <p:cNvPr id="11" name="card-269"/>
          <p:cNvSpPr/>
          <p:nvPr/>
        </p:nvSpPr>
        <p:spPr>
          <a:xfrm>
            <a:off x="4160520" y="4800600"/>
            <a:ext cx="3154680" cy="1298448"/>
          </a:xfrm>
          <a:prstGeom prst="roundRect">
            <a:avLst>
              <a:gd name="adj" fmla="val 5634"/>
            </a:avLst>
          </a:prstGeom>
          <a:solidFill>
            <a:schemeClr val="bg2"/>
          </a:solidFill>
          <a:ln/>
        </p:spPr>
      </p:sp>
      <p:sp>
        <p:nvSpPr>
          <p:cNvPr id="12" name="text-270"/>
          <p:cNvSpPr txBox="1"/>
          <p:nvPr/>
        </p:nvSpPr>
        <p:spPr>
          <a:xfrm>
            <a:off x="4325112" y="4910328"/>
            <a:ext cx="2825496" cy="274320"/>
          </a:xfrm>
          <a:prstGeom prst="rect">
            <a:avLst/>
          </a:prstGeom>
          <a:noFill/>
          <a:ln/>
        </p:spPr>
        <p:txBody>
          <a:bodyPr wrap="square" lIns="0" tIns="0" rIns="0" bIns="0" rtlCol="0" anchor="t"/>
          <a:lstStyle/>
          <a:p>
            <a:pPr indent="0" marL="0">
              <a:buNone/>
            </a:pPr>
            <a:r>
              <a:rPr lang="en-US" sz="1400" b="1" dirty="0">
                <a:solidFill>
                  <a:schemeClr val="tx2"/>
                </a:solidFill>
                <a:latin typeface="+mj-lt" pitchFamily="34" charset="0"/>
                <a:ea typeface="+mj-lt" pitchFamily="34" charset="-122"/>
                <a:cs typeface="+mj-lt" pitchFamily="34" charset="-120"/>
              </a:rPr>
              <a:t>2 · Exaktes Scoring</a:t>
            </a:r>
            <a:endParaRPr lang="en-US" sz="1400" dirty="0"/>
          </a:p>
        </p:txBody>
      </p:sp>
      <p:sp>
        <p:nvSpPr>
          <p:cNvPr id="13" name="text-271"/>
          <p:cNvSpPr txBox="1"/>
          <p:nvPr/>
        </p:nvSpPr>
        <p:spPr>
          <a:xfrm>
            <a:off x="4325112" y="5212080"/>
            <a:ext cx="2880360" cy="822960"/>
          </a:xfrm>
          <a:prstGeom prst="rect">
            <a:avLst/>
          </a:prstGeom>
          <a:noFill/>
          <a:ln/>
        </p:spPr>
        <p:txBody>
          <a:bodyPr wrap="square" lIns="0" tIns="0" rIns="0" bIns="0" rtlCol="0" anchor="t"/>
          <a:lstStyle/>
          <a:p>
            <a:pPr indent="0" marL="0">
              <a:buNone/>
            </a:pPr>
            <a:r>
              <a:rPr lang="en-US" sz="1200" dirty="0">
                <a:solidFill>
                  <a:schemeClr val="tx1"/>
                </a:solidFill>
              </a:rPr>
              <a:t>höchstens 600 Kandidaten mit PBM oder NIST-Similarity bewertet, Trefferliste nach Score</a:t>
            </a:r>
            <a:endParaRPr lang="en-US" sz="1200" dirty="0"/>
          </a:p>
        </p:txBody>
      </p:sp>
      <p:sp>
        <p:nvSpPr>
          <p:cNvPr id="14" name="arrow-272"/>
          <p:cNvSpPr/>
          <p:nvPr/>
        </p:nvSpPr>
        <p:spPr>
          <a:xfrm>
            <a:off x="3767328" y="5449824"/>
            <a:ext cx="329184" cy="91"/>
          </a:xfrm>
          <a:prstGeom prst="line">
            <a:avLst/>
          </a:prstGeom>
          <a:noFill/>
          <a:ln w="25400">
            <a:solidFill>
              <a:schemeClr val="accent1"/>
            </a:solidFill>
            <a:prstDash val="solid"/>
            <a:tailEnd type="triangle"/>
          </a:ln>
        </p:spPr>
      </p:sp>
      <p:sp>
        <p:nvSpPr>
          <p:cNvPr id="15" name="badge-273"/>
          <p:cNvSpPr/>
          <p:nvPr/>
        </p:nvSpPr>
        <p:spPr>
          <a:xfrm>
            <a:off x="7772400" y="1828800"/>
            <a:ext cx="329184" cy="329184"/>
          </a:xfrm>
          <a:prstGeom prst="ellipse">
            <a:avLst/>
          </a:prstGeom>
          <a:solidFill>
            <a:schemeClr val="accent1"/>
          </a:solidFill>
          <a:ln/>
        </p:spPr>
      </p:sp>
      <p:pic>
        <p:nvPicPr>
          <p:cNvPr id="16" name="icon-274" descr="Symbol">    </p:cNvPr>
          <p:cNvPicPr>
            <a:picLocks noChangeAspect="1"/>
          </p:cNvPicPr>
          <p:nvPr/>
        </p:nvPicPr>
        <p:blipFill>
          <a:blip r:embed="rId2"/>
          <a:stretch>
            <a:fillRect/>
          </a:stretch>
        </p:blipFill>
        <p:spPr>
          <a:xfrm>
            <a:off x="7844820" y="1901220"/>
            <a:ext cx="184343" cy="184343"/>
          </a:xfrm>
          <a:prstGeom prst="rect">
            <a:avLst/>
          </a:prstGeom>
        </p:spPr>
      </p:pic>
      <p:sp>
        <p:nvSpPr>
          <p:cNvPr id="17" name="text-275"/>
          <p:cNvSpPr txBox="1"/>
          <p:nvPr/>
        </p:nvSpPr>
        <p:spPr>
          <a:xfrm>
            <a:off x="8229600" y="1810512"/>
            <a:ext cx="3413455" cy="274320"/>
          </a:xfrm>
          <a:prstGeom prst="rect">
            <a:avLst/>
          </a:prstGeom>
          <a:noFill/>
          <a:ln/>
        </p:spPr>
        <p:txBody>
          <a:bodyPr wrap="square" lIns="0" tIns="0" rIns="0" bIns="0" rtlCol="0" anchor="t"/>
          <a:lstStyle/>
          <a:p>
            <a:pPr indent="0" marL="0">
              <a:buNone/>
            </a:pPr>
            <a:r>
              <a:rPr lang="en-US" sz="1400" b="1" dirty="0">
                <a:solidFill>
                  <a:schemeClr val="tx1"/>
                </a:solidFill>
              </a:rPr>
              <a:t>Alle gängigen Formate</a:t>
            </a:r>
            <a:endParaRPr lang="en-US" sz="1400" dirty="0"/>
          </a:p>
        </p:txBody>
      </p:sp>
      <p:sp>
        <p:nvSpPr>
          <p:cNvPr id="18" name="text-276"/>
          <p:cNvSpPr txBox="1"/>
          <p:nvPr/>
        </p:nvSpPr>
        <p:spPr>
          <a:xfrm>
            <a:off x="8229600" y="2103120"/>
            <a:ext cx="3413455" cy="685800"/>
          </a:xfrm>
          <a:prstGeom prst="rect">
            <a:avLst/>
          </a:prstGeom>
          <a:noFill/>
          <a:ln/>
        </p:spPr>
        <p:txBody>
          <a:bodyPr wrap="square" lIns="0" tIns="0" rIns="0" bIns="0" rtlCol="0" anchor="t"/>
          <a:lstStyle/>
          <a:p>
            <a:pPr indent="0" marL="0">
              <a:buNone/>
            </a:pPr>
            <a:r>
              <a:rPr lang="en-US" sz="1300" dirty="0">
                <a:solidFill>
                  <a:schemeClr val="accent6"/>
                </a:solidFill>
              </a:rPr>
              <a:t>.msp, Wiley/Shimadzu .lib, Agilent .L, NIST-Ordner</a:t>
            </a:r>
            <a:endParaRPr lang="en-US" sz="1300" dirty="0"/>
          </a:p>
        </p:txBody>
      </p:sp>
      <p:sp>
        <p:nvSpPr>
          <p:cNvPr id="19" name="badge-277"/>
          <p:cNvSpPr/>
          <p:nvPr/>
        </p:nvSpPr>
        <p:spPr>
          <a:xfrm>
            <a:off x="7772400" y="2907792"/>
            <a:ext cx="329184" cy="329184"/>
          </a:xfrm>
          <a:prstGeom prst="ellipse">
            <a:avLst/>
          </a:prstGeom>
          <a:solidFill>
            <a:schemeClr val="accent1"/>
          </a:solidFill>
          <a:ln/>
        </p:spPr>
      </p:sp>
      <p:pic>
        <p:nvPicPr>
          <p:cNvPr id="20" name="icon-278" descr="Symbol">    </p:cNvPr>
          <p:cNvPicPr>
            <a:picLocks noChangeAspect="1"/>
          </p:cNvPicPr>
          <p:nvPr/>
        </p:nvPicPr>
        <p:blipFill>
          <a:blip r:embed="rId3"/>
          <a:stretch>
            <a:fillRect/>
          </a:stretch>
        </p:blipFill>
        <p:spPr>
          <a:xfrm>
            <a:off x="7844820" y="2980212"/>
            <a:ext cx="184343" cy="184343"/>
          </a:xfrm>
          <a:prstGeom prst="rect">
            <a:avLst/>
          </a:prstGeom>
        </p:spPr>
      </p:pic>
      <p:sp>
        <p:nvSpPr>
          <p:cNvPr id="21" name="text-279"/>
          <p:cNvSpPr txBox="1"/>
          <p:nvPr/>
        </p:nvSpPr>
        <p:spPr>
          <a:xfrm>
            <a:off x="8229600" y="2889504"/>
            <a:ext cx="3413455" cy="274320"/>
          </a:xfrm>
          <a:prstGeom prst="rect">
            <a:avLst/>
          </a:prstGeom>
          <a:noFill/>
          <a:ln/>
        </p:spPr>
        <p:txBody>
          <a:bodyPr wrap="square" lIns="0" tIns="0" rIns="0" bIns="0" rtlCol="0" anchor="t"/>
          <a:lstStyle/>
          <a:p>
            <a:pPr indent="0" marL="0">
              <a:buNone/>
            </a:pPr>
            <a:r>
              <a:rPr lang="en-US" sz="1400" b="1" dirty="0">
                <a:solidFill>
                  <a:schemeClr val="tx1"/>
                </a:solidFill>
              </a:rPr>
              <a:t>Persistenter Index</a:t>
            </a:r>
            <a:endParaRPr lang="en-US" sz="1400" dirty="0"/>
          </a:p>
        </p:txBody>
      </p:sp>
      <p:sp>
        <p:nvSpPr>
          <p:cNvPr id="22" name="text-280"/>
          <p:cNvSpPr txBox="1"/>
          <p:nvPr/>
        </p:nvSpPr>
        <p:spPr>
          <a:xfrm>
            <a:off x="8229600" y="3182112"/>
            <a:ext cx="3413455" cy="685800"/>
          </a:xfrm>
          <a:prstGeom prst="rect">
            <a:avLst/>
          </a:prstGeom>
          <a:noFill/>
          <a:ln/>
        </p:spPr>
        <p:txBody>
          <a:bodyPr wrap="square" lIns="0" tIns="0" rIns="0" bIns="0" rtlCol="0" anchor="t"/>
          <a:lstStyle/>
          <a:p>
            <a:pPr indent="0" marL="0">
              <a:buNone/>
            </a:pPr>
            <a:r>
              <a:rPr lang="en-US" sz="1300" dirty="0">
                <a:solidFill>
                  <a:schemeClr val="accent6"/>
                </a:solidFill>
              </a:rPr>
              <a:t>NIST17.L: 35 s beim ersten Mal, danach unter einer Sekunde</a:t>
            </a:r>
            <a:endParaRPr lang="en-US" sz="1300" dirty="0"/>
          </a:p>
        </p:txBody>
      </p:sp>
      <p:sp>
        <p:nvSpPr>
          <p:cNvPr id="23" name="badge-281"/>
          <p:cNvSpPr/>
          <p:nvPr/>
        </p:nvSpPr>
        <p:spPr>
          <a:xfrm>
            <a:off x="7772400" y="3986784"/>
            <a:ext cx="329184" cy="329184"/>
          </a:xfrm>
          <a:prstGeom prst="ellipse">
            <a:avLst/>
          </a:prstGeom>
          <a:solidFill>
            <a:schemeClr val="accent1"/>
          </a:solidFill>
          <a:ln/>
        </p:spPr>
      </p:sp>
      <p:pic>
        <p:nvPicPr>
          <p:cNvPr id="24" name="icon-282" descr="Symbol">    </p:cNvPr>
          <p:cNvPicPr>
            <a:picLocks noChangeAspect="1"/>
          </p:cNvPicPr>
          <p:nvPr/>
        </p:nvPicPr>
        <p:blipFill>
          <a:blip r:embed="rId4"/>
          <a:stretch>
            <a:fillRect/>
          </a:stretch>
        </p:blipFill>
        <p:spPr>
          <a:xfrm>
            <a:off x="7844820" y="4059204"/>
            <a:ext cx="184343" cy="184343"/>
          </a:xfrm>
          <a:prstGeom prst="rect">
            <a:avLst/>
          </a:prstGeom>
        </p:spPr>
      </p:pic>
      <p:sp>
        <p:nvSpPr>
          <p:cNvPr id="25" name="text-283"/>
          <p:cNvSpPr txBox="1"/>
          <p:nvPr/>
        </p:nvSpPr>
        <p:spPr>
          <a:xfrm>
            <a:off x="8229600" y="3968496"/>
            <a:ext cx="3413455" cy="274320"/>
          </a:xfrm>
          <a:prstGeom prst="rect">
            <a:avLst/>
          </a:prstGeom>
          <a:noFill/>
          <a:ln/>
        </p:spPr>
        <p:txBody>
          <a:bodyPr wrap="square" lIns="0" tIns="0" rIns="0" bIns="0" rtlCol="0" anchor="t"/>
          <a:lstStyle/>
          <a:p>
            <a:pPr indent="0" marL="0">
              <a:buNone/>
            </a:pPr>
            <a:r>
              <a:rPr lang="en-US" sz="1400" b="1" dirty="0">
                <a:solidFill>
                  <a:schemeClr val="tx1"/>
                </a:solidFill>
              </a:rPr>
              <a:t>Sequenziell oder kombiniert</a:t>
            </a:r>
            <a:endParaRPr lang="en-US" sz="1400" dirty="0"/>
          </a:p>
        </p:txBody>
      </p:sp>
      <p:sp>
        <p:nvSpPr>
          <p:cNvPr id="26" name="text-284"/>
          <p:cNvSpPr txBox="1"/>
          <p:nvPr/>
        </p:nvSpPr>
        <p:spPr>
          <a:xfrm>
            <a:off x="8229600" y="4261104"/>
            <a:ext cx="3413455" cy="685800"/>
          </a:xfrm>
          <a:prstGeom prst="rect">
            <a:avLst/>
          </a:prstGeom>
          <a:noFill/>
          <a:ln/>
        </p:spPr>
        <p:txBody>
          <a:bodyPr wrap="square" lIns="0" tIns="0" rIns="0" bIns="0" rtlCol="0" anchor="t"/>
          <a:lstStyle/>
          <a:p>
            <a:pPr indent="0" marL="0">
              <a:buNone/>
            </a:pPr>
            <a:r>
              <a:rPr lang="en-US" sz="1300" dirty="0">
                <a:solidFill>
                  <a:schemeClr val="accent6"/>
                </a:solidFill>
              </a:rPr>
              <a:t>Stopp-Score 0–99, Reihenfolge per Drag &amp; Drop</a:t>
            </a:r>
            <a:endParaRPr lang="en-US" sz="1300" dirty="0"/>
          </a:p>
        </p:txBody>
      </p:sp>
      <p:sp>
        <p:nvSpPr>
          <p:cNvPr id="27" name="badge-285"/>
          <p:cNvSpPr/>
          <p:nvPr/>
        </p:nvSpPr>
        <p:spPr>
          <a:xfrm>
            <a:off x="7772400" y="5065776"/>
            <a:ext cx="329184" cy="329184"/>
          </a:xfrm>
          <a:prstGeom prst="ellipse">
            <a:avLst/>
          </a:prstGeom>
          <a:solidFill>
            <a:schemeClr val="accent1"/>
          </a:solidFill>
          <a:ln/>
        </p:spPr>
      </p:sp>
      <p:pic>
        <p:nvPicPr>
          <p:cNvPr id="28" name="icon-286" descr="Symbol">    </p:cNvPr>
          <p:cNvPicPr>
            <a:picLocks noChangeAspect="1"/>
          </p:cNvPicPr>
          <p:nvPr/>
        </p:nvPicPr>
        <p:blipFill>
          <a:blip r:embed="rId5"/>
          <a:stretch>
            <a:fillRect/>
          </a:stretch>
        </p:blipFill>
        <p:spPr>
          <a:xfrm>
            <a:off x="7844820" y="5138196"/>
            <a:ext cx="184343" cy="184343"/>
          </a:xfrm>
          <a:prstGeom prst="rect">
            <a:avLst/>
          </a:prstGeom>
        </p:spPr>
      </p:pic>
      <p:sp>
        <p:nvSpPr>
          <p:cNvPr id="29" name="text-287"/>
          <p:cNvSpPr txBox="1"/>
          <p:nvPr/>
        </p:nvSpPr>
        <p:spPr>
          <a:xfrm>
            <a:off x="8229600" y="5047488"/>
            <a:ext cx="3413455" cy="274320"/>
          </a:xfrm>
          <a:prstGeom prst="rect">
            <a:avLst/>
          </a:prstGeom>
          <a:noFill/>
          <a:ln/>
        </p:spPr>
        <p:txBody>
          <a:bodyPr wrap="square" lIns="0" tIns="0" rIns="0" bIns="0" rtlCol="0" anchor="t"/>
          <a:lstStyle/>
          <a:p>
            <a:pPr indent="0" marL="0">
              <a:buNone/>
            </a:pPr>
            <a:r>
              <a:rPr lang="en-US" sz="1400" b="1" dirty="0">
                <a:solidFill>
                  <a:schemeClr val="tx1"/>
                </a:solidFill>
              </a:rPr>
              <a:t>TIC benennt FID</a:t>
            </a:r>
            <a:endParaRPr lang="en-US" sz="1400" dirty="0"/>
          </a:p>
        </p:txBody>
      </p:sp>
      <p:sp>
        <p:nvSpPr>
          <p:cNvPr id="30" name="text-288"/>
          <p:cNvSpPr txBox="1"/>
          <p:nvPr/>
        </p:nvSpPr>
        <p:spPr>
          <a:xfrm>
            <a:off x="8229600" y="5340096"/>
            <a:ext cx="3413455" cy="685800"/>
          </a:xfrm>
          <a:prstGeom prst="rect">
            <a:avLst/>
          </a:prstGeom>
          <a:noFill/>
          <a:ln/>
        </p:spPr>
        <p:txBody>
          <a:bodyPr wrap="square" lIns="0" tIns="0" rIns="0" bIns="0" rtlCol="0" anchor="t"/>
          <a:lstStyle/>
          <a:p>
            <a:pPr indent="0" marL="0">
              <a:buNone/>
            </a:pPr>
            <a:r>
              <a:rPr lang="en-US" sz="1300" dirty="0">
                <a:solidFill>
                  <a:schemeClr val="accent6"/>
                </a:solidFill>
              </a:rPr>
              <a:t>Treffer gehen an den FID-Peak gleicher Zeit (±0,03 min)</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08 · FAST SEARCH</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8,3× schneller – mit bitgleichen Treffern</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Alle Peaks in einem Durchgang durch die Bibliothek, abgesichert durch eine bewiesene Fehlerschranke.</a:t>
            </a:r>
            <a:endParaRPr lang="en-US" sz="1600" dirty="0"/>
          </a:p>
        </p:txBody>
      </p:sp>
      <p:sp>
        <p:nvSpPr>
          <p:cNvPr id="5" name="frame-289"/>
          <p:cNvSpPr/>
          <p:nvPr/>
        </p:nvSpPr>
        <p:spPr>
          <a:xfrm>
            <a:off x="929488" y="1764792"/>
            <a:ext cx="10332720" cy="2859354"/>
          </a:xfrm>
          <a:prstGeom prst="roundRect">
            <a:avLst>
              <a:gd name="adj" fmla="val 1599"/>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Schema: Block-Screening und laufende Schwelle-290" descr="Schema: Block-Screening und laufende Schwelle">    </p:cNvPr>
          <p:cNvPicPr>
            <a:picLocks noChangeAspect="1"/>
          </p:cNvPicPr>
          <p:nvPr/>
        </p:nvPicPr>
        <p:blipFill>
          <a:blip r:embed="rId1"/>
          <a:stretch>
            <a:fillRect/>
          </a:stretch>
        </p:blipFill>
        <p:spPr>
          <a:xfrm>
            <a:off x="975208" y="1810512"/>
            <a:ext cx="10241280" cy="2767914"/>
          </a:xfrm>
          <a:prstGeom prst="rect">
            <a:avLst/>
          </a:prstGeom>
        </p:spPr>
      </p:pic>
      <p:sp>
        <p:nvSpPr>
          <p:cNvPr id="7" name="card-291"/>
          <p:cNvSpPr/>
          <p:nvPr/>
        </p:nvSpPr>
        <p:spPr>
          <a:xfrm>
            <a:off x="548640" y="4852746"/>
            <a:ext cx="2606040" cy="1346886"/>
          </a:xfrm>
          <a:prstGeom prst="roundRect">
            <a:avLst>
              <a:gd name="adj" fmla="val 5431"/>
            </a:avLst>
          </a:prstGeom>
          <a:solidFill>
            <a:schemeClr val="bg2"/>
          </a:solidFill>
          <a:ln/>
        </p:spPr>
      </p:sp>
      <p:sp>
        <p:nvSpPr>
          <p:cNvPr id="8" name="text-292"/>
          <p:cNvSpPr txBox="1"/>
          <p:nvPr/>
        </p:nvSpPr>
        <p:spPr>
          <a:xfrm>
            <a:off x="731520" y="4971618"/>
            <a:ext cx="2240280" cy="274320"/>
          </a:xfrm>
          <a:prstGeom prst="rect">
            <a:avLst/>
          </a:prstGeom>
          <a:noFill/>
          <a:ln/>
        </p:spPr>
        <p:txBody>
          <a:bodyPr wrap="square" lIns="0" tIns="0" rIns="0" bIns="0" rtlCol="0" anchor="t"/>
          <a:lstStyle/>
          <a:p>
            <a:pPr indent="0" marL="0">
              <a:buNone/>
            </a:pPr>
            <a:r>
              <a:rPr lang="en-US" sz="1400" b="1" dirty="0">
                <a:solidFill>
                  <a:schemeClr val="tx2"/>
                </a:solidFill>
                <a:latin typeface="+mj-lt" pitchFamily="34" charset="0"/>
                <a:ea typeface="+mj-lt" pitchFamily="34" charset="-122"/>
                <a:cs typeface="+mj-lt" pitchFamily="34" charset="-120"/>
              </a:rPr>
              <a:t>Sichere Schranke</a:t>
            </a:r>
            <a:endParaRPr lang="en-US" sz="1400" dirty="0"/>
          </a:p>
        </p:txBody>
      </p:sp>
      <p:sp>
        <p:nvSpPr>
          <p:cNvPr id="9" name="text-293"/>
          <p:cNvSpPr txBox="1"/>
          <p:nvPr/>
        </p:nvSpPr>
        <p:spPr>
          <a:xfrm>
            <a:off x="731520" y="5264226"/>
            <a:ext cx="2286000" cy="889686"/>
          </a:xfrm>
          <a:prstGeom prst="rect">
            <a:avLst/>
          </a:prstGeom>
          <a:noFill/>
          <a:ln/>
        </p:spPr>
        <p:txBody>
          <a:bodyPr wrap="square" lIns="0" tIns="0" rIns="0" bIns="0" rtlCol="0" anchor="t"/>
          <a:lstStyle/>
          <a:p>
            <a:pPr indent="0" marL="0">
              <a:buNone/>
            </a:pPr>
            <a:r>
              <a:rPr lang="en-US" sz="1200" dirty="0">
                <a:solidFill>
                  <a:schemeClr val="tx1"/>
                </a:solidFill>
              </a:rPr>
              <a:t>Rundungsfehler der float32-Produkte ist begrenzt (δ); verworfen wird nur, was mehr als 2δ unter der Schwelle liegt.</a:t>
            </a:r>
            <a:endParaRPr lang="en-US" sz="1200" dirty="0"/>
          </a:p>
        </p:txBody>
      </p:sp>
      <p:sp>
        <p:nvSpPr>
          <p:cNvPr id="10" name="card-294"/>
          <p:cNvSpPr/>
          <p:nvPr/>
        </p:nvSpPr>
        <p:spPr>
          <a:xfrm>
            <a:off x="3383280" y="4852746"/>
            <a:ext cx="2606040" cy="1346886"/>
          </a:xfrm>
          <a:prstGeom prst="roundRect">
            <a:avLst>
              <a:gd name="adj" fmla="val 5431"/>
            </a:avLst>
          </a:prstGeom>
          <a:solidFill>
            <a:schemeClr val="bg2"/>
          </a:solidFill>
          <a:ln/>
        </p:spPr>
      </p:sp>
      <p:sp>
        <p:nvSpPr>
          <p:cNvPr id="11" name="text-295"/>
          <p:cNvSpPr txBox="1"/>
          <p:nvPr/>
        </p:nvSpPr>
        <p:spPr>
          <a:xfrm>
            <a:off x="3566160" y="4971618"/>
            <a:ext cx="2240280" cy="274320"/>
          </a:xfrm>
          <a:prstGeom prst="rect">
            <a:avLst/>
          </a:prstGeom>
          <a:noFill/>
          <a:ln/>
        </p:spPr>
        <p:txBody>
          <a:bodyPr wrap="square" lIns="0" tIns="0" rIns="0" bIns="0" rtlCol="0" anchor="t"/>
          <a:lstStyle/>
          <a:p>
            <a:pPr indent="0" marL="0">
              <a:buNone/>
            </a:pPr>
            <a:r>
              <a:rPr lang="en-US" sz="1400" b="1" dirty="0">
                <a:solidFill>
                  <a:schemeClr val="tx2"/>
                </a:solidFill>
                <a:latin typeface="+mj-lt" pitchFamily="34" charset="0"/>
                <a:ea typeface="+mj-lt" pitchFamily="34" charset="-122"/>
                <a:cs typeface="+mj-lt" pitchFamily="34" charset="-120"/>
              </a:rPr>
              <a:t>Exakt neu gerechnet</a:t>
            </a:r>
            <a:endParaRPr lang="en-US" sz="1400" dirty="0"/>
          </a:p>
        </p:txBody>
      </p:sp>
      <p:sp>
        <p:nvSpPr>
          <p:cNvPr id="12" name="text-296"/>
          <p:cNvSpPr txBox="1"/>
          <p:nvPr/>
        </p:nvSpPr>
        <p:spPr>
          <a:xfrm>
            <a:off x="3566160" y="5264226"/>
            <a:ext cx="2286000" cy="889686"/>
          </a:xfrm>
          <a:prstGeom prst="rect">
            <a:avLst/>
          </a:prstGeom>
          <a:noFill/>
          <a:ln/>
        </p:spPr>
        <p:txBody>
          <a:bodyPr wrap="square" lIns="0" tIns="0" rIns="0" bIns="0" rtlCol="0" anchor="t"/>
          <a:lstStyle/>
          <a:p>
            <a:pPr indent="0" marL="0">
              <a:buNone/>
            </a:pPr>
            <a:r>
              <a:rPr lang="en-US" sz="1200" dirty="0">
                <a:solidFill>
                  <a:schemeClr val="tx1"/>
                </a:solidFill>
              </a:rPr>
              <a:t>Überlebende mit denselben float32-Termen und float64-Summen in gleicher Reihenfolge: bitgleiche Kandidaten.</a:t>
            </a:r>
            <a:endParaRPr lang="en-US" sz="1200" dirty="0"/>
          </a:p>
        </p:txBody>
      </p:sp>
      <p:sp>
        <p:nvSpPr>
          <p:cNvPr id="13" name="card-297"/>
          <p:cNvSpPr/>
          <p:nvPr/>
        </p:nvSpPr>
        <p:spPr>
          <a:xfrm>
            <a:off x="6217920" y="4852746"/>
            <a:ext cx="2606040" cy="1346886"/>
          </a:xfrm>
          <a:prstGeom prst="roundRect">
            <a:avLst>
              <a:gd name="adj" fmla="val 5431"/>
            </a:avLst>
          </a:prstGeom>
          <a:solidFill>
            <a:schemeClr val="bg2"/>
          </a:solidFill>
          <a:ln/>
        </p:spPr>
      </p:sp>
      <p:sp>
        <p:nvSpPr>
          <p:cNvPr id="14" name="text-298"/>
          <p:cNvSpPr txBox="1"/>
          <p:nvPr/>
        </p:nvSpPr>
        <p:spPr>
          <a:xfrm>
            <a:off x="6400800" y="4971618"/>
            <a:ext cx="2240280" cy="274320"/>
          </a:xfrm>
          <a:prstGeom prst="rect">
            <a:avLst/>
          </a:prstGeom>
          <a:noFill/>
          <a:ln/>
        </p:spPr>
        <p:txBody>
          <a:bodyPr wrap="square" lIns="0" tIns="0" rIns="0" bIns="0" rtlCol="0" anchor="t"/>
          <a:lstStyle/>
          <a:p>
            <a:pPr indent="0" marL="0">
              <a:buNone/>
            </a:pPr>
            <a:r>
              <a:rPr lang="en-US" sz="1400" b="1" dirty="0">
                <a:solidFill>
                  <a:schemeClr val="tx2"/>
                </a:solidFill>
                <a:latin typeface="+mj-lt" pitchFamily="34" charset="0"/>
                <a:ea typeface="+mj-lt" pitchFamily="34" charset="-122"/>
                <a:cs typeface="+mj-lt" pitchFamily="34" charset="-120"/>
              </a:rPr>
              <a:t>Geteiltes Scoring</a:t>
            </a:r>
            <a:endParaRPr lang="en-US" sz="1400" dirty="0"/>
          </a:p>
        </p:txBody>
      </p:sp>
      <p:sp>
        <p:nvSpPr>
          <p:cNvPr id="15" name="text-299"/>
          <p:cNvSpPr txBox="1"/>
          <p:nvPr/>
        </p:nvSpPr>
        <p:spPr>
          <a:xfrm>
            <a:off x="6400800" y="5264226"/>
            <a:ext cx="2286000" cy="889686"/>
          </a:xfrm>
          <a:prstGeom prst="rect">
            <a:avLst/>
          </a:prstGeom>
          <a:noFill/>
          <a:ln/>
        </p:spPr>
        <p:txBody>
          <a:bodyPr wrap="square" lIns="0" tIns="0" rIns="0" bIns="0" rtlCol="0" anchor="t"/>
          <a:lstStyle/>
          <a:p>
            <a:pPr indent="0" marL="0">
              <a:buNone/>
            </a:pPr>
            <a:r>
              <a:rPr lang="en-US" sz="1200" dirty="0">
                <a:solidFill>
                  <a:schemeClr val="tx1"/>
                </a:solidFill>
              </a:rPr>
              <a:t>Referenzen einmal dekodiert, bis 30 000 im Cache. Gleichstand an Platz 300: dieser Peak läuft über den Standardpfad.</a:t>
            </a:r>
            <a:endParaRPr lang="en-US" sz="1200" dirty="0"/>
          </a:p>
        </p:txBody>
      </p:sp>
      <p:sp>
        <p:nvSpPr>
          <p:cNvPr id="16" name="text-300"/>
          <p:cNvSpPr txBox="1"/>
          <p:nvPr/>
        </p:nvSpPr>
        <p:spPr>
          <a:xfrm>
            <a:off x="9144000" y="4852746"/>
            <a:ext cx="2499055" cy="502920"/>
          </a:xfrm>
          <a:prstGeom prst="rect">
            <a:avLst/>
          </a:prstGeom>
          <a:noFill/>
          <a:ln/>
        </p:spPr>
        <p:txBody>
          <a:bodyPr wrap="square" lIns="0" tIns="0" rIns="0" bIns="0" rtlCol="0" anchor="t"/>
          <a:lstStyle/>
          <a:p>
            <a:pPr indent="0" marL="0">
              <a:buNone/>
            </a:pPr>
            <a:r>
              <a:rPr lang="en-US" sz="3000" dirty="0">
                <a:solidFill>
                  <a:schemeClr val="accent6"/>
                </a:solidFill>
                <a:latin typeface="+mj-lt" pitchFamily="34" charset="0"/>
                <a:ea typeface="+mj-lt" pitchFamily="34" charset="-122"/>
                <a:cs typeface="+mj-lt" pitchFamily="34" charset="-120"/>
              </a:rPr>
              <a:t>409</a:t>
            </a:r>
            <a:pPr indent="0" marL="0">
              <a:buNone/>
            </a:pPr>
            <a:r>
              <a:rPr lang="en-US" sz="2400" dirty="0">
                <a:solidFill>
                  <a:schemeClr val="accent6"/>
                </a:solidFill>
                <a:latin typeface="+mj-lt" pitchFamily="34" charset="0"/>
                <a:ea typeface="+mj-lt" pitchFamily="34" charset="-122"/>
                <a:cs typeface="+mj-lt" pitchFamily="34" charset="-120"/>
              </a:rPr>
              <a:t> → </a:t>
            </a:r>
            <a:pPr indent="0" marL="0">
              <a:buNone/>
            </a:pPr>
            <a:r>
              <a:rPr lang="en-US" sz="3000" dirty="0">
                <a:solidFill>
                  <a:schemeClr val="accent1"/>
                </a:solidFill>
                <a:latin typeface="+mj-lt" pitchFamily="34" charset="0"/>
                <a:ea typeface="+mj-lt" pitchFamily="34" charset="-122"/>
                <a:cs typeface="+mj-lt" pitchFamily="34" charset="-120"/>
              </a:rPr>
              <a:t>49 ms</a:t>
            </a:r>
            <a:endParaRPr lang="en-US" sz="3000" dirty="0"/>
          </a:p>
        </p:txBody>
      </p:sp>
      <p:sp>
        <p:nvSpPr>
          <p:cNvPr id="17" name="text-301"/>
          <p:cNvSpPr txBox="1"/>
          <p:nvPr/>
        </p:nvSpPr>
        <p:spPr>
          <a:xfrm>
            <a:off x="9144000" y="5401386"/>
            <a:ext cx="2499055" cy="777240"/>
          </a:xfrm>
          <a:prstGeom prst="rect">
            <a:avLst/>
          </a:prstGeom>
          <a:noFill/>
          <a:ln/>
        </p:spPr>
        <p:txBody>
          <a:bodyPr wrap="square" lIns="0" tIns="0" rIns="0" bIns="0" rtlCol="0" anchor="t"/>
          <a:lstStyle/>
          <a:p>
            <a:pPr indent="0" marL="0">
              <a:buNone/>
            </a:pPr>
            <a:r>
              <a:rPr lang="en-US" sz="1200" dirty="0">
                <a:solidFill>
                  <a:schemeClr val="accent6"/>
                </a:solidFill>
              </a:rPr>
              <a:t>pro Peak: 375 Peaks aus 6 Läufen, 13 Bibliotheken, 1,82 Mio. Spektren; ein Lauf mit 87 Peaks: 4,5×</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09 · DEKONVOLUTION</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MS findet Komponenten, FID bestimmt Flächen</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Koelutionen werden mit den MS-Elutionsprofilen zerlegt; die Flächenanteile kommen aus dem FID-Signal selbst.</a:t>
            </a:r>
            <a:endParaRPr lang="en-US" sz="1600" dirty="0"/>
          </a:p>
        </p:txBody>
      </p:sp>
      <p:sp>
        <p:nvSpPr>
          <p:cNvPr id="5" name="frame-302"/>
          <p:cNvSpPr/>
          <p:nvPr/>
        </p:nvSpPr>
        <p:spPr>
          <a:xfrm>
            <a:off x="502920" y="1783080"/>
            <a:ext cx="6949440" cy="3777615"/>
          </a:xfrm>
          <a:prstGeom prst="roundRect">
            <a:avLst>
              <a:gd name="adj" fmla="val 1210"/>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Dekonvolutionsfenster mit zwei Komponenten-303" descr="Dekonvolutionsfenster mit zwei Komponenten">    </p:cNvPr>
          <p:cNvPicPr>
            <a:picLocks noChangeAspect="1"/>
          </p:cNvPicPr>
          <p:nvPr/>
        </p:nvPicPr>
        <p:blipFill>
          <a:blip r:embed="rId1"/>
          <a:stretch>
            <a:fillRect/>
          </a:stretch>
        </p:blipFill>
        <p:spPr>
          <a:xfrm>
            <a:off x="548640" y="1828800"/>
            <a:ext cx="6858000" cy="3686175"/>
          </a:xfrm>
          <a:prstGeom prst="rect">
            <a:avLst/>
          </a:prstGeom>
        </p:spPr>
      </p:pic>
      <p:sp>
        <p:nvSpPr>
          <p:cNvPr id="7" name="text-304"/>
          <p:cNvSpPr txBox="1"/>
          <p:nvPr/>
        </p:nvSpPr>
        <p:spPr>
          <a:xfrm>
            <a:off x="548640" y="5606415"/>
            <a:ext cx="6858000" cy="274320"/>
          </a:xfrm>
          <a:prstGeom prst="rect">
            <a:avLst/>
          </a:prstGeom>
          <a:noFill/>
          <a:ln/>
        </p:spPr>
        <p:txBody>
          <a:bodyPr wrap="square" lIns="0" tIns="0" rIns="0" bIns="0" rtlCol="0" anchor="t"/>
          <a:lstStyle/>
          <a:p>
            <a:pPr indent="0" marL="0">
              <a:buNone/>
            </a:pPr>
            <a:r>
              <a:rPr lang="en-US" sz="1100" i="1" dirty="0">
                <a:solidFill>
                  <a:schemeClr val="accent6"/>
                </a:solidFill>
              </a:rPr>
              <a:t>Lauf 07, Peak 18,917 min: deuteriertes Phthalat (52,0 %) und Alkan (48,0 %), Fit an das FID mit R² = 0,982</a:t>
            </a:r>
            <a:endParaRPr lang="en-US" sz="1100" dirty="0"/>
          </a:p>
        </p:txBody>
      </p:sp>
      <p:sp>
        <p:nvSpPr>
          <p:cNvPr id="8" name="card-305"/>
          <p:cNvSpPr/>
          <p:nvPr/>
        </p:nvSpPr>
        <p:spPr>
          <a:xfrm>
            <a:off x="7772400" y="1828800"/>
            <a:ext cx="3870655" cy="1481328"/>
          </a:xfrm>
          <a:prstGeom prst="roundRect">
            <a:avLst>
              <a:gd name="adj" fmla="val 4938"/>
            </a:avLst>
          </a:prstGeom>
          <a:solidFill>
            <a:schemeClr val="bg2"/>
          </a:solidFill>
          <a:ln/>
        </p:spPr>
      </p:sp>
      <p:sp>
        <p:nvSpPr>
          <p:cNvPr id="9" name="text-306"/>
          <p:cNvSpPr txBox="1"/>
          <p:nvPr/>
        </p:nvSpPr>
        <p:spPr>
          <a:xfrm>
            <a:off x="7973568" y="1938528"/>
            <a:ext cx="3504895"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MODELL</a:t>
            </a:r>
            <a:endParaRPr lang="en-US" sz="1000" dirty="0"/>
          </a:p>
        </p:txBody>
      </p:sp>
      <p:sp>
        <p:nvSpPr>
          <p:cNvPr id="10" name="text-307"/>
          <p:cNvSpPr txBox="1"/>
          <p:nvPr/>
        </p:nvSpPr>
        <p:spPr>
          <a:xfrm>
            <a:off x="7973568" y="2194560"/>
            <a:ext cx="3504895" cy="365760"/>
          </a:xfrm>
          <a:prstGeom prst="rect">
            <a:avLst/>
          </a:prstGeom>
          <a:noFill/>
          <a:ln/>
        </p:spPr>
        <p:txBody>
          <a:bodyPr wrap="square" lIns="0" tIns="0" rIns="0" bIns="0" rtlCol="0" anchor="t"/>
          <a:lstStyle/>
          <a:p>
            <a:pPr indent="0" marL="0">
              <a:buNone/>
            </a:pPr>
            <a:r>
              <a:rPr lang="en-US" sz="1800" dirty="0">
                <a:solidFill>
                  <a:schemeClr val="tx2"/>
                </a:solidFill>
                <a:latin typeface="Cambria Math" pitchFamily="34" charset="0"/>
                <a:ea typeface="Cambria Math" pitchFamily="34" charset="-122"/>
                <a:cs typeface="Cambria Math" pitchFamily="34" charset="-120"/>
              </a:rPr>
              <a:t>y(t) ≈ Σ aₖ · pₖ((t − Δ) / s),   aₖ ≥ 0</a:t>
            </a:r>
            <a:endParaRPr lang="en-US" sz="1800" dirty="0"/>
          </a:p>
        </p:txBody>
      </p:sp>
      <p:sp>
        <p:nvSpPr>
          <p:cNvPr id="11" name="text-308"/>
          <p:cNvSpPr txBox="1"/>
          <p:nvPr/>
        </p:nvSpPr>
        <p:spPr>
          <a:xfrm>
            <a:off x="7973568" y="2651760"/>
            <a:ext cx="3504895" cy="594360"/>
          </a:xfrm>
          <a:prstGeom prst="rect">
            <a:avLst/>
          </a:prstGeom>
          <a:noFill/>
          <a:ln/>
        </p:spPr>
        <p:txBody>
          <a:bodyPr wrap="square" lIns="0" tIns="0" rIns="0" bIns="0" rtlCol="0" anchor="t"/>
          <a:lstStyle/>
          <a:p>
            <a:pPr indent="0" marL="0">
              <a:buNone/>
            </a:pPr>
            <a:r>
              <a:rPr lang="en-US" sz="1100" dirty="0">
                <a:solidFill>
                  <a:schemeClr val="accent6"/>
                </a:solidFill>
              </a:rPr>
              <a:t>pₖ MS-Profil (PCHIP) · Δ gemeinsamer Zeitversatz · s gemeinsamer Breitenfaktor · aₖ per NNLS (Lawson-Hanson)</a:t>
            </a:r>
            <a:endParaRPr lang="en-US" sz="1100" dirty="0"/>
          </a:p>
        </p:txBody>
      </p:sp>
      <p:sp>
        <p:nvSpPr>
          <p:cNvPr id="12" name="text-309"/>
          <p:cNvSpPr txBox="1"/>
          <p:nvPr/>
        </p:nvSpPr>
        <p:spPr>
          <a:xfrm>
            <a:off x="7772400" y="3520440"/>
            <a:ext cx="3870655"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R² ≥ 0,97</a:t>
            </a:r>
            <a:endParaRPr lang="en-US" sz="1500" dirty="0"/>
          </a:p>
        </p:txBody>
      </p:sp>
      <p:sp>
        <p:nvSpPr>
          <p:cNvPr id="13" name="text-310"/>
          <p:cNvSpPr txBox="1"/>
          <p:nvPr/>
        </p:nvSpPr>
        <p:spPr>
          <a:xfrm>
            <a:off x="7772400" y="3813048"/>
            <a:ext cx="3870655" cy="566928"/>
          </a:xfrm>
          <a:prstGeom prst="rect">
            <a:avLst/>
          </a:prstGeom>
          <a:noFill/>
          <a:ln/>
        </p:spPr>
        <p:txBody>
          <a:bodyPr wrap="square" lIns="0" tIns="0" rIns="0" bIns="0" rtlCol="0" anchor="t"/>
          <a:lstStyle/>
          <a:p>
            <a:pPr indent="0" marL="0">
              <a:buNone/>
            </a:pPr>
            <a:r>
              <a:rPr lang="en-US" sz="1300" dirty="0">
                <a:solidFill>
                  <a:schemeClr val="tx1"/>
                </a:solidFill>
              </a:rPr>
              <a:t>Flächen aus dem FID-Fit, sonst die MS-Anteile; die Statuszeile nennt die Basis.</a:t>
            </a:r>
            <a:endParaRPr lang="en-US" sz="1300" dirty="0"/>
          </a:p>
        </p:txBody>
      </p:sp>
      <p:sp>
        <p:nvSpPr>
          <p:cNvPr id="14" name="text-311"/>
          <p:cNvSpPr txBox="1"/>
          <p:nvPr/>
        </p:nvSpPr>
        <p:spPr>
          <a:xfrm>
            <a:off x="7772400" y="4434840"/>
            <a:ext cx="3870655"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Fläche erhalten</a:t>
            </a:r>
            <a:endParaRPr lang="en-US" sz="1500" dirty="0"/>
          </a:p>
        </p:txBody>
      </p:sp>
      <p:sp>
        <p:nvSpPr>
          <p:cNvPr id="15" name="text-312"/>
          <p:cNvSpPr txBox="1"/>
          <p:nvPr/>
        </p:nvSpPr>
        <p:spPr>
          <a:xfrm>
            <a:off x="7772400" y="4727448"/>
            <a:ext cx="3870655" cy="566928"/>
          </a:xfrm>
          <a:prstGeom prst="rect">
            <a:avLst/>
          </a:prstGeom>
          <a:noFill/>
          <a:ln/>
        </p:spPr>
        <p:txBody>
          <a:bodyPr wrap="square" lIns="0" tIns="0" rIns="0" bIns="0" rtlCol="0" anchor="t"/>
          <a:lstStyle/>
          <a:p>
            <a:pPr indent="0" marL="0">
              <a:buNone/>
            </a:pPr>
            <a:r>
              <a:rPr lang="en-US" sz="1300" dirty="0">
                <a:solidFill>
                  <a:schemeClr val="tx1"/>
                </a:solidFill>
              </a:rPr>
              <a:t>Die gemessene Gesamtfläche wird exakt aufgeteilt; Schnitte an den Kreuzungen der Fitkurven.</a:t>
            </a:r>
            <a:endParaRPr lang="en-US" sz="1300" dirty="0"/>
          </a:p>
        </p:txBody>
      </p:sp>
      <p:sp>
        <p:nvSpPr>
          <p:cNvPr id="16" name="text-313"/>
          <p:cNvSpPr txBox="1"/>
          <p:nvPr/>
        </p:nvSpPr>
        <p:spPr>
          <a:xfrm>
            <a:off x="7772400" y="5349240"/>
            <a:ext cx="3870655"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Replaybar</a:t>
            </a:r>
            <a:endParaRPr lang="en-US" sz="1500" dirty="0"/>
          </a:p>
        </p:txBody>
      </p:sp>
      <p:sp>
        <p:nvSpPr>
          <p:cNvPr id="17" name="text-314"/>
          <p:cNvSpPr txBox="1"/>
          <p:nvPr/>
        </p:nvSpPr>
        <p:spPr>
          <a:xfrm>
            <a:off x="7772400" y="5641848"/>
            <a:ext cx="3870655" cy="566928"/>
          </a:xfrm>
          <a:prstGeom prst="rect">
            <a:avLst/>
          </a:prstGeom>
          <a:noFill/>
          <a:ln/>
        </p:spPr>
        <p:txBody>
          <a:bodyPr wrap="square" lIns="0" tIns="0" rIns="0" bIns="0" rtlCol="0" anchor="t"/>
          <a:lstStyle/>
          <a:p>
            <a:pPr indent="0" marL="0">
              <a:buNone/>
            </a:pPr>
            <a:r>
              <a:rPr lang="en-US" sz="1300" dirty="0">
                <a:solidFill>
                  <a:schemeClr val="tx1"/>
                </a:solidFill>
              </a:rPr>
              <a:t>Der Split ist ein Event mit Profilen, Shift und Breite: übersteht Undo, Re-Integration und Neuladen.</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10 · AUTOMATISCHER SPLIT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Ganze Läufe automatisch zerlegt – in Sekunden</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Die Integrationsmethode splittet Koelutionen selbst; eine Array-Engine rechnet die Ganzlauf-Dekonvolution ≈ 10× schneller.</a:t>
            </a:r>
            <a:endParaRPr lang="en-US" sz="1600" dirty="0"/>
          </a:p>
        </p:txBody>
      </p:sp>
      <p:sp>
        <p:nvSpPr>
          <p:cNvPr id="5" name="frame-315"/>
          <p:cNvSpPr/>
          <p:nvPr/>
        </p:nvSpPr>
        <p:spPr>
          <a:xfrm>
            <a:off x="502920" y="1783080"/>
            <a:ext cx="5577840" cy="2872377"/>
          </a:xfrm>
          <a:prstGeom prst="roundRect">
            <a:avLst>
              <a:gd name="adj" fmla="val 1592"/>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Chromatogramm mit automatisch gesplittetem Peak-316" descr="Chromatogramm mit automatisch gesplittetem Peak">    </p:cNvPr>
          <p:cNvPicPr>
            <a:picLocks noChangeAspect="1"/>
          </p:cNvPicPr>
          <p:nvPr/>
        </p:nvPicPr>
        <p:blipFill>
          <a:blip r:embed="rId1"/>
          <a:stretch>
            <a:fillRect/>
          </a:stretch>
        </p:blipFill>
        <p:spPr>
          <a:xfrm>
            <a:off x="548640" y="1828800"/>
            <a:ext cx="5486400" cy="2780937"/>
          </a:xfrm>
          <a:prstGeom prst="rect">
            <a:avLst/>
          </a:prstGeom>
        </p:spPr>
      </p:pic>
      <p:sp>
        <p:nvSpPr>
          <p:cNvPr id="7" name="text-317"/>
          <p:cNvSpPr txBox="1"/>
          <p:nvPr/>
        </p:nvSpPr>
        <p:spPr>
          <a:xfrm>
            <a:off x="548640" y="4701177"/>
            <a:ext cx="5486400" cy="274320"/>
          </a:xfrm>
          <a:prstGeom prst="rect">
            <a:avLst/>
          </a:prstGeom>
          <a:noFill/>
          <a:ln/>
        </p:spPr>
        <p:txBody>
          <a:bodyPr wrap="square" lIns="0" tIns="0" rIns="0" bIns="0" rtlCol="0" anchor="t"/>
          <a:lstStyle/>
          <a:p>
            <a:pPr indent="0" marL="0">
              <a:buNone/>
            </a:pPr>
            <a:r>
              <a:rPr lang="en-US" sz="1100" i="1" dirty="0">
                <a:solidFill>
                  <a:schemeClr val="accent6"/>
                </a:solidFill>
              </a:rPr>
              <a:t>Jedes Fragment als modellierte Kurve – die gezeichnete Fläche ist die berichtete</a:t>
            </a:r>
            <a:endParaRPr lang="en-US" sz="1100" dirty="0"/>
          </a:p>
        </p:txBody>
      </p:sp>
      <p:sp>
        <p:nvSpPr>
          <p:cNvPr id="8" name="text-318"/>
          <p:cNvSpPr txBox="1"/>
          <p:nvPr/>
        </p:nvSpPr>
        <p:spPr>
          <a:xfrm>
            <a:off x="548640" y="5029200"/>
            <a:ext cx="585216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GATES NACH MZMINE (GC-SPEKTRALDEKONVOLUTION)</a:t>
            </a:r>
            <a:endParaRPr lang="en-US" sz="1000" dirty="0"/>
          </a:p>
        </p:txBody>
      </p:sp>
      <p:sp>
        <p:nvSpPr>
          <p:cNvPr id="9" name="chip-319"/>
          <p:cNvSpPr/>
          <p:nvPr/>
        </p:nvSpPr>
        <p:spPr>
          <a:xfrm>
            <a:off x="548640" y="5303520"/>
            <a:ext cx="114300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dirty="0">
                <a:solidFill>
                  <a:schemeClr val="tx2"/>
                </a:solidFill>
              </a:rPr>
              <a:t>Anteil ≥ 1 %</a:t>
            </a:r>
            <a:endParaRPr lang="en-US" sz="1100" dirty="0"/>
          </a:p>
        </p:txBody>
      </p:sp>
      <p:sp>
        <p:nvSpPr>
          <p:cNvPr id="10" name="chip-320"/>
          <p:cNvSpPr/>
          <p:nvPr/>
        </p:nvSpPr>
        <p:spPr>
          <a:xfrm>
            <a:off x="1801368" y="5303520"/>
            <a:ext cx="91440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dirty="0">
                <a:solidFill>
                  <a:schemeClr val="tx2"/>
                </a:solidFill>
              </a:rPr>
              <a:t>S/N ≥ 20</a:t>
            </a:r>
            <a:endParaRPr lang="en-US" sz="1100" dirty="0"/>
          </a:p>
        </p:txBody>
      </p:sp>
      <p:sp>
        <p:nvSpPr>
          <p:cNvPr id="11" name="chip-321"/>
          <p:cNvSpPr/>
          <p:nvPr/>
        </p:nvSpPr>
        <p:spPr>
          <a:xfrm>
            <a:off x="2825496" y="5303520"/>
            <a:ext cx="118872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dirty="0">
                <a:solidFill>
                  <a:schemeClr val="tx2"/>
                </a:solidFill>
              </a:rPr>
              <a:t>Form r ≥ 0,8</a:t>
            </a:r>
            <a:endParaRPr lang="en-US" sz="1100" dirty="0"/>
          </a:p>
        </p:txBody>
      </p:sp>
      <p:sp>
        <p:nvSpPr>
          <p:cNvPr id="12" name="chip-322"/>
          <p:cNvSpPr/>
          <p:nvPr/>
        </p:nvSpPr>
        <p:spPr>
          <a:xfrm>
            <a:off x="4123944" y="5303520"/>
            <a:ext cx="201168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dirty="0">
                <a:solidFill>
                  <a:schemeClr val="tx2"/>
                </a:solidFill>
              </a:rPr>
              <a:t>Kosinus ≤ 0,9 zum Nachbarn</a:t>
            </a:r>
            <a:endParaRPr lang="en-US" sz="1100" dirty="0"/>
          </a:p>
        </p:txBody>
      </p:sp>
      <p:sp>
        <p:nvSpPr>
          <p:cNvPr id="13" name="chip-323"/>
          <p:cNvSpPr/>
          <p:nvPr/>
        </p:nvSpPr>
        <p:spPr>
          <a:xfrm>
            <a:off x="548640" y="5705856"/>
            <a:ext cx="260604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dirty="0">
                <a:solidFill>
                  <a:schemeClr val="tx2"/>
                </a:solidFill>
              </a:rPr>
              <a:t>Bleed-m/z 73 · 207 · 281 · 355 aus</a:t>
            </a:r>
            <a:endParaRPr lang="en-US" sz="1100" dirty="0"/>
          </a:p>
        </p:txBody>
      </p:sp>
      <p:sp>
        <p:nvSpPr>
          <p:cNvPr id="14" name="chip-324"/>
          <p:cNvSpPr/>
          <p:nvPr/>
        </p:nvSpPr>
        <p:spPr>
          <a:xfrm>
            <a:off x="3264408" y="5705856"/>
            <a:ext cx="2514600" cy="310896"/>
          </a:xfrm>
          <a:prstGeom prst="roundRect">
            <a:avLst>
              <a:gd name="adj" fmla="val 44118"/>
            </a:avLst>
          </a:prstGeom>
          <a:solidFill>
            <a:schemeClr val="bg2"/>
          </a:solidFill>
          <a:ln/>
        </p:spPr>
        <p:txBody>
          <a:bodyPr wrap="square" lIns="0" tIns="0" rIns="0" bIns="0" rtlCol="0" anchor="ctr"/>
          <a:lstStyle/>
          <a:p>
            <a:pPr algn="ctr" indent="0" marL="0">
              <a:buNone/>
            </a:pPr>
            <a:r>
              <a:rPr lang="en-US" sz="1100" dirty="0">
                <a:solidFill>
                  <a:schemeClr val="tx2"/>
                </a:solidFill>
              </a:rPr>
              <a:t>Schulter: 2. Ableitung, R² &lt; 0,98</a:t>
            </a:r>
            <a:endParaRPr lang="en-US" sz="1100" dirty="0"/>
          </a:p>
        </p:txBody>
      </p:sp>
      <p:sp>
        <p:nvSpPr>
          <p:cNvPr id="15" name="text-325"/>
          <p:cNvSpPr txBox="1"/>
          <p:nvPr/>
        </p:nvSpPr>
        <p:spPr>
          <a:xfrm>
            <a:off x="6583680" y="1828800"/>
            <a:ext cx="5059375"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GANZLAUF-DEKONVOLUTION, GEMESSEN AUF LÄUFEN AB 5,5 MIN</a:t>
            </a:r>
            <a:endParaRPr lang="en-US" sz="1000" dirty="0"/>
          </a:p>
        </p:txBody>
      </p:sp>
      <p:sp>
        <p:nvSpPr>
          <p:cNvPr id="16" name="card-326"/>
          <p:cNvSpPr/>
          <p:nvPr/>
        </p:nvSpPr>
        <p:spPr>
          <a:xfrm>
            <a:off x="6583680" y="2148840"/>
            <a:ext cx="2392528" cy="1874520"/>
          </a:xfrm>
          <a:prstGeom prst="roundRect">
            <a:avLst>
              <a:gd name="adj" fmla="val 3902"/>
            </a:avLst>
          </a:prstGeom>
          <a:solidFill>
            <a:schemeClr val="bg2"/>
          </a:solidFill>
          <a:ln/>
        </p:spPr>
      </p:sp>
      <p:sp>
        <p:nvSpPr>
          <p:cNvPr id="17" name="text-327"/>
          <p:cNvSpPr txBox="1"/>
          <p:nvPr/>
        </p:nvSpPr>
        <p:spPr>
          <a:xfrm>
            <a:off x="6784848" y="2286000"/>
            <a:ext cx="2026768" cy="274320"/>
          </a:xfrm>
          <a:prstGeom prst="rect">
            <a:avLst/>
          </a:prstGeom>
          <a:noFill/>
          <a:ln/>
        </p:spPr>
        <p:txBody>
          <a:bodyPr wrap="square" lIns="0" tIns="0" rIns="0" bIns="0" rtlCol="0" anchor="t"/>
          <a:lstStyle/>
          <a:p>
            <a:pPr indent="0" marL="0">
              <a:buNone/>
            </a:pPr>
            <a:r>
              <a:rPr lang="en-US" sz="1400" b="1" dirty="0">
                <a:solidFill>
                  <a:schemeClr val="tx2"/>
                </a:solidFill>
              </a:rPr>
              <a:t>Stufe 5</a:t>
            </a:r>
            <a:endParaRPr lang="en-US" sz="1400" dirty="0"/>
          </a:p>
        </p:txBody>
      </p:sp>
      <p:sp>
        <p:nvSpPr>
          <p:cNvPr id="18" name="text-328"/>
          <p:cNvSpPr txBox="1"/>
          <p:nvPr/>
        </p:nvSpPr>
        <p:spPr>
          <a:xfrm>
            <a:off x="6784848" y="2606040"/>
            <a:ext cx="2026768" cy="594360"/>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3,8–5,4 s</a:t>
            </a:r>
            <a:endParaRPr lang="en-US" sz="3200" dirty="0"/>
          </a:p>
        </p:txBody>
      </p:sp>
      <p:sp>
        <p:nvSpPr>
          <p:cNvPr id="19" name="text-329"/>
          <p:cNvSpPr txBox="1"/>
          <p:nvPr/>
        </p:nvSpPr>
        <p:spPr>
          <a:xfrm>
            <a:off x="6784848" y="3246120"/>
            <a:ext cx="2026768" cy="274320"/>
          </a:xfrm>
          <a:prstGeom prst="rect">
            <a:avLst/>
          </a:prstGeom>
          <a:noFill/>
          <a:ln/>
        </p:spPr>
        <p:txBody>
          <a:bodyPr wrap="square" lIns="0" tIns="0" rIns="0" bIns="0" rtlCol="0" anchor="t"/>
          <a:lstStyle/>
          <a:p>
            <a:pPr indent="0" marL="0">
              <a:buNone/>
            </a:pPr>
            <a:r>
              <a:rPr lang="en-US" sz="1400" dirty="0">
                <a:solidFill>
                  <a:schemeClr val="accent6"/>
                </a:solidFill>
              </a:rPr>
              <a:t>vorher 43–55 s</a:t>
            </a:r>
            <a:endParaRPr lang="en-US" sz="1400" dirty="0"/>
          </a:p>
        </p:txBody>
      </p:sp>
      <p:sp>
        <p:nvSpPr>
          <p:cNvPr id="20" name="text-330"/>
          <p:cNvSpPr txBox="1"/>
          <p:nvPr/>
        </p:nvSpPr>
        <p:spPr>
          <a:xfrm>
            <a:off x="6784848" y="3566160"/>
            <a:ext cx="2026768" cy="274320"/>
          </a:xfrm>
          <a:prstGeom prst="rect">
            <a:avLst/>
          </a:prstGeom>
          <a:noFill/>
          <a:ln/>
        </p:spPr>
        <p:txBody>
          <a:bodyPr wrap="square" lIns="0" tIns="0" rIns="0" bIns="0" rtlCol="0" anchor="t"/>
          <a:lstStyle/>
          <a:p>
            <a:pPr indent="0" marL="0">
              <a:buNone/>
            </a:pPr>
            <a:r>
              <a:rPr lang="en-US" sz="1200" b="1" dirty="0">
                <a:solidFill>
                  <a:schemeClr val="accent3"/>
                </a:solidFill>
              </a:rPr>
              <a:t>identische Ausgabe</a:t>
            </a:r>
            <a:endParaRPr lang="en-US" sz="1200" dirty="0"/>
          </a:p>
        </p:txBody>
      </p:sp>
      <p:sp>
        <p:nvSpPr>
          <p:cNvPr id="21" name="card-331"/>
          <p:cNvSpPr/>
          <p:nvPr/>
        </p:nvSpPr>
        <p:spPr>
          <a:xfrm>
            <a:off x="9250528" y="2148840"/>
            <a:ext cx="2392528" cy="1874520"/>
          </a:xfrm>
          <a:prstGeom prst="roundRect">
            <a:avLst>
              <a:gd name="adj" fmla="val 3902"/>
            </a:avLst>
          </a:prstGeom>
          <a:solidFill>
            <a:schemeClr val="bg2"/>
          </a:solidFill>
          <a:ln/>
        </p:spPr>
      </p:sp>
      <p:sp>
        <p:nvSpPr>
          <p:cNvPr id="22" name="text-332"/>
          <p:cNvSpPr txBox="1"/>
          <p:nvPr/>
        </p:nvSpPr>
        <p:spPr>
          <a:xfrm>
            <a:off x="9451696" y="2286000"/>
            <a:ext cx="2026768" cy="274320"/>
          </a:xfrm>
          <a:prstGeom prst="rect">
            <a:avLst/>
          </a:prstGeom>
          <a:noFill/>
          <a:ln/>
        </p:spPr>
        <p:txBody>
          <a:bodyPr wrap="square" lIns="0" tIns="0" rIns="0" bIns="0" rtlCol="0" anchor="t"/>
          <a:lstStyle/>
          <a:p>
            <a:pPr indent="0" marL="0">
              <a:buNone/>
            </a:pPr>
            <a:r>
              <a:rPr lang="en-US" sz="1400" b="1" dirty="0">
                <a:solidFill>
                  <a:schemeClr val="tx2"/>
                </a:solidFill>
              </a:rPr>
              <a:t>Stufe 4</a:t>
            </a:r>
            <a:endParaRPr lang="en-US" sz="1400" dirty="0"/>
          </a:p>
        </p:txBody>
      </p:sp>
      <p:sp>
        <p:nvSpPr>
          <p:cNvPr id="23" name="text-333"/>
          <p:cNvSpPr txBox="1"/>
          <p:nvPr/>
        </p:nvSpPr>
        <p:spPr>
          <a:xfrm>
            <a:off x="9451696" y="2606040"/>
            <a:ext cx="2026768" cy="594360"/>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0,8–1,5 s</a:t>
            </a:r>
            <a:endParaRPr lang="en-US" sz="3200" dirty="0"/>
          </a:p>
        </p:txBody>
      </p:sp>
      <p:sp>
        <p:nvSpPr>
          <p:cNvPr id="24" name="text-334"/>
          <p:cNvSpPr txBox="1"/>
          <p:nvPr/>
        </p:nvSpPr>
        <p:spPr>
          <a:xfrm>
            <a:off x="9451696" y="3246120"/>
            <a:ext cx="2026768" cy="274320"/>
          </a:xfrm>
          <a:prstGeom prst="rect">
            <a:avLst/>
          </a:prstGeom>
          <a:noFill/>
          <a:ln/>
        </p:spPr>
        <p:txBody>
          <a:bodyPr wrap="square" lIns="0" tIns="0" rIns="0" bIns="0" rtlCol="0" anchor="t"/>
          <a:lstStyle/>
          <a:p>
            <a:pPr indent="0" marL="0">
              <a:buNone/>
            </a:pPr>
            <a:r>
              <a:rPr lang="en-US" sz="1400" dirty="0">
                <a:solidFill>
                  <a:schemeClr val="accent6"/>
                </a:solidFill>
              </a:rPr>
              <a:t>vorher 9,5–12 s</a:t>
            </a:r>
            <a:endParaRPr lang="en-US" sz="1400" dirty="0"/>
          </a:p>
        </p:txBody>
      </p:sp>
      <p:sp>
        <p:nvSpPr>
          <p:cNvPr id="25" name="text-335"/>
          <p:cNvSpPr txBox="1"/>
          <p:nvPr/>
        </p:nvSpPr>
        <p:spPr>
          <a:xfrm>
            <a:off x="9451696" y="3566160"/>
            <a:ext cx="2026768" cy="274320"/>
          </a:xfrm>
          <a:prstGeom prst="rect">
            <a:avLst/>
          </a:prstGeom>
          <a:noFill/>
          <a:ln/>
        </p:spPr>
        <p:txBody>
          <a:bodyPr wrap="square" lIns="0" tIns="0" rIns="0" bIns="0" rtlCol="0" anchor="t"/>
          <a:lstStyle/>
          <a:p>
            <a:pPr indent="0" marL="0">
              <a:buNone/>
            </a:pPr>
            <a:r>
              <a:rPr lang="en-US" sz="1200" b="1" dirty="0">
                <a:solidFill>
                  <a:schemeClr val="accent3"/>
                </a:solidFill>
              </a:rPr>
              <a:t>identische Ausgabe</a:t>
            </a:r>
            <a:endParaRPr lang="en-US" sz="1200" dirty="0"/>
          </a:p>
        </p:txBody>
      </p:sp>
      <p:sp>
        <p:nvSpPr>
          <p:cNvPr id="26" name="text-336"/>
          <p:cNvSpPr txBox="1"/>
          <p:nvPr/>
        </p:nvSpPr>
        <p:spPr>
          <a:xfrm>
            <a:off x="6583680" y="4297680"/>
            <a:ext cx="5059375" cy="1828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Ionenmatrix des Fensters direkt aus den Punkt-Arrays</a:t>
            </a:r>
            <a:endParaRPr lang="en-US" sz="1400" dirty="0"/>
          </a:p>
          <a:p>
            <a:pPr marL="177800" indent="-177800">
              <a:spcAft>
                <a:spcPts val="600"/>
              </a:spcAft>
              <a:buSzPct val="100000"/>
              <a:buChar char="•"/>
            </a:pPr>
            <a:r>
              <a:rPr lang="en-US" sz="1400" dirty="0">
                <a:solidFill>
                  <a:schemeClr val="tx1"/>
                </a:solidFill>
              </a:rPr>
              <a:t>Gruppierung: Seeds in Blöcken von 8–256 auf einmal getestet</a:t>
            </a:r>
            <a:endParaRPr lang="en-US" sz="1400" dirty="0"/>
          </a:p>
          <a:p>
            <a:pPr marL="177800" indent="-177800">
              <a:spcAft>
                <a:spcPts val="600"/>
              </a:spcAft>
              <a:buSzPct val="100000"/>
              <a:buChar char="•"/>
            </a:pPr>
            <a:r>
              <a:rPr lang="en-US" sz="1400" dirty="0">
                <a:solidFill>
                  <a:schemeClr val="tx1"/>
                </a:solidFill>
              </a:rPr>
              <a:t>NNLS aller Massen per Block Principal Pivoting</a:t>
            </a:r>
            <a:endParaRPr lang="en-US" sz="1400" dirty="0"/>
          </a:p>
          <a:p>
            <a:pPr marL="177800" indent="-177800">
              <a:spcAft>
                <a:spcPts val="600"/>
              </a:spcAft>
              <a:buSzPct val="100000"/>
              <a:buChar char="•"/>
            </a:pPr>
            <a:r>
              <a:rPr lang="en-US" sz="1400" dirty="0">
                <a:solidFill>
                  <a:schemeClr val="tx1"/>
                </a:solidFill>
              </a:rPr>
              <a:t>Referenz-Engine bleibt Orakel: gleiche Komponenten, Floats bis rel. 10⁻¹⁰</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11 · SPEKTRENINTERPRETATION</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Regelbasierte Hinweise für Unbekannte</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Keine Identifizierung, sondern belastbare Indizien – jeweils mit Evidenz und Gegenargumenten.</a:t>
            </a:r>
            <a:endParaRPr lang="en-US" sz="1600" dirty="0"/>
          </a:p>
        </p:txBody>
      </p:sp>
      <p:sp>
        <p:nvSpPr>
          <p:cNvPr id="5" name="frame-337"/>
          <p:cNvSpPr/>
          <p:nvPr/>
        </p:nvSpPr>
        <p:spPr>
          <a:xfrm>
            <a:off x="502920" y="1783080"/>
            <a:ext cx="6766560" cy="3475109"/>
          </a:xfrm>
          <a:prstGeom prst="roundRect">
            <a:avLst>
              <a:gd name="adj" fmla="val 1316"/>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Spektrum mit Interpretations-Tab-338" descr="Spektrum mit Interpretations-Tab">    </p:cNvPr>
          <p:cNvPicPr>
            <a:picLocks noChangeAspect="1"/>
          </p:cNvPicPr>
          <p:nvPr/>
        </p:nvPicPr>
        <p:blipFill>
          <a:blip r:embed="rId1"/>
          <a:stretch>
            <a:fillRect/>
          </a:stretch>
        </p:blipFill>
        <p:spPr>
          <a:xfrm>
            <a:off x="548640" y="1828800"/>
            <a:ext cx="6675120" cy="3383669"/>
          </a:xfrm>
          <a:prstGeom prst="rect">
            <a:avLst/>
          </a:prstGeom>
        </p:spPr>
      </p:pic>
      <p:sp>
        <p:nvSpPr>
          <p:cNvPr id="7" name="text-339"/>
          <p:cNvSpPr txBox="1"/>
          <p:nvPr/>
        </p:nvSpPr>
        <p:spPr>
          <a:xfrm>
            <a:off x="548640" y="5303909"/>
            <a:ext cx="6675120" cy="411480"/>
          </a:xfrm>
          <a:prstGeom prst="rect">
            <a:avLst/>
          </a:prstGeom>
          <a:noFill/>
          <a:ln/>
        </p:spPr>
        <p:txBody>
          <a:bodyPr wrap="square" lIns="0" tIns="0" rIns="0" bIns="0" rtlCol="0" anchor="t"/>
          <a:lstStyle/>
          <a:p>
            <a:pPr indent="0" marL="0">
              <a:buNone/>
            </a:pPr>
            <a:r>
              <a:rPr lang="en-US" sz="1100" i="1" dirty="0">
                <a:solidFill>
                  <a:schemeClr val="accent6"/>
                </a:solidFill>
              </a:rPr>
              <a:t>Unbekannter Peak 20,918 min: M⁺· 486 wahrscheinlich, ≈ C30 aus M+1, Formelvorschläge mit RDBE und Isotopen-Fit</a:t>
            </a:r>
            <a:endParaRPr lang="en-US" sz="1100" dirty="0"/>
          </a:p>
        </p:txBody>
      </p:sp>
      <p:sp>
        <p:nvSpPr>
          <p:cNvPr id="8" name="num-340"/>
          <p:cNvSpPr/>
          <p:nvPr/>
        </p:nvSpPr>
        <p:spPr>
          <a:xfrm>
            <a:off x="7589520" y="1847088"/>
            <a:ext cx="292608" cy="292608"/>
          </a:xfrm>
          <a:prstGeom prst="ellipse">
            <a:avLst/>
          </a:prstGeom>
          <a:solidFill>
            <a:schemeClr val="accent1"/>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1</a:t>
            </a:r>
            <a:endParaRPr lang="en-US" sz="1200" dirty="0"/>
          </a:p>
        </p:txBody>
      </p:sp>
      <p:sp>
        <p:nvSpPr>
          <p:cNvPr id="9" name="text-341"/>
          <p:cNvSpPr txBox="1"/>
          <p:nvPr/>
        </p:nvSpPr>
        <p:spPr>
          <a:xfrm>
            <a:off x="8001000" y="1828800"/>
            <a:ext cx="3642055" cy="274320"/>
          </a:xfrm>
          <a:prstGeom prst="rect">
            <a:avLst/>
          </a:prstGeom>
          <a:noFill/>
          <a:ln/>
        </p:spPr>
        <p:txBody>
          <a:bodyPr wrap="square" lIns="0" tIns="0" rIns="0" bIns="0" rtlCol="0" anchor="t"/>
          <a:lstStyle/>
          <a:p>
            <a:pPr indent="0" marL="0">
              <a:buNone/>
            </a:pPr>
            <a:r>
              <a:rPr lang="en-US" sz="1400" b="1" dirty="0">
                <a:solidFill>
                  <a:schemeClr val="tx1"/>
                </a:solidFill>
              </a:rPr>
              <a:t>Molekülion</a:t>
            </a:r>
            <a:endParaRPr lang="en-US" sz="1400" dirty="0"/>
          </a:p>
        </p:txBody>
      </p:sp>
      <p:sp>
        <p:nvSpPr>
          <p:cNvPr id="10" name="text-342"/>
          <p:cNvSpPr txBox="1"/>
          <p:nvPr/>
        </p:nvSpPr>
        <p:spPr>
          <a:xfrm>
            <a:off x="8001000" y="2103120"/>
            <a:ext cx="3642055" cy="457200"/>
          </a:xfrm>
          <a:prstGeom prst="rect">
            <a:avLst/>
          </a:prstGeom>
          <a:noFill/>
          <a:ln/>
        </p:spPr>
        <p:txBody>
          <a:bodyPr wrap="square" lIns="0" tIns="0" rIns="0" bIns="0" rtlCol="0" anchor="t"/>
          <a:lstStyle/>
          <a:p>
            <a:pPr indent="0" marL="0">
              <a:buNone/>
            </a:pPr>
            <a:r>
              <a:rPr lang="en-US" sz="1200" dirty="0">
                <a:solidFill>
                  <a:schemeClr val="accent6"/>
                </a:solidFill>
              </a:rPr>
              <a:t>Isotopenpeaks verworfen, unlogische Verluste (3–14, 21–25 u), Stickstoffregel</a:t>
            </a:r>
            <a:endParaRPr lang="en-US" sz="1200" dirty="0"/>
          </a:p>
        </p:txBody>
      </p:sp>
      <p:sp>
        <p:nvSpPr>
          <p:cNvPr id="11" name="num-343"/>
          <p:cNvSpPr/>
          <p:nvPr/>
        </p:nvSpPr>
        <p:spPr>
          <a:xfrm>
            <a:off x="7589520" y="2633472"/>
            <a:ext cx="292608" cy="292608"/>
          </a:xfrm>
          <a:prstGeom prst="ellipse">
            <a:avLst/>
          </a:prstGeom>
          <a:solidFill>
            <a:schemeClr val="accent1"/>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2</a:t>
            </a:r>
            <a:endParaRPr lang="en-US" sz="1200" dirty="0"/>
          </a:p>
        </p:txBody>
      </p:sp>
      <p:sp>
        <p:nvSpPr>
          <p:cNvPr id="12" name="text-344"/>
          <p:cNvSpPr txBox="1"/>
          <p:nvPr/>
        </p:nvSpPr>
        <p:spPr>
          <a:xfrm>
            <a:off x="8001000" y="2615184"/>
            <a:ext cx="3642055" cy="274320"/>
          </a:xfrm>
          <a:prstGeom prst="rect">
            <a:avLst/>
          </a:prstGeom>
          <a:noFill/>
          <a:ln/>
        </p:spPr>
        <p:txBody>
          <a:bodyPr wrap="square" lIns="0" tIns="0" rIns="0" bIns="0" rtlCol="0" anchor="t"/>
          <a:lstStyle/>
          <a:p>
            <a:pPr indent="0" marL="0">
              <a:buNone/>
            </a:pPr>
            <a:r>
              <a:rPr lang="en-US" sz="1400" b="1" dirty="0">
                <a:solidFill>
                  <a:schemeClr val="tx1"/>
                </a:solidFill>
              </a:rPr>
              <a:t>Isotopenmuster</a:t>
            </a:r>
            <a:endParaRPr lang="en-US" sz="1400" dirty="0"/>
          </a:p>
        </p:txBody>
      </p:sp>
      <p:sp>
        <p:nvSpPr>
          <p:cNvPr id="13" name="text-345"/>
          <p:cNvSpPr txBox="1"/>
          <p:nvPr/>
        </p:nvSpPr>
        <p:spPr>
          <a:xfrm>
            <a:off x="8001000" y="2889504"/>
            <a:ext cx="3642055" cy="457200"/>
          </a:xfrm>
          <a:prstGeom prst="rect">
            <a:avLst/>
          </a:prstGeom>
          <a:noFill/>
          <a:ln/>
        </p:spPr>
        <p:txBody>
          <a:bodyPr wrap="square" lIns="0" tIns="0" rIns="0" bIns="0" rtlCol="0" anchor="t"/>
          <a:lstStyle/>
          <a:p>
            <a:pPr indent="0" marL="0">
              <a:buNone/>
            </a:pPr>
            <a:r>
              <a:rPr lang="en-US" sz="1200" dirty="0">
                <a:solidFill>
                  <a:schemeClr val="accent6"/>
                </a:solidFill>
              </a:rPr>
              <a:t>Cl, Br, S, Si durch Faltung der Elementverteilungen; C-Zahl aus M+1</a:t>
            </a:r>
            <a:endParaRPr lang="en-US" sz="1200" dirty="0"/>
          </a:p>
        </p:txBody>
      </p:sp>
      <p:sp>
        <p:nvSpPr>
          <p:cNvPr id="14" name="num-346"/>
          <p:cNvSpPr/>
          <p:nvPr/>
        </p:nvSpPr>
        <p:spPr>
          <a:xfrm>
            <a:off x="7589520" y="3419856"/>
            <a:ext cx="292608" cy="292608"/>
          </a:xfrm>
          <a:prstGeom prst="ellipse">
            <a:avLst/>
          </a:prstGeom>
          <a:solidFill>
            <a:schemeClr val="accent1"/>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3</a:t>
            </a:r>
            <a:endParaRPr lang="en-US" sz="1200" dirty="0"/>
          </a:p>
        </p:txBody>
      </p:sp>
      <p:sp>
        <p:nvSpPr>
          <p:cNvPr id="15" name="text-347"/>
          <p:cNvSpPr txBox="1"/>
          <p:nvPr/>
        </p:nvSpPr>
        <p:spPr>
          <a:xfrm>
            <a:off x="8001000" y="3401568"/>
            <a:ext cx="3642055" cy="274320"/>
          </a:xfrm>
          <a:prstGeom prst="rect">
            <a:avLst/>
          </a:prstGeom>
          <a:noFill/>
          <a:ln/>
        </p:spPr>
        <p:txBody>
          <a:bodyPr wrap="square" lIns="0" tIns="0" rIns="0" bIns="0" rtlCol="0" anchor="t"/>
          <a:lstStyle/>
          <a:p>
            <a:pPr indent="0" marL="0">
              <a:buNone/>
            </a:pPr>
            <a:r>
              <a:rPr lang="en-US" sz="1400" b="1" dirty="0">
                <a:solidFill>
                  <a:schemeClr val="tx1"/>
                </a:solidFill>
              </a:rPr>
              <a:t>Serien und Verluste</a:t>
            </a:r>
            <a:endParaRPr lang="en-US" sz="1400" dirty="0"/>
          </a:p>
        </p:txBody>
      </p:sp>
      <p:sp>
        <p:nvSpPr>
          <p:cNvPr id="16" name="text-348"/>
          <p:cNvSpPr txBox="1"/>
          <p:nvPr/>
        </p:nvSpPr>
        <p:spPr>
          <a:xfrm>
            <a:off x="8001000" y="3675888"/>
            <a:ext cx="3642055" cy="457200"/>
          </a:xfrm>
          <a:prstGeom prst="rect">
            <a:avLst/>
          </a:prstGeom>
          <a:noFill/>
          <a:ln/>
        </p:spPr>
        <p:txBody>
          <a:bodyPr wrap="square" lIns="0" tIns="0" rIns="0" bIns="0" rtlCol="0" anchor="t"/>
          <a:lstStyle/>
          <a:p>
            <a:pPr indent="0" marL="0">
              <a:buNone/>
            </a:pPr>
            <a:r>
              <a:rPr lang="en-US" sz="1200" dirty="0">
                <a:solidFill>
                  <a:schemeClr val="accent6"/>
                </a:solidFill>
              </a:rPr>
              <a:t>Alkyl-, Aromaten-, Siloxan-Serien und Neutralverluste</a:t>
            </a:r>
            <a:endParaRPr lang="en-US" sz="1200" dirty="0"/>
          </a:p>
        </p:txBody>
      </p:sp>
      <p:sp>
        <p:nvSpPr>
          <p:cNvPr id="17" name="num-349"/>
          <p:cNvSpPr/>
          <p:nvPr/>
        </p:nvSpPr>
        <p:spPr>
          <a:xfrm>
            <a:off x="7589520" y="4206240"/>
            <a:ext cx="292608" cy="292608"/>
          </a:xfrm>
          <a:prstGeom prst="ellipse">
            <a:avLst/>
          </a:prstGeom>
          <a:solidFill>
            <a:schemeClr val="accent1"/>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4</a:t>
            </a:r>
            <a:endParaRPr lang="en-US" sz="1200" dirty="0"/>
          </a:p>
        </p:txBody>
      </p:sp>
      <p:sp>
        <p:nvSpPr>
          <p:cNvPr id="18" name="text-350"/>
          <p:cNvSpPr txBox="1"/>
          <p:nvPr/>
        </p:nvSpPr>
        <p:spPr>
          <a:xfrm>
            <a:off x="8001000" y="4187952"/>
            <a:ext cx="3642055" cy="274320"/>
          </a:xfrm>
          <a:prstGeom prst="rect">
            <a:avLst/>
          </a:prstGeom>
          <a:noFill/>
          <a:ln/>
        </p:spPr>
        <p:txBody>
          <a:bodyPr wrap="square" lIns="0" tIns="0" rIns="0" bIns="0" rtlCol="0" anchor="t"/>
          <a:lstStyle/>
          <a:p>
            <a:pPr indent="0" marL="0">
              <a:buNone/>
            </a:pPr>
            <a:r>
              <a:rPr lang="en-US" sz="1400" b="1" dirty="0">
                <a:solidFill>
                  <a:schemeClr val="tx1"/>
                </a:solidFill>
              </a:rPr>
              <a:t>Substanzklassen</a:t>
            </a:r>
            <a:endParaRPr lang="en-US" sz="1400" dirty="0"/>
          </a:p>
        </p:txBody>
      </p:sp>
      <p:sp>
        <p:nvSpPr>
          <p:cNvPr id="19" name="text-351"/>
          <p:cNvSpPr txBox="1"/>
          <p:nvPr/>
        </p:nvSpPr>
        <p:spPr>
          <a:xfrm>
            <a:off x="8001000" y="4462272"/>
            <a:ext cx="3642055" cy="457200"/>
          </a:xfrm>
          <a:prstGeom prst="rect">
            <a:avLst/>
          </a:prstGeom>
          <a:noFill/>
          <a:ln/>
        </p:spPr>
        <p:txBody>
          <a:bodyPr wrap="square" lIns="0" tIns="0" rIns="0" bIns="0" rtlCol="0" anchor="t"/>
          <a:lstStyle/>
          <a:p>
            <a:pPr indent="0" marL="0">
              <a:buNone/>
            </a:pPr>
            <a:r>
              <a:rPr lang="en-US" sz="1200" dirty="0">
                <a:solidFill>
                  <a:schemeClr val="accent6"/>
                </a:solidFill>
              </a:rPr>
              <a:t>Weichmacher, Antioxidantien, Slip Agents, Siloxane … aus der Regelbasis</a:t>
            </a:r>
            <a:endParaRPr lang="en-US" sz="1200" dirty="0"/>
          </a:p>
        </p:txBody>
      </p:sp>
      <p:sp>
        <p:nvSpPr>
          <p:cNvPr id="20" name="num-352"/>
          <p:cNvSpPr/>
          <p:nvPr/>
        </p:nvSpPr>
        <p:spPr>
          <a:xfrm>
            <a:off x="7589520" y="4992624"/>
            <a:ext cx="292608" cy="292608"/>
          </a:xfrm>
          <a:prstGeom prst="ellipse">
            <a:avLst/>
          </a:prstGeom>
          <a:solidFill>
            <a:schemeClr val="accent1"/>
          </a:solidFill>
          <a:ln w="15875">
            <a:solidFill>
              <a:srgbClr val="FFFFFF"/>
            </a:solid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5</a:t>
            </a:r>
            <a:endParaRPr lang="en-US" sz="1200" dirty="0"/>
          </a:p>
        </p:txBody>
      </p:sp>
      <p:sp>
        <p:nvSpPr>
          <p:cNvPr id="21" name="text-353"/>
          <p:cNvSpPr txBox="1"/>
          <p:nvPr/>
        </p:nvSpPr>
        <p:spPr>
          <a:xfrm>
            <a:off x="8001000" y="4974336"/>
            <a:ext cx="3642055" cy="274320"/>
          </a:xfrm>
          <a:prstGeom prst="rect">
            <a:avLst/>
          </a:prstGeom>
          <a:noFill/>
          <a:ln/>
        </p:spPr>
        <p:txBody>
          <a:bodyPr wrap="square" lIns="0" tIns="0" rIns="0" bIns="0" rtlCol="0" anchor="t"/>
          <a:lstStyle/>
          <a:p>
            <a:pPr indent="0" marL="0">
              <a:buNone/>
            </a:pPr>
            <a:r>
              <a:rPr lang="en-US" sz="1400" b="1" dirty="0">
                <a:solidFill>
                  <a:schemeClr val="tx1"/>
                </a:solidFill>
              </a:rPr>
              <a:t>Formel und Abgleich</a:t>
            </a:r>
            <a:endParaRPr lang="en-US" sz="1400" dirty="0"/>
          </a:p>
        </p:txBody>
      </p:sp>
      <p:sp>
        <p:nvSpPr>
          <p:cNvPr id="22" name="text-354"/>
          <p:cNvSpPr txBox="1"/>
          <p:nvPr/>
        </p:nvSpPr>
        <p:spPr>
          <a:xfrm>
            <a:off x="8001000" y="5248656"/>
            <a:ext cx="3642055" cy="457200"/>
          </a:xfrm>
          <a:prstGeom prst="rect">
            <a:avLst/>
          </a:prstGeom>
          <a:noFill/>
          <a:ln/>
        </p:spPr>
        <p:txBody>
          <a:bodyPr wrap="square" lIns="0" tIns="0" rIns="0" bIns="0" rtlCol="0" anchor="t"/>
          <a:lstStyle/>
          <a:p>
            <a:pPr indent="0" marL="0">
              <a:buNone/>
            </a:pPr>
            <a:r>
              <a:rPr lang="en-US" sz="1200" dirty="0">
                <a:solidFill>
                  <a:schemeClr val="accent6"/>
                </a:solidFill>
              </a:rPr>
              <a:t>Summenformeln für M, Prüfung gegen RI und Bibliothekstreffer</a:t>
            </a:r>
            <a:endParaRPr lang="en-US" sz="1200" dirty="0"/>
          </a:p>
        </p:txBody>
      </p:sp>
      <p:sp>
        <p:nvSpPr>
          <p:cNvPr id="23" name="card-355"/>
          <p:cNvSpPr/>
          <p:nvPr/>
        </p:nvSpPr>
        <p:spPr>
          <a:xfrm>
            <a:off x="7589520" y="5806440"/>
            <a:ext cx="4053535" cy="411480"/>
          </a:xfrm>
          <a:prstGeom prst="roundRect">
            <a:avLst>
              <a:gd name="adj" fmla="val 17778"/>
            </a:avLst>
          </a:prstGeom>
          <a:solidFill>
            <a:schemeClr val="bg2"/>
          </a:solidFill>
          <a:ln/>
        </p:spPr>
      </p:sp>
      <p:sp>
        <p:nvSpPr>
          <p:cNvPr id="24" name="text-356"/>
          <p:cNvSpPr txBox="1"/>
          <p:nvPr/>
        </p:nvSpPr>
        <p:spPr>
          <a:xfrm>
            <a:off x="7726680" y="5852160"/>
            <a:ext cx="3779215" cy="347472"/>
          </a:xfrm>
          <a:prstGeom prst="rect">
            <a:avLst/>
          </a:prstGeom>
          <a:noFill/>
          <a:ln/>
        </p:spPr>
        <p:txBody>
          <a:bodyPr wrap="square" lIns="0" tIns="0" rIns="0" bIns="0" rtlCol="0" anchor="ctr"/>
          <a:lstStyle/>
          <a:p>
            <a:pPr indent="0" marL="0">
              <a:buNone/>
            </a:pPr>
            <a:r>
              <a:rPr lang="en-US" sz="1000" dirty="0">
                <a:solidFill>
                  <a:schemeClr val="tx2"/>
                </a:solidFill>
              </a:rPr>
              <a:t>Unbeobachtbare Isotopenpeaks unter der Erfassungsschwelle zählen nie als Abwesenheit.</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12 · INTERNE STANDARDS UND QUANTIFIZIERUNG</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Standards finden, Konzentrationen rechnen</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ISTDs werden über Namen, gelerntes Spektrum und Retentionszeit erkannt – auch wenn die Säule gekürzt wurde.</a:t>
            </a:r>
            <a:endParaRPr lang="en-US" sz="1600" dirty="0"/>
          </a:p>
        </p:txBody>
      </p:sp>
      <p:sp>
        <p:nvSpPr>
          <p:cNvPr id="5" name="frame-357"/>
          <p:cNvSpPr/>
          <p:nvPr/>
        </p:nvSpPr>
        <p:spPr>
          <a:xfrm>
            <a:off x="502920" y="1783080"/>
            <a:ext cx="11185855" cy="1327675"/>
          </a:xfrm>
          <a:prstGeom prst="roundRect">
            <a:avLst>
              <a:gd name="adj" fmla="val 3444"/>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Dialog ISTD-Erkennung-358" descr="Dialog ISTD-Erkennung">    </p:cNvPr>
          <p:cNvPicPr>
            <a:picLocks noChangeAspect="1"/>
          </p:cNvPicPr>
          <p:nvPr/>
        </p:nvPicPr>
        <p:blipFill>
          <a:blip r:embed="rId1"/>
          <a:stretch>
            <a:fillRect/>
          </a:stretch>
        </p:blipFill>
        <p:spPr>
          <a:xfrm>
            <a:off x="548640" y="1828800"/>
            <a:ext cx="11094415" cy="1236235"/>
          </a:xfrm>
          <a:prstGeom prst="rect">
            <a:avLst/>
          </a:prstGeom>
        </p:spPr>
      </p:pic>
      <p:sp>
        <p:nvSpPr>
          <p:cNvPr id="7" name="text-359"/>
          <p:cNvSpPr txBox="1"/>
          <p:nvPr/>
        </p:nvSpPr>
        <p:spPr>
          <a:xfrm>
            <a:off x="548640" y="3156475"/>
            <a:ext cx="11094415" cy="274320"/>
          </a:xfrm>
          <a:prstGeom prst="rect">
            <a:avLst/>
          </a:prstGeom>
          <a:noFill/>
          <a:ln/>
        </p:spPr>
        <p:txBody>
          <a:bodyPr wrap="square" lIns="0" tIns="0" rIns="0" bIns="0" rtlCol="0" anchor="t"/>
          <a:lstStyle/>
          <a:p>
            <a:pPr indent="0" marL="0">
              <a:buNone/>
            </a:pPr>
            <a:r>
              <a:rPr lang="en-US" sz="1100" i="1" dirty="0">
                <a:solidFill>
                  <a:schemeClr val="accent6"/>
                </a:solidFill>
              </a:rPr>
              <a:t>Lauf 07: gemeinsamer Run-Shift −0,033 min; IS2 nur „low“ – sein Peak ist gesplittet, ein Nachbar passt fast genauso gut (0,90)</a:t>
            </a:r>
            <a:endParaRPr lang="en-US" sz="1100" dirty="0"/>
          </a:p>
        </p:txBody>
      </p:sp>
      <p:sp>
        <p:nvSpPr>
          <p:cNvPr id="8" name="badge-360"/>
          <p:cNvSpPr/>
          <p:nvPr/>
        </p:nvSpPr>
        <p:spPr>
          <a:xfrm>
            <a:off x="548640" y="3566160"/>
            <a:ext cx="438912" cy="438912"/>
          </a:xfrm>
          <a:prstGeom prst="ellipse">
            <a:avLst/>
          </a:prstGeom>
          <a:solidFill>
            <a:schemeClr val="accent1"/>
          </a:solidFill>
          <a:ln/>
        </p:spPr>
      </p:sp>
      <p:pic>
        <p:nvPicPr>
          <p:cNvPr id="9" name="icon-361" descr="Symbol">    </p:cNvPr>
          <p:cNvPicPr>
            <a:picLocks noChangeAspect="1"/>
          </p:cNvPicPr>
          <p:nvPr/>
        </p:nvPicPr>
        <p:blipFill>
          <a:blip r:embed="rId2"/>
          <a:stretch>
            <a:fillRect/>
          </a:stretch>
        </p:blipFill>
        <p:spPr>
          <a:xfrm>
            <a:off x="645201" y="3662721"/>
            <a:ext cx="245791" cy="245791"/>
          </a:xfrm>
          <a:prstGeom prst="rect">
            <a:avLst/>
          </a:prstGeom>
        </p:spPr>
      </p:pic>
      <p:sp>
        <p:nvSpPr>
          <p:cNvPr id="10" name="text-362"/>
          <p:cNvSpPr txBox="1"/>
          <p:nvPr/>
        </p:nvSpPr>
        <p:spPr>
          <a:xfrm>
            <a:off x="1143000" y="3547872"/>
            <a:ext cx="4480560" cy="274320"/>
          </a:xfrm>
          <a:prstGeom prst="rect">
            <a:avLst/>
          </a:prstGeom>
          <a:noFill/>
          <a:ln/>
        </p:spPr>
        <p:txBody>
          <a:bodyPr wrap="square" lIns="0" tIns="0" rIns="0" bIns="0" rtlCol="0" anchor="t"/>
          <a:lstStyle/>
          <a:p>
            <a:pPr indent="0" marL="0">
              <a:buNone/>
            </a:pPr>
            <a:r>
              <a:rPr lang="en-US" sz="1400" b="1" dirty="0">
                <a:solidFill>
                  <a:schemeClr val="tx1"/>
                </a:solidFill>
              </a:rPr>
              <a:t>Name</a:t>
            </a:r>
            <a:endParaRPr lang="en-US" sz="1400" dirty="0"/>
          </a:p>
        </p:txBody>
      </p:sp>
      <p:sp>
        <p:nvSpPr>
          <p:cNvPr id="11" name="text-363"/>
          <p:cNvSpPr txBox="1"/>
          <p:nvPr/>
        </p:nvSpPr>
        <p:spPr>
          <a:xfrm>
            <a:off x="1143000" y="3822192"/>
            <a:ext cx="4480560" cy="566928"/>
          </a:xfrm>
          <a:prstGeom prst="rect">
            <a:avLst/>
          </a:prstGeom>
          <a:noFill/>
          <a:ln/>
        </p:spPr>
        <p:txBody>
          <a:bodyPr wrap="square" lIns="0" tIns="0" rIns="0" bIns="0" rtlCol="0" anchor="t"/>
          <a:lstStyle/>
          <a:p>
            <a:pPr indent="0" marL="0">
              <a:buNone/>
            </a:pPr>
            <a:r>
              <a:rPr lang="en-US" sz="1200" dirty="0">
                <a:solidFill>
                  <a:schemeClr val="accent6"/>
                </a:solidFill>
              </a:rPr>
              <a:t>alle Treffer, nicht nur der erste; markierte Standards (-d4, ¹³C) treffen nie die native Substanz</a:t>
            </a:r>
            <a:endParaRPr lang="en-US" sz="1200" dirty="0"/>
          </a:p>
        </p:txBody>
      </p:sp>
      <p:sp>
        <p:nvSpPr>
          <p:cNvPr id="12" name="badge-364"/>
          <p:cNvSpPr/>
          <p:nvPr/>
        </p:nvSpPr>
        <p:spPr>
          <a:xfrm>
            <a:off x="548640" y="4453128"/>
            <a:ext cx="438912" cy="438912"/>
          </a:xfrm>
          <a:prstGeom prst="ellipse">
            <a:avLst/>
          </a:prstGeom>
          <a:solidFill>
            <a:schemeClr val="accent1"/>
          </a:solidFill>
          <a:ln/>
        </p:spPr>
      </p:sp>
      <p:pic>
        <p:nvPicPr>
          <p:cNvPr id="13" name="icon-365" descr="Symbol">    </p:cNvPr>
          <p:cNvPicPr>
            <a:picLocks noChangeAspect="1"/>
          </p:cNvPicPr>
          <p:nvPr/>
        </p:nvPicPr>
        <p:blipFill>
          <a:blip r:embed="rId3"/>
          <a:stretch>
            <a:fillRect/>
          </a:stretch>
        </p:blipFill>
        <p:spPr>
          <a:xfrm>
            <a:off x="645201" y="4549689"/>
            <a:ext cx="245791" cy="245791"/>
          </a:xfrm>
          <a:prstGeom prst="rect">
            <a:avLst/>
          </a:prstGeom>
        </p:spPr>
      </p:pic>
      <p:sp>
        <p:nvSpPr>
          <p:cNvPr id="14" name="text-366"/>
          <p:cNvSpPr txBox="1"/>
          <p:nvPr/>
        </p:nvSpPr>
        <p:spPr>
          <a:xfrm>
            <a:off x="1143000" y="4434840"/>
            <a:ext cx="4480560" cy="274320"/>
          </a:xfrm>
          <a:prstGeom prst="rect">
            <a:avLst/>
          </a:prstGeom>
          <a:noFill/>
          <a:ln/>
        </p:spPr>
        <p:txBody>
          <a:bodyPr wrap="square" lIns="0" tIns="0" rIns="0" bIns="0" rtlCol="0" anchor="t"/>
          <a:lstStyle/>
          <a:p>
            <a:pPr indent="0" marL="0">
              <a:buNone/>
            </a:pPr>
            <a:r>
              <a:rPr lang="en-US" sz="1400" b="1" dirty="0">
                <a:solidFill>
                  <a:schemeClr val="tx1"/>
                </a:solidFill>
              </a:rPr>
              <a:t>Spektrum</a:t>
            </a:r>
            <a:endParaRPr lang="en-US" sz="1400" dirty="0"/>
          </a:p>
        </p:txBody>
      </p:sp>
      <p:sp>
        <p:nvSpPr>
          <p:cNvPr id="15" name="text-367"/>
          <p:cNvSpPr txBox="1"/>
          <p:nvPr/>
        </p:nvSpPr>
        <p:spPr>
          <a:xfrm>
            <a:off x="1143000" y="4709160"/>
            <a:ext cx="4480560" cy="566928"/>
          </a:xfrm>
          <a:prstGeom prst="rect">
            <a:avLst/>
          </a:prstGeom>
          <a:noFill/>
          <a:ln/>
        </p:spPr>
        <p:txBody>
          <a:bodyPr wrap="square" lIns="0" tIns="0" rIns="0" bIns="0" rtlCol="0" anchor="t"/>
          <a:lstStyle/>
          <a:p>
            <a:pPr indent="0" marL="0">
              <a:buNone/>
            </a:pPr>
            <a:r>
              <a:rPr lang="en-US" sz="1200" dirty="0">
                <a:solidFill>
                  <a:schemeClr val="accent6"/>
                </a:solidFill>
              </a:rPr>
              <a:t>Match gegen das per „Learn spectrum“ gelernte Referenzspektrum – ohne Bibliothekssuche</a:t>
            </a:r>
            <a:endParaRPr lang="en-US" sz="1200" dirty="0"/>
          </a:p>
        </p:txBody>
      </p:sp>
      <p:sp>
        <p:nvSpPr>
          <p:cNvPr id="16" name="badge-368"/>
          <p:cNvSpPr/>
          <p:nvPr/>
        </p:nvSpPr>
        <p:spPr>
          <a:xfrm>
            <a:off x="548640" y="5340096"/>
            <a:ext cx="438912" cy="438912"/>
          </a:xfrm>
          <a:prstGeom prst="ellipse">
            <a:avLst/>
          </a:prstGeom>
          <a:solidFill>
            <a:schemeClr val="accent1"/>
          </a:solidFill>
          <a:ln/>
        </p:spPr>
      </p:sp>
      <p:pic>
        <p:nvPicPr>
          <p:cNvPr id="17" name="icon-369" descr="Symbol">    </p:cNvPr>
          <p:cNvPicPr>
            <a:picLocks noChangeAspect="1"/>
          </p:cNvPicPr>
          <p:nvPr/>
        </p:nvPicPr>
        <p:blipFill>
          <a:blip r:embed="rId4"/>
          <a:stretch>
            <a:fillRect/>
          </a:stretch>
        </p:blipFill>
        <p:spPr>
          <a:xfrm>
            <a:off x="645201" y="5436657"/>
            <a:ext cx="245791" cy="245791"/>
          </a:xfrm>
          <a:prstGeom prst="rect">
            <a:avLst/>
          </a:prstGeom>
        </p:spPr>
      </p:pic>
      <p:sp>
        <p:nvSpPr>
          <p:cNvPr id="18" name="text-370"/>
          <p:cNvSpPr txBox="1"/>
          <p:nvPr/>
        </p:nvSpPr>
        <p:spPr>
          <a:xfrm>
            <a:off x="1143000" y="5321808"/>
            <a:ext cx="4480560" cy="274320"/>
          </a:xfrm>
          <a:prstGeom prst="rect">
            <a:avLst/>
          </a:prstGeom>
          <a:noFill/>
          <a:ln/>
        </p:spPr>
        <p:txBody>
          <a:bodyPr wrap="square" lIns="0" tIns="0" rIns="0" bIns="0" rtlCol="0" anchor="t"/>
          <a:lstStyle/>
          <a:p>
            <a:pPr indent="0" marL="0">
              <a:buNone/>
            </a:pPr>
            <a:r>
              <a:rPr lang="en-US" sz="1400" b="1" dirty="0">
                <a:solidFill>
                  <a:schemeClr val="tx1"/>
                </a:solidFill>
              </a:rPr>
              <a:t>Retentionszeit</a:t>
            </a:r>
            <a:endParaRPr lang="en-US" sz="1400" dirty="0"/>
          </a:p>
        </p:txBody>
      </p:sp>
      <p:sp>
        <p:nvSpPr>
          <p:cNvPr id="19" name="text-371"/>
          <p:cNvSpPr txBox="1"/>
          <p:nvPr/>
        </p:nvSpPr>
        <p:spPr>
          <a:xfrm>
            <a:off x="1143000" y="5596128"/>
            <a:ext cx="4480560" cy="566928"/>
          </a:xfrm>
          <a:prstGeom prst="rect">
            <a:avLst/>
          </a:prstGeom>
          <a:noFill/>
          <a:ln/>
        </p:spPr>
        <p:txBody>
          <a:bodyPr wrap="square" lIns="0" tIns="0" rIns="0" bIns="0" rtlCol="0" anchor="t"/>
          <a:lstStyle/>
          <a:p>
            <a:pPr indent="0" marL="0">
              <a:buNone/>
            </a:pPr>
            <a:r>
              <a:rPr lang="en-US" sz="1200" dirty="0">
                <a:solidFill>
                  <a:schemeClr val="accent6"/>
                </a:solidFill>
              </a:rPr>
              <a:t>nach einem gemeinsamen Shift aus den sicheren Standards; die Fläche bricht nur Gleichstände</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806440" y="3547872"/>
          <a:ext cx="5836615" cy="914400"/>
        </p:xfrm>
        <a:graphic>
          <a:graphicData uri="http://schemas.openxmlformats.org/drawingml/2006/table">
            <a:tbl>
              <a:tblPr/>
              <a:tblGrid>
                <a:gridCol w="1600200"/>
                <a:gridCol w="2743200"/>
                <a:gridCol w="1490472"/>
              </a:tblGrid>
              <a:tr h="384048">
                <a:tc>
                  <a:txBody>
                    <a:bodyPr/>
                    <a:lstStyle/>
                    <a:p>
                      <a:pPr indent="0" marL="0">
                        <a:buNone/>
                      </a:pPr>
                      <a:r>
                        <a:rPr lang="en-US" sz="1100" b="1" dirty="0">
                          <a:solidFill>
                            <a:srgbClr val="FFFFFF"/>
                          </a:solidFill>
                          <a:latin typeface="+mn-lt" pitchFamily="34" charset="0"/>
                          <a:ea typeface="+mn-lt" pitchFamily="34" charset="-122"/>
                          <a:cs typeface="+mn-lt" pitchFamily="34" charset="-120"/>
                        </a:rPr>
                        <a:t>Modus</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chemeClr val="tx2"/>
                    </a:solidFill>
                  </a:tcPr>
                </a:tc>
                <a:tc>
                  <a:txBody>
                    <a:bodyPr/>
                    <a:lstStyle/>
                    <a:p>
                      <a:pPr indent="0" marL="0">
                        <a:buNone/>
                      </a:pPr>
                      <a:r>
                        <a:rPr lang="en-US" sz="1100" b="1" dirty="0">
                          <a:solidFill>
                            <a:srgbClr val="FFFFFF"/>
                          </a:solidFill>
                          <a:latin typeface="+mn-lt" pitchFamily="34" charset="0"/>
                          <a:ea typeface="+mn-lt" pitchFamily="34" charset="-122"/>
                          <a:cs typeface="+mn-lt" pitchFamily="34" charset="-120"/>
                        </a:rPr>
                        <a:t>Rechnung</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chemeClr val="tx2"/>
                    </a:solidFill>
                  </a:tcPr>
                </a:tc>
                <a:tc>
                  <a:txBody>
                    <a:bodyPr/>
                    <a:lstStyle/>
                    <a:p>
                      <a:pPr indent="0" marL="0">
                        <a:buNone/>
                      </a:pPr>
                      <a:r>
                        <a:rPr lang="en-US" sz="1100" b="1" dirty="0">
                          <a:solidFill>
                            <a:srgbClr val="FFFFFF"/>
                          </a:solidFill>
                          <a:latin typeface="+mn-lt" pitchFamily="34" charset="0"/>
                          <a:ea typeface="+mn-lt" pitchFamily="34" charset="-122"/>
                          <a:cs typeface="+mn-lt" pitchFamily="34" charset="-120"/>
                        </a:rPr>
                        <a:t>Einheit</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chemeClr val="tx2"/>
                    </a:solidFill>
                  </a:tcPr>
                </a:tc>
              </a:tr>
              <a:tr h="384048">
                <a:tc>
                  <a:txBody>
                    <a:bodyPr/>
                    <a:lstStyle/>
                    <a:p>
                      <a:pPr indent="0" marL="0">
                        <a:buNone/>
                      </a:pPr>
                      <a:r>
                        <a:rPr lang="en-US" sz="1100" dirty="0">
                          <a:solidFill>
                            <a:srgbClr val="0F1C24"/>
                          </a:solidFill>
                          <a:latin typeface="+mn-lt" pitchFamily="34" charset="0"/>
                          <a:ea typeface="+mn-lt" pitchFamily="34" charset="-122"/>
                          <a:cs typeface="+mn-lt" pitchFamily="34" charset="-120"/>
                        </a:rPr>
                        <a:t>NIAS-Screening</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100" dirty="0">
                          <a:solidFill>
                            <a:srgbClr val="0F1C24"/>
                          </a:solidFill>
                          <a:latin typeface="+mn-lt" pitchFamily="34" charset="0"/>
                          <a:ea typeface="+mn-lt" pitchFamily="34" charset="-122"/>
                          <a:cs typeface="+mn-lt" pitchFamily="34" charset="-120"/>
                        </a:rPr>
                        <a:t>mg/dm² = korr. FID-Fläche × Ø ISTD-Faktor; mg/kg = mg/dm² × O/V</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100" dirty="0">
                          <a:solidFill>
                            <a:srgbClr val="0F1C24"/>
                          </a:solidFill>
                          <a:latin typeface="+mn-lt" pitchFamily="34" charset="0"/>
                          <a:ea typeface="+mn-lt" pitchFamily="34" charset="-122"/>
                          <a:cs typeface="+mn-lt" pitchFamily="34" charset="-120"/>
                        </a:rPr>
                        <a:t>mg/kg</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F1C24"/>
                          </a:solidFill>
                          <a:latin typeface="+mn-lt" pitchFamily="34" charset="0"/>
                          <a:ea typeface="+mn-lt" pitchFamily="34" charset="-122"/>
                          <a:cs typeface="+mn-lt" pitchFamily="34" charset="-120"/>
                        </a:rPr>
                        <a:t>ISTD-Konzentration</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100" dirty="0">
                          <a:solidFill>
                            <a:srgbClr val="0F1C24"/>
                          </a:solidFill>
                          <a:latin typeface="+mn-lt" pitchFamily="34" charset="0"/>
                          <a:ea typeface="+mn-lt" pitchFamily="34" charset="-122"/>
                          <a:cs typeface="+mn-lt" pitchFamily="34" charset="-120"/>
                        </a:rPr>
                        <a:t>c = korr. Fläche ÷ ISTD-Fläche × c(ISTD)</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100" dirty="0">
                          <a:solidFill>
                            <a:srgbClr val="0F1C24"/>
                          </a:solidFill>
                          <a:latin typeface="+mn-lt" pitchFamily="34" charset="0"/>
                          <a:ea typeface="+mn-lt" pitchFamily="34" charset="-122"/>
                          <a:cs typeface="+mn-lt" pitchFamily="34" charset="-120"/>
                        </a:rPr>
                        <a:t>frei</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F1C24"/>
                          </a:solidFill>
                          <a:latin typeface="+mn-lt" pitchFamily="34" charset="0"/>
                          <a:ea typeface="+mn-lt" pitchFamily="34" charset="-122"/>
                          <a:cs typeface="+mn-lt" pitchFamily="34" charset="-120"/>
                        </a:rPr>
                        <a:t>HS-Screening</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100" dirty="0">
                          <a:solidFill>
                            <a:srgbClr val="0F1C24"/>
                          </a:solidFill>
                          <a:latin typeface="+mn-lt" pitchFamily="34" charset="0"/>
                          <a:ea typeface="+mn-lt" pitchFamily="34" charset="-122"/>
                          <a:cs typeface="+mn-lt" pitchFamily="34" charset="-120"/>
                        </a:rPr>
                        <a:t>µg/HS = korr. TIC-Fläche × Ø µg(ISTD) ÷ Ø Fläche(ISTD)</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100" dirty="0">
                          <a:solidFill>
                            <a:srgbClr val="0F1C24"/>
                          </a:solidFill>
                          <a:latin typeface="+mn-lt" pitchFamily="34" charset="0"/>
                          <a:ea typeface="+mn-lt" pitchFamily="34" charset="-122"/>
                          <a:cs typeface="+mn-lt" pitchFamily="34" charset="-120"/>
                        </a:rPr>
                        <a:t>µg/HS, µg/dm², µg/g</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F1C24"/>
                          </a:solidFill>
                          <a:latin typeface="+mn-lt" pitchFamily="34" charset="0"/>
                          <a:ea typeface="+mn-lt" pitchFamily="34" charset="-122"/>
                          <a:cs typeface="+mn-lt" pitchFamily="34" charset="-120"/>
                        </a:rPr>
                        <a:t>Gesamtextraktion</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100" dirty="0">
                          <a:solidFill>
                            <a:srgbClr val="0F1C24"/>
                          </a:solidFill>
                          <a:latin typeface="+mn-lt" pitchFamily="34" charset="0"/>
                          <a:ea typeface="+mn-lt" pitchFamily="34" charset="-122"/>
                          <a:cs typeface="+mn-lt" pitchFamily="34" charset="-120"/>
                        </a:rPr>
                        <a:t>Gesamtextrakt-Rechnung der NIAS-Parameter</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100" dirty="0">
                          <a:solidFill>
                            <a:srgbClr val="0F1C24"/>
                          </a:solidFill>
                          <a:latin typeface="+mn-lt" pitchFamily="34" charset="0"/>
                          <a:ea typeface="+mn-lt" pitchFamily="34" charset="-122"/>
                          <a:cs typeface="+mn-lt" pitchFamily="34" charset="-120"/>
                        </a:rPr>
                        <a:t>µg/L</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F1C24"/>
                          </a:solidFill>
                          <a:latin typeface="+mn-lt" pitchFamily="34" charset="0"/>
                          <a:ea typeface="+mn-lt" pitchFamily="34" charset="-122"/>
                          <a:cs typeface="+mn-lt" pitchFamily="34" charset="-120"/>
                        </a:rPr>
                        <a:t>Fläche %</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100" dirty="0">
                          <a:solidFill>
                            <a:srgbClr val="0F1C24"/>
                          </a:solidFill>
                          <a:latin typeface="+mn-lt" pitchFamily="34" charset="0"/>
                          <a:ea typeface="+mn-lt" pitchFamily="34" charset="-122"/>
                          <a:cs typeface="+mn-lt" pitchFamily="34" charset="-120"/>
                        </a:rPr>
                        <a:t>Anteil an der Summe der Peakflächen</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indent="0" marL="0">
                        <a:buNone/>
                      </a:pPr>
                      <a:r>
                        <a:rPr lang="en-US" sz="1100" dirty="0">
                          <a:solidFill>
                            <a:srgbClr val="0F1C24"/>
                          </a:solidFill>
                          <a:latin typeface="+mn-lt" pitchFamily="34" charset="0"/>
                          <a:ea typeface="+mn-lt" pitchFamily="34" charset="-122"/>
                          <a:cs typeface="+mn-lt" pitchFamily="34" charset="-120"/>
                        </a:rPr>
                        <a:t>%</a:t>
                      </a:r>
                      <a:endParaRPr lang="en-US" sz="1100" dirty="0">
                        <a:latin typeface="+mn-lt" charset="0"/>
                        <a:ea typeface="+mn-lt" charset="0"/>
                        <a:cs typeface="+mn-lt" charset="0"/>
                      </a:endParaRPr>
                    </a:p>
                  </a:txBody>
                  <a:tcPr marL="73152" marR="73152" marT="36576" marB="36576"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13 · DOPPELBESTIMMUNG</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A und B als ein Datensatz</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Sechs Schritte machen aus zwei Peaklisten eine Substanzliste; nur die Ausnahmen bleiben offen.</a:t>
            </a:r>
            <a:endParaRPr lang="en-US" sz="1600" dirty="0"/>
          </a:p>
        </p:txBody>
      </p:sp>
      <p:sp>
        <p:nvSpPr>
          <p:cNvPr id="5" name="step-372"/>
          <p:cNvSpPr/>
          <p:nvPr/>
        </p:nvSpPr>
        <p:spPr>
          <a:xfrm>
            <a:off x="548640" y="1810512"/>
            <a:ext cx="1910029" cy="457200"/>
          </a:xfrm>
          <a:prstGeom prst="homePlate">
            <a:avLst/>
          </a:prstGeom>
          <a:solidFill>
            <a:schemeClr val="accent1"/>
          </a:solidFill>
          <a:ln w="12700">
            <a:solidFill>
              <a:srgbClr val="FFFFFF"/>
            </a:solidFill>
          </a:ln>
        </p:spPr>
        <p:txBody>
          <a:bodyPr wrap="square" lIns="0" tIns="0" rIns="0" bIns="0" rtlCol="0" anchor="ctr"/>
          <a:lstStyle/>
          <a:p>
            <a:pPr algn="ctr" indent="0" marL="0">
              <a:buNone/>
            </a:pPr>
            <a:r>
              <a:rPr lang="en-US" sz="1300" b="1" dirty="0">
                <a:solidFill>
                  <a:srgbClr val="FFFFFF"/>
                </a:solidFill>
              </a:rPr>
              <a:t>1  Drift</a:t>
            </a:r>
            <a:endParaRPr lang="en-US" sz="1300" dirty="0"/>
          </a:p>
        </p:txBody>
      </p:sp>
      <p:sp>
        <p:nvSpPr>
          <p:cNvPr id="6" name="step-373"/>
          <p:cNvSpPr/>
          <p:nvPr/>
        </p:nvSpPr>
        <p:spPr>
          <a:xfrm>
            <a:off x="2385517" y="1810512"/>
            <a:ext cx="1910029" cy="457200"/>
          </a:xfrm>
          <a:prstGeom prst="chevron">
            <a:avLst/>
          </a:prstGeom>
          <a:solidFill>
            <a:schemeClr val="accent1"/>
          </a:solidFill>
          <a:ln w="12700">
            <a:solidFill>
              <a:srgbClr val="FFFFFF"/>
            </a:solidFill>
          </a:ln>
        </p:spPr>
        <p:txBody>
          <a:bodyPr wrap="square" lIns="0" tIns="0" rIns="0" bIns="0" rtlCol="0" anchor="ctr"/>
          <a:lstStyle/>
          <a:p>
            <a:pPr algn="ctr" indent="0" marL="0">
              <a:buNone/>
            </a:pPr>
            <a:r>
              <a:rPr lang="en-US" sz="1300" b="1" dirty="0">
                <a:solidFill>
                  <a:srgbClr val="FFFFFF"/>
                </a:solidFill>
              </a:rPr>
              <a:t>2  Pairing</a:t>
            </a:r>
            <a:endParaRPr lang="en-US" sz="1300" dirty="0"/>
          </a:p>
        </p:txBody>
      </p:sp>
      <p:sp>
        <p:nvSpPr>
          <p:cNvPr id="7" name="step-374"/>
          <p:cNvSpPr/>
          <p:nvPr/>
        </p:nvSpPr>
        <p:spPr>
          <a:xfrm>
            <a:off x="4222394" y="1810512"/>
            <a:ext cx="1910029" cy="457200"/>
          </a:xfrm>
          <a:prstGeom prst="chevron">
            <a:avLst/>
          </a:prstGeom>
          <a:solidFill>
            <a:schemeClr val="accent1"/>
          </a:solidFill>
          <a:ln w="12700">
            <a:solidFill>
              <a:srgbClr val="FFFFFF"/>
            </a:solidFill>
          </a:ln>
        </p:spPr>
        <p:txBody>
          <a:bodyPr wrap="square" lIns="0" tIns="0" rIns="0" bIns="0" rtlCol="0" anchor="ctr"/>
          <a:lstStyle/>
          <a:p>
            <a:pPr algn="ctr" indent="0" marL="0">
              <a:buNone/>
            </a:pPr>
            <a:r>
              <a:rPr lang="en-US" sz="1300" b="1" dirty="0">
                <a:solidFill>
                  <a:srgbClr val="FFFFFF"/>
                </a:solidFill>
              </a:rPr>
              <a:t>3  Gap Filling</a:t>
            </a:r>
            <a:endParaRPr lang="en-US" sz="1300" dirty="0"/>
          </a:p>
        </p:txBody>
      </p:sp>
      <p:sp>
        <p:nvSpPr>
          <p:cNvPr id="8" name="step-375"/>
          <p:cNvSpPr/>
          <p:nvPr/>
        </p:nvSpPr>
        <p:spPr>
          <a:xfrm>
            <a:off x="6059272" y="1810512"/>
            <a:ext cx="1910029" cy="457200"/>
          </a:xfrm>
          <a:prstGeom prst="chevron">
            <a:avLst/>
          </a:prstGeom>
          <a:solidFill>
            <a:schemeClr val="tx2"/>
          </a:solidFill>
          <a:ln w="12700">
            <a:solidFill>
              <a:srgbClr val="FFFFFF"/>
            </a:solidFill>
          </a:ln>
        </p:spPr>
        <p:txBody>
          <a:bodyPr wrap="square" lIns="0" tIns="0" rIns="0" bIns="0" rtlCol="0" anchor="ctr"/>
          <a:lstStyle/>
          <a:p>
            <a:pPr algn="ctr" indent="0" marL="0">
              <a:buNone/>
            </a:pPr>
            <a:r>
              <a:rPr lang="en-US" sz="1300" b="1" dirty="0">
                <a:solidFill>
                  <a:srgbClr val="FFFFFF"/>
                </a:solidFill>
              </a:rPr>
              <a:t>4  Ein Name</a:t>
            </a:r>
            <a:endParaRPr lang="en-US" sz="1300" dirty="0"/>
          </a:p>
        </p:txBody>
      </p:sp>
      <p:sp>
        <p:nvSpPr>
          <p:cNvPr id="9" name="step-376"/>
          <p:cNvSpPr/>
          <p:nvPr/>
        </p:nvSpPr>
        <p:spPr>
          <a:xfrm>
            <a:off x="7896149" y="1810512"/>
            <a:ext cx="1910029" cy="457200"/>
          </a:xfrm>
          <a:prstGeom prst="chevron">
            <a:avLst/>
          </a:prstGeom>
          <a:solidFill>
            <a:schemeClr val="tx2"/>
          </a:solidFill>
          <a:ln w="12700">
            <a:solidFill>
              <a:srgbClr val="FFFFFF"/>
            </a:solidFill>
          </a:ln>
        </p:spPr>
        <p:txBody>
          <a:bodyPr wrap="square" lIns="0" tIns="0" rIns="0" bIns="0" rtlCol="0" anchor="ctr"/>
          <a:lstStyle/>
          <a:p>
            <a:pPr algn="ctr" indent="0" marL="0">
              <a:buNone/>
            </a:pPr>
            <a:r>
              <a:rPr lang="en-US" sz="1300" b="1" dirty="0">
                <a:solidFill>
                  <a:srgbClr val="FFFFFF"/>
                </a:solidFill>
              </a:rPr>
              <a:t>5  Grenzen</a:t>
            </a:r>
            <a:endParaRPr lang="en-US" sz="1300" dirty="0"/>
          </a:p>
        </p:txBody>
      </p:sp>
      <p:sp>
        <p:nvSpPr>
          <p:cNvPr id="10" name="step-377"/>
          <p:cNvSpPr/>
          <p:nvPr/>
        </p:nvSpPr>
        <p:spPr>
          <a:xfrm>
            <a:off x="9733026" y="1810512"/>
            <a:ext cx="1910029" cy="457200"/>
          </a:xfrm>
          <a:prstGeom prst="chevron">
            <a:avLst/>
          </a:prstGeom>
          <a:solidFill>
            <a:schemeClr val="accent3"/>
          </a:solidFill>
          <a:ln w="12700">
            <a:solidFill>
              <a:srgbClr val="FFFFFF"/>
            </a:solidFill>
          </a:ln>
        </p:spPr>
        <p:txBody>
          <a:bodyPr wrap="square" lIns="0" tIns="0" rIns="0" bIns="0" rtlCol="0" anchor="ctr"/>
          <a:lstStyle/>
          <a:p>
            <a:pPr algn="ctr" indent="0" marL="0">
              <a:buNone/>
            </a:pPr>
            <a:r>
              <a:rPr lang="en-US" sz="1300" b="1" dirty="0">
                <a:solidFill>
                  <a:srgbClr val="FFFFFF"/>
                </a:solidFill>
              </a:rPr>
              <a:t>6  Ampel</a:t>
            </a:r>
            <a:endParaRPr lang="en-US" sz="1300" dirty="0"/>
          </a:p>
        </p:txBody>
      </p:sp>
      <p:sp>
        <p:nvSpPr>
          <p:cNvPr id="11" name="frame-378"/>
          <p:cNvSpPr/>
          <p:nvPr/>
        </p:nvSpPr>
        <p:spPr>
          <a:xfrm>
            <a:off x="502920" y="2468880"/>
            <a:ext cx="7315200" cy="3372231"/>
          </a:xfrm>
          <a:prstGeom prst="roundRect">
            <a:avLst>
              <a:gd name="adj" fmla="val 1356"/>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12" name="Schema Drift-Karte und Pairing-379" descr="Schema Drift-Karte und Pairing">    </p:cNvPr>
          <p:cNvPicPr>
            <a:picLocks noChangeAspect="1"/>
          </p:cNvPicPr>
          <p:nvPr/>
        </p:nvPicPr>
        <p:blipFill>
          <a:blip r:embed="rId1"/>
          <a:stretch>
            <a:fillRect/>
          </a:stretch>
        </p:blipFill>
        <p:spPr>
          <a:xfrm>
            <a:off x="548640" y="2514600"/>
            <a:ext cx="7223760" cy="3280791"/>
          </a:xfrm>
          <a:prstGeom prst="rect">
            <a:avLst/>
          </a:prstGeom>
        </p:spPr>
      </p:pic>
      <p:sp>
        <p:nvSpPr>
          <p:cNvPr id="13" name="text-380"/>
          <p:cNvSpPr txBox="1"/>
          <p:nvPr/>
        </p:nvSpPr>
        <p:spPr>
          <a:xfrm>
            <a:off x="548640" y="5886831"/>
            <a:ext cx="7223760" cy="274320"/>
          </a:xfrm>
          <a:prstGeom prst="rect">
            <a:avLst/>
          </a:prstGeom>
          <a:noFill/>
          <a:ln/>
        </p:spPr>
        <p:txBody>
          <a:bodyPr wrap="square" lIns="0" tIns="0" rIns="0" bIns="0" rtlCol="0" anchor="t"/>
          <a:lstStyle/>
          <a:p>
            <a:pPr indent="0" marL="0">
              <a:buNone/>
            </a:pPr>
            <a:r>
              <a:rPr lang="en-US" sz="1100" i="1" dirty="0">
                <a:solidFill>
                  <a:schemeClr val="accent6"/>
                </a:solidFill>
              </a:rPr>
              <a:t>Pseudospektren: nur mit dem Peak korrelierende Ionen (Pearson ≥ 0,8); Score nach dem mzmine-GC-Aligner</a:t>
            </a:r>
            <a:endParaRPr lang="en-US" sz="1100" dirty="0"/>
          </a:p>
        </p:txBody>
      </p:sp>
      <p:sp>
        <p:nvSpPr>
          <p:cNvPr id="14" name="text-381"/>
          <p:cNvSpPr txBox="1"/>
          <p:nvPr/>
        </p:nvSpPr>
        <p:spPr>
          <a:xfrm>
            <a:off x="8183880" y="2514600"/>
            <a:ext cx="3459175" cy="274320"/>
          </a:xfrm>
          <a:prstGeom prst="rect">
            <a:avLst/>
          </a:prstGeom>
          <a:noFill/>
          <a:ln/>
        </p:spPr>
        <p:txBody>
          <a:bodyPr wrap="square" lIns="0" tIns="0" rIns="0" bIns="0" rtlCol="0" anchor="t"/>
          <a:lstStyle/>
          <a:p>
            <a:pPr indent="0" marL="0">
              <a:buNone/>
            </a:pPr>
            <a:r>
              <a:rPr lang="en-US" sz="1500" b="1" dirty="0">
                <a:solidFill>
                  <a:schemeClr val="tx2"/>
                </a:solidFill>
                <a:latin typeface="+mj-lt" pitchFamily="34" charset="0"/>
                <a:ea typeface="+mj-lt" pitchFamily="34" charset="-122"/>
                <a:cs typeface="+mj-lt" pitchFamily="34" charset="-120"/>
              </a:rPr>
              <a:t>4 · Ein Name</a:t>
            </a:r>
            <a:endParaRPr lang="en-US" sz="1500" dirty="0"/>
          </a:p>
        </p:txBody>
      </p:sp>
      <p:sp>
        <p:nvSpPr>
          <p:cNvPr id="15" name="text-382"/>
          <p:cNvSpPr txBox="1"/>
          <p:nvPr/>
        </p:nvSpPr>
        <p:spPr>
          <a:xfrm>
            <a:off x="8183880" y="2816352"/>
            <a:ext cx="3459175" cy="868680"/>
          </a:xfrm>
          <a:prstGeom prst="rect">
            <a:avLst/>
          </a:prstGeom>
          <a:noFill/>
          <a:ln/>
        </p:spPr>
        <p:txBody>
          <a:bodyPr wrap="square" lIns="0" tIns="0" rIns="0" bIns="0" rtlCol="0" anchor="t"/>
          <a:lstStyle/>
          <a:p>
            <a:pPr indent="0" marL="0">
              <a:buNone/>
            </a:pPr>
            <a:r>
              <a:rPr lang="en-US" sz="1300" dirty="0">
                <a:solidFill>
                  <a:schemeClr val="tx1"/>
                </a:solidFill>
              </a:rPr>
              <a:t>Konsensspektrum erneut gesucht; der Kandidat muss ≥ 3 Punkte führen und in beiden Top 3 stehen.</a:t>
            </a:r>
            <a:endParaRPr lang="en-US" sz="1300" dirty="0"/>
          </a:p>
        </p:txBody>
      </p:sp>
      <p:sp>
        <p:nvSpPr>
          <p:cNvPr id="16" name="text-383"/>
          <p:cNvSpPr txBox="1"/>
          <p:nvPr/>
        </p:nvSpPr>
        <p:spPr>
          <a:xfrm>
            <a:off x="8183880" y="3721608"/>
            <a:ext cx="3459175" cy="274320"/>
          </a:xfrm>
          <a:prstGeom prst="rect">
            <a:avLst/>
          </a:prstGeom>
          <a:noFill/>
          <a:ln/>
        </p:spPr>
        <p:txBody>
          <a:bodyPr wrap="square" lIns="0" tIns="0" rIns="0" bIns="0" rtlCol="0" anchor="t"/>
          <a:lstStyle/>
          <a:p>
            <a:pPr indent="0" marL="0">
              <a:buNone/>
            </a:pPr>
            <a:r>
              <a:rPr lang="en-US" sz="1500" b="1" dirty="0">
                <a:solidFill>
                  <a:schemeClr val="tx2"/>
                </a:solidFill>
                <a:latin typeface="+mj-lt" pitchFamily="34" charset="0"/>
                <a:ea typeface="+mj-lt" pitchFamily="34" charset="-122"/>
                <a:cs typeface="+mj-lt" pitchFamily="34" charset="-120"/>
              </a:rPr>
              <a:t>5 · Gleiche Grenzen</a:t>
            </a:r>
            <a:endParaRPr lang="en-US" sz="1500" dirty="0"/>
          </a:p>
        </p:txBody>
      </p:sp>
      <p:sp>
        <p:nvSpPr>
          <p:cNvPr id="17" name="text-384"/>
          <p:cNvSpPr txBox="1"/>
          <p:nvPr/>
        </p:nvSpPr>
        <p:spPr>
          <a:xfrm>
            <a:off x="8183880" y="4023360"/>
            <a:ext cx="3459175" cy="868680"/>
          </a:xfrm>
          <a:prstGeom prst="rect">
            <a:avLst/>
          </a:prstGeom>
          <a:noFill/>
          <a:ln/>
        </p:spPr>
        <p:txBody>
          <a:bodyPr wrap="square" lIns="0" tIns="0" rIns="0" bIns="0" rtlCol="0" anchor="t"/>
          <a:lstStyle/>
          <a:p>
            <a:pPr indent="0" marL="0">
              <a:buNone/>
            </a:pPr>
            <a:r>
              <a:rPr lang="en-US" sz="1300" dirty="0">
                <a:solidFill>
                  <a:schemeClr val="tx1"/>
                </a:solidFill>
              </a:rPr>
              <a:t>nur bei Basislinien-Grenzen, ohne Nachbarn zu berühren, und wenn A/B ≥ 10 % näher ans typische Verhältnis rückt.</a:t>
            </a:r>
            <a:endParaRPr lang="en-US" sz="1300" dirty="0"/>
          </a:p>
        </p:txBody>
      </p:sp>
      <p:sp>
        <p:nvSpPr>
          <p:cNvPr id="18" name="text-385"/>
          <p:cNvSpPr txBox="1"/>
          <p:nvPr/>
        </p:nvSpPr>
        <p:spPr>
          <a:xfrm>
            <a:off x="8183880" y="4928616"/>
            <a:ext cx="3459175" cy="274320"/>
          </a:xfrm>
          <a:prstGeom prst="rect">
            <a:avLst/>
          </a:prstGeom>
          <a:noFill/>
          <a:ln/>
        </p:spPr>
        <p:txBody>
          <a:bodyPr wrap="square" lIns="0" tIns="0" rIns="0" bIns="0" rtlCol="0" anchor="t"/>
          <a:lstStyle/>
          <a:p>
            <a:pPr indent="0" marL="0">
              <a:buNone/>
            </a:pPr>
            <a:r>
              <a:rPr lang="en-US" sz="1500" b="1" dirty="0">
                <a:solidFill>
                  <a:schemeClr val="accent3"/>
                </a:solidFill>
                <a:latin typeface="+mj-lt" pitchFamily="34" charset="0"/>
                <a:ea typeface="+mj-lt" pitchFamily="34" charset="-122"/>
                <a:cs typeface="+mj-lt" pitchFamily="34" charset="-120"/>
              </a:rPr>
              <a:t>6 · Ampel</a:t>
            </a:r>
            <a:endParaRPr lang="en-US" sz="1500" dirty="0"/>
          </a:p>
        </p:txBody>
      </p:sp>
      <p:sp>
        <p:nvSpPr>
          <p:cNvPr id="19" name="text-386"/>
          <p:cNvSpPr txBox="1"/>
          <p:nvPr/>
        </p:nvSpPr>
        <p:spPr>
          <a:xfrm>
            <a:off x="8183880" y="5230368"/>
            <a:ext cx="3459175" cy="868680"/>
          </a:xfrm>
          <a:prstGeom prst="rect">
            <a:avLst/>
          </a:prstGeom>
          <a:noFill/>
          <a:ln/>
        </p:spPr>
        <p:txBody>
          <a:bodyPr wrap="square" lIns="0" tIns="0" rIns="0" bIns="0" rtlCol="0" anchor="t"/>
          <a:lstStyle/>
          <a:p>
            <a:pPr indent="0" marL="0">
              <a:buNone/>
            </a:pPr>
            <a:r>
              <a:rPr lang="en-US" sz="1300" dirty="0">
                <a:solidFill>
                  <a:schemeClr val="tx1"/>
                </a:solidFill>
              </a:rPr>
              <a:t>grün bestätigt · gelb automatisch konsistent · rot Analytiker · grau nicht berichtet</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14 · DOPPELBESTIMMUNG IM EINSATZ</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Nur Ausnahmen landen beim Analytiker</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Ampel, Chips und F3 führen durch die offenen Entscheidungen; jede Änderung ist auditiert und rückgängig zu machen.</a:t>
            </a:r>
            <a:endParaRPr lang="en-US" sz="1600" dirty="0"/>
          </a:p>
        </p:txBody>
      </p:sp>
      <p:sp>
        <p:nvSpPr>
          <p:cNvPr id="5" name="frame-387"/>
          <p:cNvSpPr/>
          <p:nvPr/>
        </p:nvSpPr>
        <p:spPr>
          <a:xfrm>
            <a:off x="502920" y="1783080"/>
            <a:ext cx="7406640" cy="3726180"/>
          </a:xfrm>
          <a:prstGeom prst="roundRect">
            <a:avLst>
              <a:gd name="adj" fmla="val 1227"/>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Doppelbestimmungs-Arbeitsblatt-388" descr="Doppelbestimmungs-Arbeitsblatt">    </p:cNvPr>
          <p:cNvPicPr>
            <a:picLocks noChangeAspect="1"/>
          </p:cNvPicPr>
          <p:nvPr/>
        </p:nvPicPr>
        <p:blipFill>
          <a:blip r:embed="rId1"/>
          <a:stretch>
            <a:fillRect/>
          </a:stretch>
        </p:blipFill>
        <p:spPr>
          <a:xfrm>
            <a:off x="548640" y="1828800"/>
            <a:ext cx="7315200" cy="3634740"/>
          </a:xfrm>
          <a:prstGeom prst="rect">
            <a:avLst/>
          </a:prstGeom>
        </p:spPr>
      </p:pic>
      <p:sp>
        <p:nvSpPr>
          <p:cNvPr id="7" name="text-389"/>
          <p:cNvSpPr txBox="1"/>
          <p:nvPr/>
        </p:nvSpPr>
        <p:spPr>
          <a:xfrm>
            <a:off x="548640" y="5554980"/>
            <a:ext cx="7315200" cy="411480"/>
          </a:xfrm>
          <a:prstGeom prst="rect">
            <a:avLst/>
          </a:prstGeom>
          <a:noFill/>
          <a:ln/>
        </p:spPr>
        <p:txBody>
          <a:bodyPr wrap="square" lIns="0" tIns="0" rIns="0" bIns="0" rtlCol="0" anchor="t"/>
          <a:lstStyle/>
          <a:p>
            <a:pPr indent="0" marL="0">
              <a:buNone/>
            </a:pPr>
            <a:r>
              <a:rPr lang="en-US" sz="1100" i="1" dirty="0">
                <a:solidFill>
                  <a:schemeClr val="accent6"/>
                </a:solidFill>
              </a:rPr>
              <a:t>Paar 07/11 im Projekt: 69 Substanzen – 5 rot, 9 gelb, 11 grün, 44 grau; Spiegelplot und Spiegelspektren der gewählten Substanz</a:t>
            </a:r>
            <a:endParaRPr lang="en-US" sz="1100" dirty="0"/>
          </a:p>
        </p:txBody>
      </p:sp>
      <p:graphicFrame>
        <p:nvGraphicFramePr>
          <p:cNvPr id="8" name="Chart 0" descr=""/>
          <p:cNvGraphicFramePr/>
          <p:nvPr/>
        </p:nvGraphicFramePr>
        <p:xfrm>
          <a:off x="8183880" y="1691640"/>
          <a:ext cx="3459175" cy="2788920"/>
        </p:xfrm>
        <a:graphic xmlns:a="http://schemas.openxmlformats.org/drawingml/2006/main">
          <a:graphicData uri="http://schemas.openxmlformats.org/drawingml/2006/chart">
            <c:chart xmlns:c="http://schemas.openxmlformats.org/drawingml/2006/chart" r:id="rId2"/>
          </a:graphicData>
        </a:graphic>
      </p:graphicFrame>
      <p:sp>
        <p:nvSpPr>
          <p:cNvPr id="9" name="text-390"/>
          <p:cNvSpPr txBox="1"/>
          <p:nvPr/>
        </p:nvSpPr>
        <p:spPr>
          <a:xfrm>
            <a:off x="8183880" y="4617720"/>
            <a:ext cx="1737360" cy="548640"/>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−57 %</a:t>
            </a:r>
            <a:endParaRPr lang="en-US" sz="3200" dirty="0"/>
          </a:p>
        </p:txBody>
      </p:sp>
      <p:sp>
        <p:nvSpPr>
          <p:cNvPr id="10" name="text-391"/>
          <p:cNvSpPr txBox="1"/>
          <p:nvPr/>
        </p:nvSpPr>
        <p:spPr>
          <a:xfrm>
            <a:off x="9966960" y="4617720"/>
            <a:ext cx="1737360" cy="548640"/>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−56 %</a:t>
            </a:r>
            <a:endParaRPr lang="en-US" sz="3200" dirty="0"/>
          </a:p>
        </p:txBody>
      </p:sp>
      <p:sp>
        <p:nvSpPr>
          <p:cNvPr id="11" name="text-392"/>
          <p:cNvSpPr txBox="1"/>
          <p:nvPr/>
        </p:nvSpPr>
        <p:spPr>
          <a:xfrm>
            <a:off x="8183880" y="5166360"/>
            <a:ext cx="1737360" cy="256032"/>
          </a:xfrm>
          <a:prstGeom prst="rect">
            <a:avLst/>
          </a:prstGeom>
          <a:noFill/>
          <a:ln/>
        </p:spPr>
        <p:txBody>
          <a:bodyPr wrap="square" lIns="0" tIns="0" rIns="0" bIns="0" rtlCol="0" anchor="t"/>
          <a:lstStyle/>
          <a:p>
            <a:pPr indent="0" marL="0">
              <a:buNone/>
            </a:pPr>
            <a:r>
              <a:rPr lang="en-US" sz="1200" dirty="0">
                <a:solidFill>
                  <a:schemeClr val="accent6"/>
                </a:solidFill>
              </a:rPr>
              <a:t>Paar 07/11</a:t>
            </a:r>
            <a:endParaRPr lang="en-US" sz="1200" dirty="0"/>
          </a:p>
        </p:txBody>
      </p:sp>
      <p:sp>
        <p:nvSpPr>
          <p:cNvPr id="12" name="text-393"/>
          <p:cNvSpPr txBox="1"/>
          <p:nvPr/>
        </p:nvSpPr>
        <p:spPr>
          <a:xfrm>
            <a:off x="9966960" y="5166360"/>
            <a:ext cx="1737360" cy="256032"/>
          </a:xfrm>
          <a:prstGeom prst="rect">
            <a:avLst/>
          </a:prstGeom>
          <a:noFill/>
          <a:ln/>
        </p:spPr>
        <p:txBody>
          <a:bodyPr wrap="square" lIns="0" tIns="0" rIns="0" bIns="0" rtlCol="0" anchor="t"/>
          <a:lstStyle/>
          <a:p>
            <a:pPr indent="0" marL="0">
              <a:buNone/>
            </a:pPr>
            <a:r>
              <a:rPr lang="en-US" sz="1200" dirty="0">
                <a:solidFill>
                  <a:schemeClr val="accent6"/>
                </a:solidFill>
              </a:rPr>
              <a:t>Paar 09/12</a:t>
            </a:r>
            <a:endParaRPr lang="en-US" sz="1200" dirty="0"/>
          </a:p>
        </p:txBody>
      </p:sp>
      <p:sp>
        <p:nvSpPr>
          <p:cNvPr id="13" name="text-394"/>
          <p:cNvSpPr txBox="1"/>
          <p:nvPr/>
        </p:nvSpPr>
        <p:spPr>
          <a:xfrm>
            <a:off x="8183880" y="5532120"/>
            <a:ext cx="3459175" cy="640080"/>
          </a:xfrm>
          <a:prstGeom prst="rect">
            <a:avLst/>
          </a:prstGeom>
          <a:noFill/>
          <a:ln/>
        </p:spPr>
        <p:txBody>
          <a:bodyPr wrap="square" lIns="0" tIns="0" rIns="0" bIns="0" rtlCol="0" anchor="t"/>
          <a:lstStyle/>
          <a:p>
            <a:pPr indent="0" marL="0">
              <a:buNone/>
            </a:pPr>
            <a:r>
              <a:rPr lang="en-US" sz="1100" dirty="0">
                <a:solidFill>
                  <a:schemeClr val="accent6"/>
                </a:solidFill>
              </a:rPr>
              <a:t>Benchmark tools/duplicate_benchmark.py. Compare-Klick nach Fit-Cache und Fast Search für Konsensspektren: 5,4–6,4 s → 1,3–1,4 s.</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15 · AUTOMATION</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Unbeaufsichtigt vom Messordner zum Report</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Ein Workflow beobachtet den Messordner, verarbeitet jede fertige Probe und liefert nur passende Reports aus.</a:t>
            </a:r>
            <a:endParaRPr lang="en-US" sz="1600" dirty="0"/>
          </a:p>
        </p:txBody>
      </p:sp>
      <p:sp>
        <p:nvSpPr>
          <p:cNvPr id="5" name="frame-395"/>
          <p:cNvSpPr/>
          <p:nvPr/>
        </p:nvSpPr>
        <p:spPr>
          <a:xfrm>
            <a:off x="502920" y="1828800"/>
            <a:ext cx="7772400" cy="1714353"/>
          </a:xfrm>
          <a:prstGeom prst="roundRect">
            <a:avLst>
              <a:gd name="adj" fmla="val 2667"/>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Workflow-Editor-396" descr="Workflow-Editor">    </p:cNvPr>
          <p:cNvPicPr>
            <a:picLocks noChangeAspect="1"/>
          </p:cNvPicPr>
          <p:nvPr/>
        </p:nvPicPr>
        <p:blipFill>
          <a:blip r:embed="rId1"/>
          <a:stretch>
            <a:fillRect/>
          </a:stretch>
        </p:blipFill>
        <p:spPr>
          <a:xfrm>
            <a:off x="548640" y="1874520"/>
            <a:ext cx="7680960" cy="1622913"/>
          </a:xfrm>
          <a:prstGeom prst="rect">
            <a:avLst/>
          </a:prstGeom>
        </p:spPr>
      </p:pic>
      <p:sp>
        <p:nvSpPr>
          <p:cNvPr id="7" name="text-397"/>
          <p:cNvSpPr txBox="1"/>
          <p:nvPr/>
        </p:nvSpPr>
        <p:spPr>
          <a:xfrm>
            <a:off x="548640" y="3588873"/>
            <a:ext cx="7680960" cy="274320"/>
          </a:xfrm>
          <a:prstGeom prst="rect">
            <a:avLst/>
          </a:prstGeom>
          <a:noFill/>
          <a:ln/>
        </p:spPr>
        <p:txBody>
          <a:bodyPr wrap="square" lIns="0" tIns="0" rIns="0" bIns="0" rtlCol="0" anchor="t"/>
          <a:lstStyle/>
          <a:p>
            <a:pPr indent="0" marL="0">
              <a:buNone/>
            </a:pPr>
            <a:r>
              <a:rPr lang="en-US" sz="1100" i="1" dirty="0">
                <a:solidFill>
                  <a:schemeClr val="accent6"/>
                </a:solidFill>
              </a:rPr>
              <a:t>Workflow „NIAS“ im Editor: Pfeile tragen Filter – hier gelangen nur akzeptierte Reports zum Ziel</a:t>
            </a:r>
            <a:endParaRPr lang="en-US" sz="1100" dirty="0"/>
          </a:p>
        </p:txBody>
      </p:sp>
      <p:sp>
        <p:nvSpPr>
          <p:cNvPr id="8" name="card-398"/>
          <p:cNvSpPr/>
          <p:nvPr/>
        </p:nvSpPr>
        <p:spPr>
          <a:xfrm>
            <a:off x="8595360" y="1828800"/>
            <a:ext cx="3047695" cy="1783080"/>
          </a:xfrm>
          <a:prstGeom prst="roundRect">
            <a:avLst>
              <a:gd name="adj" fmla="val 4103"/>
            </a:avLst>
          </a:prstGeom>
          <a:solidFill>
            <a:schemeClr val="bg2"/>
          </a:solidFill>
          <a:ln/>
        </p:spPr>
      </p:sp>
      <p:sp>
        <p:nvSpPr>
          <p:cNvPr id="9" name="text-399"/>
          <p:cNvSpPr txBox="1"/>
          <p:nvPr/>
        </p:nvSpPr>
        <p:spPr>
          <a:xfrm>
            <a:off x="8778240" y="1938528"/>
            <a:ext cx="2681935" cy="274320"/>
          </a:xfrm>
          <a:prstGeom prst="rect">
            <a:avLst/>
          </a:prstGeom>
          <a:noFill/>
          <a:ln/>
        </p:spPr>
        <p:txBody>
          <a:bodyPr wrap="square" lIns="0" tIns="0" rIns="0" bIns="0" rtlCol="0" anchor="t"/>
          <a:lstStyle/>
          <a:p>
            <a:pPr indent="0" marL="0">
              <a:buNone/>
            </a:pPr>
            <a:r>
              <a:rPr lang="en-US" sz="1400" b="1" dirty="0">
                <a:solidFill>
                  <a:schemeClr val="tx2"/>
                </a:solidFill>
              </a:rPr>
              <a:t>Ziele mit Platzhaltern</a:t>
            </a:r>
            <a:endParaRPr lang="en-US" sz="1400" dirty="0"/>
          </a:p>
        </p:txBody>
      </p:sp>
      <p:sp>
        <p:nvSpPr>
          <p:cNvPr id="10" name="text-400"/>
          <p:cNvSpPr txBox="1"/>
          <p:nvPr/>
        </p:nvSpPr>
        <p:spPr>
          <a:xfrm>
            <a:off x="8778240" y="2240280"/>
            <a:ext cx="2681935" cy="50292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{batch} {sample} {kind} {status} {date} {workflow}</a:t>
            </a:r>
            <a:endParaRPr lang="en-US" sz="1100" dirty="0"/>
          </a:p>
        </p:txBody>
      </p:sp>
      <p:sp>
        <p:nvSpPr>
          <p:cNvPr id="11" name="text-401"/>
          <p:cNvSpPr txBox="1"/>
          <p:nvPr/>
        </p:nvSpPr>
        <p:spPr>
          <a:xfrm>
            <a:off x="8778240" y="2816352"/>
            <a:ext cx="2727655" cy="731520"/>
          </a:xfrm>
          <a:prstGeom prst="rect">
            <a:avLst/>
          </a:prstGeom>
          <a:noFill/>
          <a:ln/>
        </p:spPr>
        <p:txBody>
          <a:bodyPr wrap="square" lIns="0" tIns="0" rIns="0" bIns="0" rtlCol="0" anchor="t"/>
          <a:lstStyle/>
          <a:p>
            <a:pPr indent="0" marL="0">
              <a:buNone/>
            </a:pPr>
            <a:r>
              <a:rPr lang="en-US" sz="1200" dirty="0">
                <a:solidFill>
                  <a:schemeClr val="tx1"/>
                </a:solidFill>
              </a:rPr>
              <a:t>Ein Ziel im beobachteten Rohdatenordner wird abgewiesen.</a:t>
            </a:r>
            <a:endParaRPr lang="en-US" sz="1200" dirty="0"/>
          </a:p>
        </p:txBody>
      </p:sp>
      <p:sp>
        <p:nvSpPr>
          <p:cNvPr id="12" name="card-402"/>
          <p:cNvSpPr/>
          <p:nvPr/>
        </p:nvSpPr>
        <p:spPr>
          <a:xfrm>
            <a:off x="548640" y="3931920"/>
            <a:ext cx="2567864" cy="2011680"/>
          </a:xfrm>
          <a:prstGeom prst="roundRect">
            <a:avLst>
              <a:gd name="adj" fmla="val 3636"/>
            </a:avLst>
          </a:prstGeom>
          <a:solidFill>
            <a:schemeClr val="bg1"/>
          </a:solidFill>
          <a:ln w="12700">
            <a:solidFill>
              <a:srgbClr val="D3DDE2"/>
            </a:solidFill>
            <a:prstDash val="solid"/>
          </a:ln>
        </p:spPr>
      </p:sp>
      <p:sp>
        <p:nvSpPr>
          <p:cNvPr id="13" name="badge-403"/>
          <p:cNvSpPr/>
          <p:nvPr/>
        </p:nvSpPr>
        <p:spPr>
          <a:xfrm>
            <a:off x="749808" y="4133088"/>
            <a:ext cx="457200" cy="457200"/>
          </a:xfrm>
          <a:prstGeom prst="ellipse">
            <a:avLst/>
          </a:prstGeom>
          <a:solidFill>
            <a:schemeClr val="accent1"/>
          </a:solidFill>
          <a:ln/>
        </p:spPr>
      </p:sp>
      <p:pic>
        <p:nvPicPr>
          <p:cNvPr id="14" name="icon-404" descr="Symbol">    </p:cNvPr>
          <p:cNvPicPr>
            <a:picLocks noChangeAspect="1"/>
          </p:cNvPicPr>
          <p:nvPr/>
        </p:nvPicPr>
        <p:blipFill>
          <a:blip r:embed="rId2"/>
          <a:stretch>
            <a:fillRect/>
          </a:stretch>
        </p:blipFill>
        <p:spPr>
          <a:xfrm>
            <a:off x="850392" y="4233672"/>
            <a:ext cx="256032" cy="256032"/>
          </a:xfrm>
          <a:prstGeom prst="rect">
            <a:avLst/>
          </a:prstGeom>
        </p:spPr>
      </p:pic>
      <p:sp>
        <p:nvSpPr>
          <p:cNvPr id="15" name="text-405"/>
          <p:cNvSpPr txBox="1"/>
          <p:nvPr/>
        </p:nvSpPr>
        <p:spPr>
          <a:xfrm>
            <a:off x="1325880" y="4206240"/>
            <a:ext cx="1653464"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Scanner</a:t>
            </a:r>
            <a:endParaRPr lang="en-US" sz="1500" dirty="0"/>
          </a:p>
        </p:txBody>
      </p:sp>
      <p:sp>
        <p:nvSpPr>
          <p:cNvPr id="16" name="text-406"/>
          <p:cNvSpPr txBox="1"/>
          <p:nvPr/>
        </p:nvSpPr>
        <p:spPr>
          <a:xfrm>
            <a:off x="749808" y="4754880"/>
            <a:ext cx="2202104" cy="1325880"/>
          </a:xfrm>
          <a:prstGeom prst="rect">
            <a:avLst/>
          </a:prstGeom>
          <a:noFill/>
          <a:ln/>
        </p:spPr>
        <p:txBody>
          <a:bodyPr wrap="square" lIns="0" tIns="0" rIns="0" bIns="0" rtlCol="0" anchor="t"/>
          <a:lstStyle/>
          <a:p>
            <a:pPr indent="0" marL="0">
              <a:buNone/>
            </a:pPr>
            <a:r>
              <a:rPr lang="en-US" sz="1300" dirty="0">
                <a:solidFill>
                  <a:schemeClr val="tx1"/>
                </a:solidFill>
              </a:rPr>
              <a:t>nur scandir und stat; ein Run ist fertig, wenn stabil, alt genug und die Messung sichtbar endete</a:t>
            </a:r>
            <a:endParaRPr lang="en-US" sz="1300" dirty="0"/>
          </a:p>
        </p:txBody>
      </p:sp>
      <p:sp>
        <p:nvSpPr>
          <p:cNvPr id="17" name="card-407"/>
          <p:cNvSpPr/>
          <p:nvPr/>
        </p:nvSpPr>
        <p:spPr>
          <a:xfrm>
            <a:off x="3390824" y="3931920"/>
            <a:ext cx="2567864" cy="2011680"/>
          </a:xfrm>
          <a:prstGeom prst="roundRect">
            <a:avLst>
              <a:gd name="adj" fmla="val 3636"/>
            </a:avLst>
          </a:prstGeom>
          <a:solidFill>
            <a:schemeClr val="bg1"/>
          </a:solidFill>
          <a:ln w="12700">
            <a:solidFill>
              <a:srgbClr val="D3DDE2"/>
            </a:solidFill>
            <a:prstDash val="solid"/>
          </a:ln>
        </p:spPr>
      </p:sp>
      <p:sp>
        <p:nvSpPr>
          <p:cNvPr id="18" name="badge-408"/>
          <p:cNvSpPr/>
          <p:nvPr/>
        </p:nvSpPr>
        <p:spPr>
          <a:xfrm>
            <a:off x="3591992" y="4133088"/>
            <a:ext cx="457200" cy="457200"/>
          </a:xfrm>
          <a:prstGeom prst="ellipse">
            <a:avLst/>
          </a:prstGeom>
          <a:solidFill>
            <a:schemeClr val="accent1"/>
          </a:solidFill>
          <a:ln/>
        </p:spPr>
      </p:sp>
      <p:pic>
        <p:nvPicPr>
          <p:cNvPr id="19" name="icon-409" descr="Symbol">    </p:cNvPr>
          <p:cNvPicPr>
            <a:picLocks noChangeAspect="1"/>
          </p:cNvPicPr>
          <p:nvPr/>
        </p:nvPicPr>
        <p:blipFill>
          <a:blip r:embed="rId3"/>
          <a:stretch>
            <a:fillRect/>
          </a:stretch>
        </p:blipFill>
        <p:spPr>
          <a:xfrm>
            <a:off x="3692576" y="4233672"/>
            <a:ext cx="256032" cy="256032"/>
          </a:xfrm>
          <a:prstGeom prst="rect">
            <a:avLst/>
          </a:prstGeom>
        </p:spPr>
      </p:pic>
      <p:sp>
        <p:nvSpPr>
          <p:cNvPr id="20" name="text-410"/>
          <p:cNvSpPr txBox="1"/>
          <p:nvPr/>
        </p:nvSpPr>
        <p:spPr>
          <a:xfrm>
            <a:off x="4168064" y="4206240"/>
            <a:ext cx="1653464"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Planer</a:t>
            </a:r>
            <a:endParaRPr lang="en-US" sz="1500" dirty="0"/>
          </a:p>
        </p:txBody>
      </p:sp>
      <p:sp>
        <p:nvSpPr>
          <p:cNvPr id="21" name="text-411"/>
          <p:cNvSpPr txBox="1"/>
          <p:nvPr/>
        </p:nvSpPr>
        <p:spPr>
          <a:xfrm>
            <a:off x="3591992" y="4754880"/>
            <a:ext cx="2202104" cy="1325880"/>
          </a:xfrm>
          <a:prstGeom prst="rect">
            <a:avLst/>
          </a:prstGeom>
          <a:noFill/>
          <a:ln/>
        </p:spPr>
        <p:txBody>
          <a:bodyPr wrap="square" lIns="0" tIns="0" rIns="0" bIns="0" rtlCol="0" anchor="t"/>
          <a:lstStyle/>
          <a:p>
            <a:pPr indent="0" marL="0">
              <a:buNone/>
            </a:pPr>
            <a:r>
              <a:rPr lang="en-US" sz="1300" dirty="0">
                <a:solidFill>
                  <a:schemeClr val="tx1"/>
                </a:solidFill>
              </a:rPr>
              <a:t>Probe = Replikatgruppe; Start erst, wenn A, B und die Blanks des Batch-Ordners fertig sind</a:t>
            </a:r>
            <a:endParaRPr lang="en-US" sz="1300" dirty="0"/>
          </a:p>
        </p:txBody>
      </p:sp>
      <p:sp>
        <p:nvSpPr>
          <p:cNvPr id="22" name="card-412"/>
          <p:cNvSpPr/>
          <p:nvPr/>
        </p:nvSpPr>
        <p:spPr>
          <a:xfrm>
            <a:off x="6233008" y="3931920"/>
            <a:ext cx="2567864" cy="2011680"/>
          </a:xfrm>
          <a:prstGeom prst="roundRect">
            <a:avLst>
              <a:gd name="adj" fmla="val 3636"/>
            </a:avLst>
          </a:prstGeom>
          <a:solidFill>
            <a:schemeClr val="bg1"/>
          </a:solidFill>
          <a:ln w="12700">
            <a:solidFill>
              <a:srgbClr val="D3DDE2"/>
            </a:solidFill>
            <a:prstDash val="solid"/>
          </a:ln>
        </p:spPr>
      </p:sp>
      <p:sp>
        <p:nvSpPr>
          <p:cNvPr id="23" name="badge-413"/>
          <p:cNvSpPr/>
          <p:nvPr/>
        </p:nvSpPr>
        <p:spPr>
          <a:xfrm>
            <a:off x="6434176" y="4133088"/>
            <a:ext cx="457200" cy="457200"/>
          </a:xfrm>
          <a:prstGeom prst="ellipse">
            <a:avLst/>
          </a:prstGeom>
          <a:solidFill>
            <a:schemeClr val="accent1"/>
          </a:solidFill>
          <a:ln/>
        </p:spPr>
      </p:sp>
      <p:pic>
        <p:nvPicPr>
          <p:cNvPr id="24" name="icon-414" descr="Symbol">    </p:cNvPr>
          <p:cNvPicPr>
            <a:picLocks noChangeAspect="1"/>
          </p:cNvPicPr>
          <p:nvPr/>
        </p:nvPicPr>
        <p:blipFill>
          <a:blip r:embed="rId4"/>
          <a:stretch>
            <a:fillRect/>
          </a:stretch>
        </p:blipFill>
        <p:spPr>
          <a:xfrm>
            <a:off x="6534760" y="4233672"/>
            <a:ext cx="256032" cy="256032"/>
          </a:xfrm>
          <a:prstGeom prst="rect">
            <a:avLst/>
          </a:prstGeom>
        </p:spPr>
      </p:pic>
      <p:sp>
        <p:nvSpPr>
          <p:cNvPr id="25" name="text-415"/>
          <p:cNvSpPr txBox="1"/>
          <p:nvPr/>
        </p:nvSpPr>
        <p:spPr>
          <a:xfrm>
            <a:off x="7010248" y="4206240"/>
            <a:ext cx="1653464"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Job-Prozess</a:t>
            </a:r>
            <a:endParaRPr lang="en-US" sz="1500" dirty="0"/>
          </a:p>
        </p:txBody>
      </p:sp>
      <p:sp>
        <p:nvSpPr>
          <p:cNvPr id="26" name="text-416"/>
          <p:cNvSpPr txBox="1"/>
          <p:nvPr/>
        </p:nvSpPr>
        <p:spPr>
          <a:xfrm>
            <a:off x="6434176" y="4754880"/>
            <a:ext cx="2202104" cy="1325880"/>
          </a:xfrm>
          <a:prstGeom prst="rect">
            <a:avLst/>
          </a:prstGeom>
          <a:noFill/>
          <a:ln/>
        </p:spPr>
        <p:txBody>
          <a:bodyPr wrap="square" lIns="0" tIns="0" rIns="0" bIns="0" rtlCol="0" anchor="t"/>
          <a:lstStyle/>
          <a:p>
            <a:pPr indent="0" marL="0">
              <a:buNone/>
            </a:pPr>
            <a:r>
              <a:rPr lang="en-US" sz="1300" dirty="0">
                <a:solidFill>
                  <a:schemeClr val="tx1"/>
                </a:solidFill>
              </a:rPr>
              <a:t>eine Probe je Prozess; ein Windows-Job-Objekt beendet verwaiste Kindprozesse</a:t>
            </a:r>
            <a:endParaRPr lang="en-US" sz="1300" dirty="0"/>
          </a:p>
        </p:txBody>
      </p:sp>
      <p:sp>
        <p:nvSpPr>
          <p:cNvPr id="27" name="card-417"/>
          <p:cNvSpPr/>
          <p:nvPr/>
        </p:nvSpPr>
        <p:spPr>
          <a:xfrm>
            <a:off x="9075191" y="3931920"/>
            <a:ext cx="2567864" cy="2011680"/>
          </a:xfrm>
          <a:prstGeom prst="roundRect">
            <a:avLst>
              <a:gd name="adj" fmla="val 3636"/>
            </a:avLst>
          </a:prstGeom>
          <a:solidFill>
            <a:schemeClr val="bg1"/>
          </a:solidFill>
          <a:ln w="12700">
            <a:solidFill>
              <a:srgbClr val="D3DDE2"/>
            </a:solidFill>
            <a:prstDash val="solid"/>
          </a:ln>
        </p:spPr>
      </p:sp>
      <p:sp>
        <p:nvSpPr>
          <p:cNvPr id="28" name="badge-418"/>
          <p:cNvSpPr/>
          <p:nvPr/>
        </p:nvSpPr>
        <p:spPr>
          <a:xfrm>
            <a:off x="9276359" y="4133088"/>
            <a:ext cx="457200" cy="457200"/>
          </a:xfrm>
          <a:prstGeom prst="ellipse">
            <a:avLst/>
          </a:prstGeom>
          <a:solidFill>
            <a:schemeClr val="accent1"/>
          </a:solidFill>
          <a:ln/>
        </p:spPr>
      </p:sp>
      <p:pic>
        <p:nvPicPr>
          <p:cNvPr id="29" name="icon-419" descr="Symbol">    </p:cNvPr>
          <p:cNvPicPr>
            <a:picLocks noChangeAspect="1"/>
          </p:cNvPicPr>
          <p:nvPr/>
        </p:nvPicPr>
        <p:blipFill>
          <a:blip r:embed="rId5"/>
          <a:stretch>
            <a:fillRect/>
          </a:stretch>
        </p:blipFill>
        <p:spPr>
          <a:xfrm>
            <a:off x="9376943" y="4233672"/>
            <a:ext cx="256032" cy="256032"/>
          </a:xfrm>
          <a:prstGeom prst="rect">
            <a:avLst/>
          </a:prstGeom>
        </p:spPr>
      </p:pic>
      <p:sp>
        <p:nvSpPr>
          <p:cNvPr id="30" name="text-420"/>
          <p:cNvSpPr txBox="1"/>
          <p:nvPr/>
        </p:nvSpPr>
        <p:spPr>
          <a:xfrm>
            <a:off x="9852431" y="4206240"/>
            <a:ext cx="1653464"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Journal</a:t>
            </a:r>
            <a:endParaRPr lang="en-US" sz="1500" dirty="0"/>
          </a:p>
        </p:txBody>
      </p:sp>
      <p:sp>
        <p:nvSpPr>
          <p:cNvPr id="31" name="text-421"/>
          <p:cNvSpPr txBox="1"/>
          <p:nvPr/>
        </p:nvSpPr>
        <p:spPr>
          <a:xfrm>
            <a:off x="9276359" y="4754880"/>
            <a:ext cx="2202104" cy="1325880"/>
          </a:xfrm>
          <a:prstGeom prst="rect">
            <a:avLst/>
          </a:prstGeom>
          <a:noFill/>
          <a:ln/>
        </p:spPr>
        <p:txBody>
          <a:bodyPr wrap="square" lIns="0" tIns="0" rIns="0" bIns="0" rtlCol="0" anchor="t"/>
          <a:lstStyle/>
          <a:p>
            <a:pPr indent="0" marL="0">
              <a:buNone/>
            </a:pPr>
            <a:r>
              <a:rPr lang="en-US" sz="1300" dirty="0">
                <a:solidFill>
                  <a:schemeClr val="tx1"/>
                </a:solidFill>
              </a:rPr>
              <a:t>SQLite im WAL-Modus; Compare-and-Set: Klick und Watcher überschreiben sich nie</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16 · REPORT²</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Regeln entscheiden, was geprüft werden muss</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Jeder automatisch erzeugte Report wird bewertet: ohne Befund akzeptiert, sonst „Control needed“.</a:t>
            </a:r>
            <a:endParaRPr lang="en-US" sz="1600" dirty="0"/>
          </a:p>
        </p:txBody>
      </p:sp>
      <p:sp>
        <p:nvSpPr>
          <p:cNvPr id="5" name="frame-422"/>
          <p:cNvSpPr/>
          <p:nvPr/>
        </p:nvSpPr>
        <p:spPr>
          <a:xfrm>
            <a:off x="502920" y="1783080"/>
            <a:ext cx="7132320" cy="3589877"/>
          </a:xfrm>
          <a:prstGeom prst="roundRect">
            <a:avLst>
              <a:gd name="adj" fmla="val 1274"/>
            </a:avLst>
          </a:prstGeom>
          <a:solidFill>
            <a:schemeClr val="bg1"/>
          </a:solidFill>
          <a:ln w="9525">
            <a:solidFill>
              <a:srgbClr val="D3DDE2"/>
            </a:solidFill>
            <a:prstDash val="solid"/>
          </a:ln>
          <a:effectLst>
            <a:outerShdw sx="100000" sy="100000" kx="0" ky="0" algn="bl" rotWithShape="0" blurRad="127000" dist="31750" dir="5400000">
              <a:srgbClr val="0F1C24">
                <a:alpha val="16000"/>
              </a:srgbClr>
            </a:outerShdw>
          </a:effectLst>
        </p:spPr>
      </p:sp>
      <p:pic>
        <p:nvPicPr>
          <p:cNvPr id="6" name="Report²-Panel mit Report-Vorschau-423" descr="Report²-Panel mit Report-Vorschau">    </p:cNvPr>
          <p:cNvPicPr>
            <a:picLocks noChangeAspect="1"/>
          </p:cNvPicPr>
          <p:nvPr/>
        </p:nvPicPr>
        <p:blipFill>
          <a:blip r:embed="rId1"/>
          <a:stretch>
            <a:fillRect/>
          </a:stretch>
        </p:blipFill>
        <p:spPr>
          <a:xfrm>
            <a:off x="548640" y="1828800"/>
            <a:ext cx="7040880" cy="3498437"/>
          </a:xfrm>
          <a:prstGeom prst="rect">
            <a:avLst/>
          </a:prstGeom>
        </p:spPr>
      </p:pic>
      <p:sp>
        <p:nvSpPr>
          <p:cNvPr id="7" name="text-424"/>
          <p:cNvSpPr txBox="1"/>
          <p:nvPr/>
        </p:nvSpPr>
        <p:spPr>
          <a:xfrm>
            <a:off x="548640" y="5418677"/>
            <a:ext cx="7040880" cy="411480"/>
          </a:xfrm>
          <a:prstGeom prst="rect">
            <a:avLst/>
          </a:prstGeom>
          <a:noFill/>
          <a:ln/>
        </p:spPr>
        <p:txBody>
          <a:bodyPr wrap="square" lIns="0" tIns="0" rIns="0" bIns="0" rtlCol="0" anchor="t"/>
          <a:lstStyle/>
          <a:p>
            <a:pPr indent="0" marL="0">
              <a:buNone/>
            </a:pPr>
            <a:r>
              <a:rPr lang="en-US" sz="1100" i="1" dirty="0">
                <a:solidFill>
                  <a:schemeClr val="accent6"/>
                </a:solidFill>
              </a:rPr>
              <a:t>Archiv: Batch GIOSUN1635_4, Report vom Analytiker akzeptiert (Revision 4), 5 rote und 9 gelbe Substanzen, NIAS-Vorschau</a:t>
            </a:r>
            <a:endParaRPr lang="en-US" sz="1100" dirty="0"/>
          </a:p>
        </p:txBody>
      </p:sp>
      <p:sp>
        <p:nvSpPr>
          <p:cNvPr id="8" name="text-425"/>
          <p:cNvSpPr txBox="1"/>
          <p:nvPr/>
        </p:nvSpPr>
        <p:spPr>
          <a:xfrm>
            <a:off x="7909560" y="1828800"/>
            <a:ext cx="3733495" cy="237744"/>
          </a:xfrm>
          <a:prstGeom prst="rect">
            <a:avLst/>
          </a:prstGeom>
          <a:noFill/>
          <a:ln/>
        </p:spPr>
        <p:txBody>
          <a:bodyPr wrap="square" lIns="0" tIns="0" rIns="0" bIns="0" rtlCol="0" anchor="t"/>
          <a:lstStyle/>
          <a:p>
            <a:pPr indent="0" marL="0">
              <a:buNone/>
            </a:pPr>
            <a:r>
              <a:rPr lang="en-US" sz="1000" b="1" spc="100" kern="0" dirty="0">
                <a:solidFill>
                  <a:schemeClr val="accent6"/>
                </a:solidFill>
              </a:rPr>
              <a:t>STANDARDREGELN → CONTROL NEEDED</a:t>
            </a:r>
            <a:endParaRPr lang="en-US" sz="1000" dirty="0"/>
          </a:p>
        </p:txBody>
      </p:sp>
      <p:sp>
        <p:nvSpPr>
          <p:cNvPr id="9" name="text-426"/>
          <p:cNvSpPr txBox="1"/>
          <p:nvPr/>
        </p:nvSpPr>
        <p:spPr>
          <a:xfrm>
            <a:off x="7909560" y="2121408"/>
            <a:ext cx="3733495" cy="23774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Substanzen zur manuellen Prüfung (unsichere ID, Konflikt, Differenz über dem Limit, Artefakte)</a:t>
            </a:r>
            <a:endParaRPr lang="en-US" sz="1300" dirty="0"/>
          </a:p>
          <a:p>
            <a:pPr marL="177800" indent="-177800">
              <a:spcAft>
                <a:spcPts val="600"/>
              </a:spcAft>
              <a:buSzPct val="100000"/>
              <a:buChar char="•"/>
            </a:pPr>
            <a:r>
              <a:rPr lang="en-US" sz="1300" dirty="0">
                <a:solidFill>
                  <a:schemeClr val="tx1"/>
                </a:solidFill>
              </a:rPr>
              <a:t>SML überschritten</a:t>
            </a:r>
            <a:endParaRPr lang="en-US" sz="1300" dirty="0"/>
          </a:p>
          <a:p>
            <a:pPr marL="177800" indent="-177800">
              <a:spcAft>
                <a:spcPts val="600"/>
              </a:spcAft>
              <a:buSzPct val="100000"/>
              <a:buChar char="•"/>
            </a:pPr>
            <a:r>
              <a:rPr lang="en-US" sz="1300" dirty="0">
                <a:solidFill>
                  <a:schemeClr val="tx1"/>
                </a:solidFill>
              </a:rPr>
              <a:t>ISTD-QC: nicht gefunden, A/B-Abweichung &gt; 50 %, anderer Peak als erkannt</a:t>
            </a:r>
            <a:endParaRPr lang="en-US" sz="1300" dirty="0"/>
          </a:p>
          <a:p>
            <a:pPr marL="177800" indent="-177800">
              <a:spcAft>
                <a:spcPts val="600"/>
              </a:spcAft>
              <a:buSzPct val="100000"/>
              <a:buChar char="•"/>
            </a:pPr>
            <a:r>
              <a:rPr lang="en-US" sz="1300" dirty="0">
                <a:solidFill>
                  <a:schemeClr val="tx1"/>
                </a:solidFill>
              </a:rPr>
              <a:t>rote Substanzen der Doppelbestimmung</a:t>
            </a:r>
            <a:endParaRPr lang="en-US" sz="1300" dirty="0"/>
          </a:p>
          <a:p>
            <a:pPr marL="177800" indent="-177800">
              <a:spcAft>
                <a:spcPts val="600"/>
              </a:spcAft>
              <a:buSzPct val="100000"/>
              <a:buChar char="•"/>
            </a:pPr>
            <a:r>
              <a:rPr lang="en-US" sz="1300" dirty="0">
                <a:solidFill>
                  <a:schemeClr val="tx1"/>
                </a:solidFill>
              </a:rPr>
              <a:t>verarbeitet ohne Batch-Blank</a:t>
            </a:r>
            <a:endParaRPr lang="en-US" sz="1300" dirty="0"/>
          </a:p>
        </p:txBody>
      </p:sp>
      <p:sp>
        <p:nvSpPr>
          <p:cNvPr id="10" name="card-427"/>
          <p:cNvSpPr/>
          <p:nvPr/>
        </p:nvSpPr>
        <p:spPr>
          <a:xfrm>
            <a:off x="7909560" y="4709160"/>
            <a:ext cx="3733495" cy="1417320"/>
          </a:xfrm>
          <a:prstGeom prst="roundRect">
            <a:avLst>
              <a:gd name="adj" fmla="val 5161"/>
            </a:avLst>
          </a:prstGeom>
          <a:solidFill>
            <a:schemeClr val="bg2"/>
          </a:solidFill>
          <a:ln/>
        </p:spPr>
      </p:sp>
      <p:sp>
        <p:nvSpPr>
          <p:cNvPr id="11" name="text-428"/>
          <p:cNvSpPr txBox="1"/>
          <p:nvPr/>
        </p:nvSpPr>
        <p:spPr>
          <a:xfrm>
            <a:off x="8092440" y="4818888"/>
            <a:ext cx="3367735" cy="1234440"/>
          </a:xfrm>
          <a:prstGeom prst="rect">
            <a:avLst/>
          </a:prstGeom>
          <a:noFill/>
          <a:ln/>
        </p:spPr>
        <p:txBody>
          <a:bodyPr wrap="square" lIns="0" tIns="0" rIns="0" bIns="0" rtlCol="0" anchor="t"/>
          <a:lstStyle/>
          <a:p>
            <a:pPr indent="0" marL="0">
              <a:spcAft>
                <a:spcPts val="400"/>
              </a:spcAft>
              <a:buNone/>
            </a:pPr>
            <a:r>
              <a:rPr lang="en-US" sz="1300" b="1" dirty="0">
                <a:solidFill>
                  <a:schemeClr val="tx2"/>
                </a:solidFill>
              </a:rPr>
              <a:t>Analytiker-Workflow</a:t>
            </a:r>
            <a:endParaRPr lang="en-US" sz="1300" dirty="0"/>
          </a:p>
          <a:p>
            <a:pPr indent="0" marL="0">
              <a:spcAft>
                <a:spcPts val="400"/>
              </a:spcAft>
              <a:buNone/>
            </a:pPr>
            <a:r>
              <a:rPr lang="en-US" sz="1300" dirty="0">
                <a:solidFill>
                  <a:schemeClr val="tx1"/>
                </a:solidFill>
              </a:rPr>
              <a:t>Accept mit einem Klick (A), Reject mit Grund (R), Undo-Fenster vor der Auslieferung; „Edit in GC Workspace“ erzeugt eine neue Revision.</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17 · QUALITÄT</a:t>
            </a:r>
            <a:endParaRPr lang="en-US" sz="1200" dirty="0"/>
          </a:p>
        </p:txBody>
      </p:sp>
      <p:sp>
        <p:nvSpPr>
          <p:cNvPr id="3" name="Text 0"/>
          <p:cNvSpPr/>
          <p:nvPr>
            <p:ph idx="101" type="title" hasCustomPrompt="1"/>
          </p:nvPr>
        </p:nvSpPr>
        <p:spPr>
          <a:xfrm>
            <a:off x="548640" y="621792"/>
            <a:ext cx="11094415" cy="566928"/>
          </a:xfrm>
          <a:prstGeom prst="rect">
            <a:avLst/>
          </a:prstGeom>
          <a:noFill/>
          <a:ln/>
        </p:spPr>
        <p:txBody>
          <a:bodyPr wrap="square" lIns="0" tIns="0" rIns="0" bIns="0" rtlCol="0" anchor="t"/>
          <a:lstStyle/>
          <a:p>
            <a:pPr algn="l" indent="0" marL="0">
              <a:buNone/>
            </a:pPr>
            <a:r>
              <a:rPr lang="en-US" sz="3200" dirty="0">
                <a:solidFill>
                  <a:schemeClr val="tx1"/>
                </a:solidFill>
              </a:rPr>
              <a:t>Reproduzierbar by Design</a:t>
            </a:r>
            <a:endParaRPr lang="en-US" sz="3200" dirty="0"/>
          </a:p>
        </p:txBody>
      </p:sp>
      <p:sp>
        <p:nvSpPr>
          <p:cNvPr id="4" name="Text 0"/>
          <p:cNvSpPr/>
          <p:nvPr>
            <p:ph idx="102" type="body" hasCustomPrompt="1"/>
          </p:nvPr>
        </p:nvSpPr>
        <p:spPr>
          <a:xfrm>
            <a:off x="548640" y="1243584"/>
            <a:ext cx="11094415" cy="347472"/>
          </a:xfrm>
          <a:prstGeom prst="rect">
            <a:avLst/>
          </a:prstGeom>
          <a:noFill/>
          <a:ln/>
        </p:spPr>
        <p:txBody>
          <a:bodyPr wrap="square" lIns="0" tIns="0" rIns="0" bIns="0" rtlCol="0" anchor="t"/>
          <a:lstStyle/>
          <a:p>
            <a:pPr algn="l" indent="0" marL="0">
              <a:buNone/>
            </a:pPr>
            <a:r>
              <a:rPr lang="en-US" sz="1600" dirty="0">
                <a:solidFill>
                  <a:schemeClr val="accent6"/>
                </a:solidFill>
              </a:rPr>
              <a:t>Jedes Ergebnis lässt sich aus Rohdaten, Methode und Events nachrechnen – und ist gegen Referenzen getestet.</a:t>
            </a:r>
            <a:endParaRPr lang="en-US" sz="1600" dirty="0"/>
          </a:p>
        </p:txBody>
      </p:sp>
      <p:sp>
        <p:nvSpPr>
          <p:cNvPr id="5" name="card-429"/>
          <p:cNvSpPr/>
          <p:nvPr/>
        </p:nvSpPr>
        <p:spPr>
          <a:xfrm>
            <a:off x="548640" y="1828800"/>
            <a:ext cx="3515258" cy="2057400"/>
          </a:xfrm>
          <a:prstGeom prst="roundRect">
            <a:avLst>
              <a:gd name="adj" fmla="val 3556"/>
            </a:avLst>
          </a:prstGeom>
          <a:solidFill>
            <a:schemeClr val="bg1"/>
          </a:solidFill>
          <a:ln w="12700">
            <a:solidFill>
              <a:srgbClr val="D3DDE2"/>
            </a:solidFill>
            <a:prstDash val="solid"/>
          </a:ln>
        </p:spPr>
      </p:sp>
      <p:sp>
        <p:nvSpPr>
          <p:cNvPr id="6" name="badge-430"/>
          <p:cNvSpPr/>
          <p:nvPr/>
        </p:nvSpPr>
        <p:spPr>
          <a:xfrm>
            <a:off x="777240" y="2057400"/>
            <a:ext cx="512064" cy="512064"/>
          </a:xfrm>
          <a:prstGeom prst="ellipse">
            <a:avLst/>
          </a:prstGeom>
          <a:solidFill>
            <a:schemeClr val="accent1"/>
          </a:solidFill>
          <a:ln/>
        </p:spPr>
      </p:sp>
      <p:pic>
        <p:nvPicPr>
          <p:cNvPr id="7" name="icon-431" descr="Symbol">    </p:cNvPr>
          <p:cNvPicPr>
            <a:picLocks noChangeAspect="1"/>
          </p:cNvPicPr>
          <p:nvPr/>
        </p:nvPicPr>
        <p:blipFill>
          <a:blip r:embed="rId1"/>
          <a:stretch>
            <a:fillRect/>
          </a:stretch>
        </p:blipFill>
        <p:spPr>
          <a:xfrm>
            <a:off x="889894" y="2170054"/>
            <a:ext cx="286756" cy="286756"/>
          </a:xfrm>
          <a:prstGeom prst="rect">
            <a:avLst/>
          </a:prstGeom>
        </p:spPr>
      </p:pic>
      <p:sp>
        <p:nvSpPr>
          <p:cNvPr id="8" name="text-432"/>
          <p:cNvSpPr txBox="1"/>
          <p:nvPr/>
        </p:nvSpPr>
        <p:spPr>
          <a:xfrm>
            <a:off x="777240" y="2724912"/>
            <a:ext cx="305805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Audit-Trail und Undo</a:t>
            </a:r>
            <a:endParaRPr lang="en-US" sz="1500" dirty="0"/>
          </a:p>
        </p:txBody>
      </p:sp>
      <p:sp>
        <p:nvSpPr>
          <p:cNvPr id="9" name="text-433"/>
          <p:cNvSpPr txBox="1"/>
          <p:nvPr/>
        </p:nvSpPr>
        <p:spPr>
          <a:xfrm>
            <a:off x="777240" y="3063240"/>
            <a:ext cx="3103778" cy="749808"/>
          </a:xfrm>
          <a:prstGeom prst="rect">
            <a:avLst/>
          </a:prstGeom>
          <a:noFill/>
          <a:ln/>
        </p:spPr>
        <p:txBody>
          <a:bodyPr wrap="square" lIns="0" tIns="0" rIns="0" bIns="0" rtlCol="0" anchor="t"/>
          <a:lstStyle/>
          <a:p>
            <a:pPr indent="0" marL="0">
              <a:buNone/>
            </a:pPr>
            <a:r>
              <a:rPr lang="en-US" sz="1300" dirty="0">
                <a:solidFill>
                  <a:schemeClr val="tx1"/>
                </a:solidFill>
              </a:rPr>
              <a:t>Jede Änderung als Befehl mit Vorher, Nachher, Benutzer und Zeit; Undo-Stapel je Lauf.</a:t>
            </a:r>
            <a:endParaRPr lang="en-US" sz="1300" dirty="0"/>
          </a:p>
        </p:txBody>
      </p:sp>
      <p:sp>
        <p:nvSpPr>
          <p:cNvPr id="10" name="card-434"/>
          <p:cNvSpPr/>
          <p:nvPr/>
        </p:nvSpPr>
        <p:spPr>
          <a:xfrm>
            <a:off x="4338218" y="1828800"/>
            <a:ext cx="3515258" cy="2057400"/>
          </a:xfrm>
          <a:prstGeom prst="roundRect">
            <a:avLst>
              <a:gd name="adj" fmla="val 3556"/>
            </a:avLst>
          </a:prstGeom>
          <a:solidFill>
            <a:schemeClr val="bg2"/>
          </a:solidFill>
          <a:ln/>
        </p:spPr>
      </p:sp>
      <p:sp>
        <p:nvSpPr>
          <p:cNvPr id="11" name="badge-435"/>
          <p:cNvSpPr/>
          <p:nvPr/>
        </p:nvSpPr>
        <p:spPr>
          <a:xfrm>
            <a:off x="4566818" y="2057400"/>
            <a:ext cx="512064" cy="512064"/>
          </a:xfrm>
          <a:prstGeom prst="ellipse">
            <a:avLst/>
          </a:prstGeom>
          <a:solidFill>
            <a:schemeClr val="accent1"/>
          </a:solidFill>
          <a:ln/>
        </p:spPr>
      </p:sp>
      <p:pic>
        <p:nvPicPr>
          <p:cNvPr id="12" name="icon-436" descr="Symbol">    </p:cNvPr>
          <p:cNvPicPr>
            <a:picLocks noChangeAspect="1"/>
          </p:cNvPicPr>
          <p:nvPr/>
        </p:nvPicPr>
        <p:blipFill>
          <a:blip r:embed="rId2"/>
          <a:stretch>
            <a:fillRect/>
          </a:stretch>
        </p:blipFill>
        <p:spPr>
          <a:xfrm>
            <a:off x="4679472" y="2170054"/>
            <a:ext cx="286756" cy="286756"/>
          </a:xfrm>
          <a:prstGeom prst="rect">
            <a:avLst/>
          </a:prstGeom>
        </p:spPr>
      </p:pic>
      <p:sp>
        <p:nvSpPr>
          <p:cNvPr id="13" name="text-437"/>
          <p:cNvSpPr txBox="1"/>
          <p:nvPr/>
        </p:nvSpPr>
        <p:spPr>
          <a:xfrm>
            <a:off x="4566818" y="2724912"/>
            <a:ext cx="305805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Projekte nachrechnen</a:t>
            </a:r>
            <a:endParaRPr lang="en-US" sz="1500" dirty="0"/>
          </a:p>
        </p:txBody>
      </p:sp>
      <p:sp>
        <p:nvSpPr>
          <p:cNvPr id="14" name="text-438"/>
          <p:cNvSpPr txBox="1"/>
          <p:nvPr/>
        </p:nvSpPr>
        <p:spPr>
          <a:xfrm>
            <a:off x="4566818" y="3063240"/>
            <a:ext cx="3103778" cy="749808"/>
          </a:xfrm>
          <a:prstGeom prst="rect">
            <a:avLst/>
          </a:prstGeom>
          <a:noFill/>
          <a:ln/>
        </p:spPr>
        <p:txBody>
          <a:bodyPr wrap="square" lIns="0" tIns="0" rIns="0" bIns="0" rtlCol="0" anchor="t"/>
          <a:lstStyle/>
          <a:p>
            <a:pPr indent="0" marL="0">
              <a:buNone/>
            </a:pPr>
            <a:r>
              <a:rPr lang="en-US" sz="1300" dirty="0">
                <a:solidFill>
                  <a:schemeClr val="tx1"/>
                </a:solidFill>
              </a:rPr>
              <a:t>Integration wird beim Öffnen neu berechnet; der gespeicherte Digest meldet jede Abweichung.</a:t>
            </a:r>
            <a:endParaRPr lang="en-US" sz="1300" dirty="0"/>
          </a:p>
        </p:txBody>
      </p:sp>
      <p:sp>
        <p:nvSpPr>
          <p:cNvPr id="15" name="card-439"/>
          <p:cNvSpPr/>
          <p:nvPr/>
        </p:nvSpPr>
        <p:spPr>
          <a:xfrm>
            <a:off x="8127797" y="1828800"/>
            <a:ext cx="3515258" cy="2057400"/>
          </a:xfrm>
          <a:prstGeom prst="roundRect">
            <a:avLst>
              <a:gd name="adj" fmla="val 3556"/>
            </a:avLst>
          </a:prstGeom>
          <a:solidFill>
            <a:schemeClr val="bg1"/>
          </a:solidFill>
          <a:ln w="12700">
            <a:solidFill>
              <a:srgbClr val="D3DDE2"/>
            </a:solidFill>
            <a:prstDash val="solid"/>
          </a:ln>
        </p:spPr>
      </p:sp>
      <p:sp>
        <p:nvSpPr>
          <p:cNvPr id="16" name="badge-440"/>
          <p:cNvSpPr/>
          <p:nvPr/>
        </p:nvSpPr>
        <p:spPr>
          <a:xfrm>
            <a:off x="8356397" y="2057400"/>
            <a:ext cx="512064" cy="512064"/>
          </a:xfrm>
          <a:prstGeom prst="ellipse">
            <a:avLst/>
          </a:prstGeom>
          <a:solidFill>
            <a:schemeClr val="accent1"/>
          </a:solidFill>
          <a:ln/>
        </p:spPr>
      </p:sp>
      <p:pic>
        <p:nvPicPr>
          <p:cNvPr id="17" name="icon-441" descr="Symbol">    </p:cNvPr>
          <p:cNvPicPr>
            <a:picLocks noChangeAspect="1"/>
          </p:cNvPicPr>
          <p:nvPr/>
        </p:nvPicPr>
        <p:blipFill>
          <a:blip r:embed="rId3"/>
          <a:stretch>
            <a:fillRect/>
          </a:stretch>
        </p:blipFill>
        <p:spPr>
          <a:xfrm>
            <a:off x="8469051" y="2170054"/>
            <a:ext cx="286756" cy="286756"/>
          </a:xfrm>
          <a:prstGeom prst="rect">
            <a:avLst/>
          </a:prstGeom>
        </p:spPr>
      </p:pic>
      <p:sp>
        <p:nvSpPr>
          <p:cNvPr id="18" name="text-442"/>
          <p:cNvSpPr txBox="1"/>
          <p:nvPr/>
        </p:nvSpPr>
        <p:spPr>
          <a:xfrm>
            <a:off x="8356397" y="2724912"/>
            <a:ext cx="305805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Verarbeitungsmethoden</a:t>
            </a:r>
            <a:endParaRPr lang="en-US" sz="1500" dirty="0"/>
          </a:p>
        </p:txBody>
      </p:sp>
      <p:sp>
        <p:nvSpPr>
          <p:cNvPr id="19" name="text-443"/>
          <p:cNvSpPr txBox="1"/>
          <p:nvPr/>
        </p:nvSpPr>
        <p:spPr>
          <a:xfrm>
            <a:off x="8356397" y="3063240"/>
            <a:ext cx="3103778" cy="749808"/>
          </a:xfrm>
          <a:prstGeom prst="rect">
            <a:avLst/>
          </a:prstGeom>
          <a:noFill/>
          <a:ln/>
        </p:spPr>
        <p:txBody>
          <a:bodyPr wrap="square" lIns="0" tIns="0" rIns="0" bIns="0" rtlCol="0" anchor="t"/>
          <a:lstStyle/>
          <a:p>
            <a:pPr indent="0" marL="0">
              <a:buNone/>
            </a:pPr>
            <a:r>
              <a:rPr lang="en-US" sz="1300" dirty="0">
                <a:solidFill>
                  <a:schemeClr val="tx1"/>
                </a:solidFill>
              </a:rPr>
              <a:t>Alle Einstellungen als JSON: Integration, Quantifizierung, Suche, Doppelbestimmung, Report.</a:t>
            </a:r>
            <a:endParaRPr lang="en-US" sz="1300" dirty="0"/>
          </a:p>
        </p:txBody>
      </p:sp>
      <p:sp>
        <p:nvSpPr>
          <p:cNvPr id="20" name="card-444"/>
          <p:cNvSpPr/>
          <p:nvPr/>
        </p:nvSpPr>
        <p:spPr>
          <a:xfrm>
            <a:off x="548640" y="4160520"/>
            <a:ext cx="3515258" cy="2057400"/>
          </a:xfrm>
          <a:prstGeom prst="roundRect">
            <a:avLst>
              <a:gd name="adj" fmla="val 3556"/>
            </a:avLst>
          </a:prstGeom>
          <a:solidFill>
            <a:schemeClr val="bg2"/>
          </a:solidFill>
          <a:ln/>
        </p:spPr>
      </p:sp>
      <p:sp>
        <p:nvSpPr>
          <p:cNvPr id="21" name="badge-445"/>
          <p:cNvSpPr/>
          <p:nvPr/>
        </p:nvSpPr>
        <p:spPr>
          <a:xfrm>
            <a:off x="777240" y="4389120"/>
            <a:ext cx="512064" cy="512064"/>
          </a:xfrm>
          <a:prstGeom prst="ellipse">
            <a:avLst/>
          </a:prstGeom>
          <a:solidFill>
            <a:schemeClr val="accent1"/>
          </a:solidFill>
          <a:ln/>
        </p:spPr>
      </p:sp>
      <p:pic>
        <p:nvPicPr>
          <p:cNvPr id="22" name="icon-446" descr="Symbol">    </p:cNvPr>
          <p:cNvPicPr>
            <a:picLocks noChangeAspect="1"/>
          </p:cNvPicPr>
          <p:nvPr/>
        </p:nvPicPr>
        <p:blipFill>
          <a:blip r:embed="rId4"/>
          <a:stretch>
            <a:fillRect/>
          </a:stretch>
        </p:blipFill>
        <p:spPr>
          <a:xfrm>
            <a:off x="889894" y="4501774"/>
            <a:ext cx="286756" cy="286756"/>
          </a:xfrm>
          <a:prstGeom prst="rect">
            <a:avLst/>
          </a:prstGeom>
        </p:spPr>
      </p:pic>
      <p:sp>
        <p:nvSpPr>
          <p:cNvPr id="23" name="text-447"/>
          <p:cNvSpPr txBox="1"/>
          <p:nvPr/>
        </p:nvSpPr>
        <p:spPr>
          <a:xfrm>
            <a:off x="777240" y="5056632"/>
            <a:ext cx="305805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Orakel-Tests</a:t>
            </a:r>
            <a:endParaRPr lang="en-US" sz="1500" dirty="0"/>
          </a:p>
        </p:txBody>
      </p:sp>
      <p:sp>
        <p:nvSpPr>
          <p:cNvPr id="24" name="text-448"/>
          <p:cNvSpPr txBox="1"/>
          <p:nvPr/>
        </p:nvSpPr>
        <p:spPr>
          <a:xfrm>
            <a:off x="777240" y="5394960"/>
            <a:ext cx="3103778" cy="749808"/>
          </a:xfrm>
          <a:prstGeom prst="rect">
            <a:avLst/>
          </a:prstGeom>
          <a:noFill/>
          <a:ln/>
        </p:spPr>
        <p:txBody>
          <a:bodyPr wrap="square" lIns="0" tIns="0" rIns="0" bIns="0" rtlCol="0" anchor="t"/>
          <a:lstStyle/>
          <a:p>
            <a:pPr indent="0" marL="0">
              <a:buNone/>
            </a:pPr>
            <a:r>
              <a:rPr lang="en-US" sz="1300" dirty="0">
                <a:solidFill>
                  <a:schemeClr val="tx1"/>
                </a:solidFill>
              </a:rPr>
              <a:t>Integrator gegen ChemStation, Array-Dekonvolution gegen Referenz-Engine, Fast Search gegen Standardsuche.</a:t>
            </a:r>
            <a:endParaRPr lang="en-US" sz="1300" dirty="0"/>
          </a:p>
        </p:txBody>
      </p:sp>
      <p:sp>
        <p:nvSpPr>
          <p:cNvPr id="25" name="card-449"/>
          <p:cNvSpPr/>
          <p:nvPr/>
        </p:nvSpPr>
        <p:spPr>
          <a:xfrm>
            <a:off x="4338218" y="4160520"/>
            <a:ext cx="3515258" cy="2057400"/>
          </a:xfrm>
          <a:prstGeom prst="roundRect">
            <a:avLst>
              <a:gd name="adj" fmla="val 3556"/>
            </a:avLst>
          </a:prstGeom>
          <a:solidFill>
            <a:schemeClr val="bg1"/>
          </a:solidFill>
          <a:ln w="12700">
            <a:solidFill>
              <a:srgbClr val="D3DDE2"/>
            </a:solidFill>
            <a:prstDash val="solid"/>
          </a:ln>
        </p:spPr>
      </p:sp>
      <p:sp>
        <p:nvSpPr>
          <p:cNvPr id="26" name="badge-450"/>
          <p:cNvSpPr/>
          <p:nvPr/>
        </p:nvSpPr>
        <p:spPr>
          <a:xfrm>
            <a:off x="4566818" y="4389120"/>
            <a:ext cx="512064" cy="512064"/>
          </a:xfrm>
          <a:prstGeom prst="ellipse">
            <a:avLst/>
          </a:prstGeom>
          <a:solidFill>
            <a:schemeClr val="accent1"/>
          </a:solidFill>
          <a:ln/>
        </p:spPr>
      </p:sp>
      <p:pic>
        <p:nvPicPr>
          <p:cNvPr id="27" name="icon-451" descr="Symbol">    </p:cNvPr>
          <p:cNvPicPr>
            <a:picLocks noChangeAspect="1"/>
          </p:cNvPicPr>
          <p:nvPr/>
        </p:nvPicPr>
        <p:blipFill>
          <a:blip r:embed="rId5"/>
          <a:stretch>
            <a:fillRect/>
          </a:stretch>
        </p:blipFill>
        <p:spPr>
          <a:xfrm>
            <a:off x="4679472" y="4501774"/>
            <a:ext cx="286756" cy="286756"/>
          </a:xfrm>
          <a:prstGeom prst="rect">
            <a:avLst/>
          </a:prstGeom>
        </p:spPr>
      </p:pic>
      <p:sp>
        <p:nvSpPr>
          <p:cNvPr id="28" name="text-452"/>
          <p:cNvSpPr txBox="1"/>
          <p:nvPr/>
        </p:nvSpPr>
        <p:spPr>
          <a:xfrm>
            <a:off x="4566818" y="5056632"/>
            <a:ext cx="305805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Vendored mit Drift-Check</a:t>
            </a:r>
            <a:endParaRPr lang="en-US" sz="1500" dirty="0"/>
          </a:p>
        </p:txBody>
      </p:sp>
      <p:sp>
        <p:nvSpPr>
          <p:cNvPr id="29" name="text-453"/>
          <p:cNvSpPr txBox="1"/>
          <p:nvPr/>
        </p:nvSpPr>
        <p:spPr>
          <a:xfrm>
            <a:off x="4566818" y="5394960"/>
            <a:ext cx="3103778" cy="749808"/>
          </a:xfrm>
          <a:prstGeom prst="rect">
            <a:avLst/>
          </a:prstGeom>
          <a:noFill/>
          <a:ln/>
        </p:spPr>
        <p:txBody>
          <a:bodyPr wrap="square" lIns="0" tIns="0" rIns="0" bIns="0" rtlCol="0" anchor="t"/>
          <a:lstStyle/>
          <a:p>
            <a:pPr indent="0" marL="0">
              <a:buNone/>
            </a:pPr>
            <a:r>
              <a:rPr lang="en-US" sz="1300" dirty="0">
                <a:solidFill>
                  <a:schemeClr val="tx1"/>
                </a:solidFill>
              </a:rPr>
              <a:t>NIAS- und SpectrAtlas-Code unverändert; Patches als GCWS-PATCH markiert und geprüft.</a:t>
            </a:r>
            <a:endParaRPr lang="en-US" sz="1300" dirty="0"/>
          </a:p>
        </p:txBody>
      </p:sp>
      <p:sp>
        <p:nvSpPr>
          <p:cNvPr id="30" name="card-454"/>
          <p:cNvSpPr/>
          <p:nvPr/>
        </p:nvSpPr>
        <p:spPr>
          <a:xfrm>
            <a:off x="8127797" y="4160520"/>
            <a:ext cx="3515258" cy="2057400"/>
          </a:xfrm>
          <a:prstGeom prst="roundRect">
            <a:avLst>
              <a:gd name="adj" fmla="val 3556"/>
            </a:avLst>
          </a:prstGeom>
          <a:solidFill>
            <a:schemeClr val="bg2"/>
          </a:solidFill>
          <a:ln/>
        </p:spPr>
      </p:sp>
      <p:sp>
        <p:nvSpPr>
          <p:cNvPr id="31" name="badge-455"/>
          <p:cNvSpPr/>
          <p:nvPr/>
        </p:nvSpPr>
        <p:spPr>
          <a:xfrm>
            <a:off x="8356397" y="4389120"/>
            <a:ext cx="512064" cy="512064"/>
          </a:xfrm>
          <a:prstGeom prst="ellipse">
            <a:avLst/>
          </a:prstGeom>
          <a:solidFill>
            <a:schemeClr val="accent1"/>
          </a:solidFill>
          <a:ln/>
        </p:spPr>
      </p:sp>
      <p:pic>
        <p:nvPicPr>
          <p:cNvPr id="32" name="icon-456" descr="Symbol">    </p:cNvPr>
          <p:cNvPicPr>
            <a:picLocks noChangeAspect="1"/>
          </p:cNvPicPr>
          <p:nvPr/>
        </p:nvPicPr>
        <p:blipFill>
          <a:blip r:embed="rId6"/>
          <a:stretch>
            <a:fillRect/>
          </a:stretch>
        </p:blipFill>
        <p:spPr>
          <a:xfrm>
            <a:off x="8469051" y="4501774"/>
            <a:ext cx="286756" cy="286756"/>
          </a:xfrm>
          <a:prstGeom prst="rect">
            <a:avLst/>
          </a:prstGeom>
        </p:spPr>
      </p:pic>
      <p:sp>
        <p:nvSpPr>
          <p:cNvPr id="33" name="text-457"/>
          <p:cNvSpPr txBox="1"/>
          <p:nvPr/>
        </p:nvSpPr>
        <p:spPr>
          <a:xfrm>
            <a:off x="8356397" y="5056632"/>
            <a:ext cx="3058058"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Handbuch mit Abdeckungstest</a:t>
            </a:r>
            <a:endParaRPr lang="en-US" sz="1500" dirty="0"/>
          </a:p>
        </p:txBody>
      </p:sp>
      <p:sp>
        <p:nvSpPr>
          <p:cNvPr id="34" name="text-458"/>
          <p:cNvSpPr txBox="1"/>
          <p:nvPr/>
        </p:nvSpPr>
        <p:spPr>
          <a:xfrm>
            <a:off x="8356397" y="5394960"/>
            <a:ext cx="3103778" cy="749808"/>
          </a:xfrm>
          <a:prstGeom prst="rect">
            <a:avLst/>
          </a:prstGeom>
          <a:noFill/>
          <a:ln/>
        </p:spPr>
        <p:txBody>
          <a:bodyPr wrap="square" lIns="0" tIns="0" rIns="0" bIns="0" rtlCol="0" anchor="t"/>
          <a:lstStyle/>
          <a:p>
            <a:pPr indent="0" marL="0">
              <a:buNone/>
            </a:pPr>
            <a:r>
              <a:rPr lang="en-US" sz="1300" dirty="0">
                <a:solidFill>
                  <a:schemeClr val="tx1"/>
                </a:solidFill>
              </a:rPr>
              <a:t>Ein Test schlägt fehl, sobald ein Menüpunkt, Button oder Dialog im Handbuch fehlt.</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3840480" cy="822960"/>
          </a:xfrm>
          <a:prstGeom prst="rect">
            <a:avLst/>
          </a:prstGeom>
          <a:noFill/>
          <a:ln/>
        </p:spPr>
        <p:txBody>
          <a:bodyPr wrap="square" lIns="0" tIns="0" rIns="0" bIns="0" rtlCol="0" anchor="t"/>
          <a:lstStyle/>
          <a:p>
            <a:pPr algn="l" indent="0" marL="0">
              <a:buNone/>
            </a:pPr>
            <a:r>
              <a:rPr lang="en-US" sz="4400" dirty="0">
                <a:solidFill>
                  <a:srgbClr val="FFFFFF"/>
                </a:solidFill>
              </a:rPr>
              <a:t>Fazit</a:t>
            </a:r>
            <a:endParaRPr lang="en-US" sz="4400" dirty="0"/>
          </a:p>
        </p:txBody>
      </p:sp>
      <p:sp>
        <p:nvSpPr>
          <p:cNvPr id="3" name="text-459"/>
          <p:cNvSpPr txBox="1"/>
          <p:nvPr/>
        </p:nvSpPr>
        <p:spPr>
          <a:xfrm>
            <a:off x="548640" y="1737360"/>
            <a:ext cx="3657600" cy="1188720"/>
          </a:xfrm>
          <a:prstGeom prst="rect">
            <a:avLst/>
          </a:prstGeom>
          <a:noFill/>
          <a:ln/>
        </p:spPr>
        <p:txBody>
          <a:bodyPr wrap="square" lIns="0" tIns="0" rIns="0" bIns="0" rtlCol="0" anchor="t"/>
          <a:lstStyle/>
          <a:p>
            <a:pPr indent="0" marL="0">
              <a:buNone/>
            </a:pPr>
            <a:r>
              <a:rPr lang="en-US" sz="1800" dirty="0">
                <a:solidFill>
                  <a:srgbClr val="B9C8CF"/>
                </a:solidFill>
              </a:rPr>
              <a:t>Vom Rohbyte bis zum geprüften Report – exakt, schnell und nachvollziehbar.</a:t>
            </a:r>
            <a:endParaRPr lang="en-US" sz="1800" dirty="0"/>
          </a:p>
        </p:txBody>
      </p:sp>
      <p:sp>
        <p:nvSpPr>
          <p:cNvPr id="4" name="badge-460"/>
          <p:cNvSpPr/>
          <p:nvPr/>
        </p:nvSpPr>
        <p:spPr>
          <a:xfrm>
            <a:off x="5029200" y="868680"/>
            <a:ext cx="566928" cy="566928"/>
          </a:xfrm>
          <a:prstGeom prst="ellipse">
            <a:avLst/>
          </a:prstGeom>
          <a:solidFill>
            <a:srgbClr val="24485A"/>
          </a:solidFill>
          <a:ln/>
        </p:spPr>
      </p:sp>
      <p:pic>
        <p:nvPicPr>
          <p:cNvPr id="5" name="icon-461" descr="Symbol">    </p:cNvPr>
          <p:cNvPicPr>
            <a:picLocks noChangeAspect="1"/>
          </p:cNvPicPr>
          <p:nvPr/>
        </p:nvPicPr>
        <p:blipFill>
          <a:blip r:embed="rId1"/>
          <a:stretch>
            <a:fillRect/>
          </a:stretch>
        </p:blipFill>
        <p:spPr>
          <a:xfrm>
            <a:off x="5153924" y="993404"/>
            <a:ext cx="317480" cy="317480"/>
          </a:xfrm>
          <a:prstGeom prst="rect">
            <a:avLst/>
          </a:prstGeom>
        </p:spPr>
      </p:pic>
      <p:sp>
        <p:nvSpPr>
          <p:cNvPr id="6" name="text-462"/>
          <p:cNvSpPr txBox="1"/>
          <p:nvPr/>
        </p:nvSpPr>
        <p:spPr>
          <a:xfrm>
            <a:off x="5806440" y="886968"/>
            <a:ext cx="5760720" cy="347472"/>
          </a:xfrm>
          <a:prstGeom prst="rect">
            <a:avLst/>
          </a:prstGeom>
          <a:noFill/>
          <a:ln/>
        </p:spPr>
        <p:txBody>
          <a:bodyPr wrap="square" lIns="0" tIns="0" rIns="0" bIns="0" rtlCol="0" anchor="t"/>
          <a:lstStyle/>
          <a:p>
            <a:pPr indent="0" marL="0">
              <a:buNone/>
            </a:pPr>
            <a:r>
              <a:rPr lang="en-US" sz="2000" b="1" dirty="0">
                <a:solidFill>
                  <a:srgbClr val="FFFFFF"/>
                </a:solidFill>
                <a:latin typeface="+mj-lt" pitchFamily="34" charset="0"/>
                <a:ea typeface="+mj-lt" pitchFamily="34" charset="-122"/>
                <a:cs typeface="+mj-lt" pitchFamily="34" charset="-120"/>
              </a:rPr>
              <a:t>Unabhängig</a:t>
            </a:r>
            <a:endParaRPr lang="en-US" sz="2000" dirty="0"/>
          </a:p>
        </p:txBody>
      </p:sp>
      <p:sp>
        <p:nvSpPr>
          <p:cNvPr id="7" name="text-463"/>
          <p:cNvSpPr txBox="1"/>
          <p:nvPr/>
        </p:nvSpPr>
        <p:spPr>
          <a:xfrm>
            <a:off x="5806440" y="1289304"/>
            <a:ext cx="5760720" cy="685800"/>
          </a:xfrm>
          <a:prstGeom prst="rect">
            <a:avLst/>
          </a:prstGeom>
          <a:noFill/>
          <a:ln/>
        </p:spPr>
        <p:txBody>
          <a:bodyPr wrap="square" lIns="0" tIns="0" rIns="0" bIns="0" rtlCol="0" anchor="t"/>
          <a:lstStyle/>
          <a:p>
            <a:pPr indent="0" marL="0">
              <a:buNone/>
            </a:pPr>
            <a:r>
              <a:rPr lang="en-US" sz="1500" dirty="0">
                <a:solidFill>
                  <a:srgbClr val="B9C8CF"/>
                </a:solidFill>
              </a:rPr>
              <a:t>Rohdaten bis Word/PDF ohne Herstellersoftware, abgesichert gegen die bisherigen Referenzen.</a:t>
            </a:r>
            <a:endParaRPr lang="en-US" sz="1500" dirty="0"/>
          </a:p>
        </p:txBody>
      </p:sp>
      <p:sp>
        <p:nvSpPr>
          <p:cNvPr id="8" name="badge-464"/>
          <p:cNvSpPr/>
          <p:nvPr/>
        </p:nvSpPr>
        <p:spPr>
          <a:xfrm>
            <a:off x="5029200" y="2286000"/>
            <a:ext cx="566928" cy="566928"/>
          </a:xfrm>
          <a:prstGeom prst="ellipse">
            <a:avLst/>
          </a:prstGeom>
          <a:solidFill>
            <a:srgbClr val="24485A"/>
          </a:solidFill>
          <a:ln/>
        </p:spPr>
      </p:sp>
      <p:pic>
        <p:nvPicPr>
          <p:cNvPr id="9" name="icon-465" descr="Symbol">    </p:cNvPr>
          <p:cNvPicPr>
            <a:picLocks noChangeAspect="1"/>
          </p:cNvPicPr>
          <p:nvPr/>
        </p:nvPicPr>
        <p:blipFill>
          <a:blip r:embed="rId2"/>
          <a:stretch>
            <a:fillRect/>
          </a:stretch>
        </p:blipFill>
        <p:spPr>
          <a:xfrm>
            <a:off x="5153924" y="2410724"/>
            <a:ext cx="317480" cy="317480"/>
          </a:xfrm>
          <a:prstGeom prst="rect">
            <a:avLst/>
          </a:prstGeom>
        </p:spPr>
      </p:pic>
      <p:sp>
        <p:nvSpPr>
          <p:cNvPr id="10" name="text-466"/>
          <p:cNvSpPr txBox="1"/>
          <p:nvPr/>
        </p:nvSpPr>
        <p:spPr>
          <a:xfrm>
            <a:off x="5806440" y="2304288"/>
            <a:ext cx="5760720" cy="347472"/>
          </a:xfrm>
          <a:prstGeom prst="rect">
            <a:avLst/>
          </a:prstGeom>
          <a:noFill/>
          <a:ln/>
        </p:spPr>
        <p:txBody>
          <a:bodyPr wrap="square" lIns="0" tIns="0" rIns="0" bIns="0" rtlCol="0" anchor="t"/>
          <a:lstStyle/>
          <a:p>
            <a:pPr indent="0" marL="0">
              <a:buNone/>
            </a:pPr>
            <a:r>
              <a:rPr lang="en-US" sz="2000" b="1" dirty="0">
                <a:solidFill>
                  <a:srgbClr val="FFFFFF"/>
                </a:solidFill>
                <a:latin typeface="+mj-lt" pitchFamily="34" charset="0"/>
                <a:ea typeface="+mj-lt" pitchFamily="34" charset="-122"/>
                <a:cs typeface="+mj-lt" pitchFamily="34" charset="-120"/>
              </a:rPr>
              <a:t>Exakt schneller</a:t>
            </a:r>
            <a:endParaRPr lang="en-US" sz="2000" dirty="0"/>
          </a:p>
        </p:txBody>
      </p:sp>
      <p:sp>
        <p:nvSpPr>
          <p:cNvPr id="11" name="text-467"/>
          <p:cNvSpPr txBox="1"/>
          <p:nvPr/>
        </p:nvSpPr>
        <p:spPr>
          <a:xfrm>
            <a:off x="5806440" y="2706624"/>
            <a:ext cx="5760720" cy="685800"/>
          </a:xfrm>
          <a:prstGeom prst="rect">
            <a:avLst/>
          </a:prstGeom>
          <a:noFill/>
          <a:ln/>
        </p:spPr>
        <p:txBody>
          <a:bodyPr wrap="square" lIns="0" tIns="0" rIns="0" bIns="0" rtlCol="0" anchor="t"/>
          <a:lstStyle/>
          <a:p>
            <a:pPr indent="0" marL="0">
              <a:buNone/>
            </a:pPr>
            <a:r>
              <a:rPr lang="en-US" sz="1500" dirty="0">
                <a:solidFill>
                  <a:srgbClr val="B9C8CF"/>
                </a:solidFill>
              </a:rPr>
              <a:t>Fast Search, Array-Dekonvolution und Compare: Faktor 2,5 bis 10 bei identischen Ergebnissen.</a:t>
            </a:r>
            <a:endParaRPr lang="en-US" sz="1500" dirty="0"/>
          </a:p>
        </p:txBody>
      </p:sp>
      <p:sp>
        <p:nvSpPr>
          <p:cNvPr id="12" name="badge-468"/>
          <p:cNvSpPr/>
          <p:nvPr/>
        </p:nvSpPr>
        <p:spPr>
          <a:xfrm>
            <a:off x="5029200" y="3703320"/>
            <a:ext cx="566928" cy="566928"/>
          </a:xfrm>
          <a:prstGeom prst="ellipse">
            <a:avLst/>
          </a:prstGeom>
          <a:solidFill>
            <a:srgbClr val="24485A"/>
          </a:solidFill>
          <a:ln/>
        </p:spPr>
      </p:sp>
      <p:pic>
        <p:nvPicPr>
          <p:cNvPr id="13" name="icon-469" descr="Symbol">    </p:cNvPr>
          <p:cNvPicPr>
            <a:picLocks noChangeAspect="1"/>
          </p:cNvPicPr>
          <p:nvPr/>
        </p:nvPicPr>
        <p:blipFill>
          <a:blip r:embed="rId3"/>
          <a:stretch>
            <a:fillRect/>
          </a:stretch>
        </p:blipFill>
        <p:spPr>
          <a:xfrm>
            <a:off x="5153924" y="3828044"/>
            <a:ext cx="317480" cy="317480"/>
          </a:xfrm>
          <a:prstGeom prst="rect">
            <a:avLst/>
          </a:prstGeom>
        </p:spPr>
      </p:pic>
      <p:sp>
        <p:nvSpPr>
          <p:cNvPr id="14" name="text-470"/>
          <p:cNvSpPr txBox="1"/>
          <p:nvPr/>
        </p:nvSpPr>
        <p:spPr>
          <a:xfrm>
            <a:off x="5806440" y="3721608"/>
            <a:ext cx="5760720" cy="347472"/>
          </a:xfrm>
          <a:prstGeom prst="rect">
            <a:avLst/>
          </a:prstGeom>
          <a:noFill/>
          <a:ln/>
        </p:spPr>
        <p:txBody>
          <a:bodyPr wrap="square" lIns="0" tIns="0" rIns="0" bIns="0" rtlCol="0" anchor="t"/>
          <a:lstStyle/>
          <a:p>
            <a:pPr indent="0" marL="0">
              <a:buNone/>
            </a:pPr>
            <a:r>
              <a:rPr lang="en-US" sz="2000" b="1" dirty="0">
                <a:solidFill>
                  <a:srgbClr val="FFFFFF"/>
                </a:solidFill>
                <a:latin typeface="+mj-lt" pitchFamily="34" charset="0"/>
                <a:ea typeface="+mj-lt" pitchFamily="34" charset="-122"/>
                <a:cs typeface="+mj-lt" pitchFamily="34" charset="-120"/>
              </a:rPr>
              <a:t>Analytiker im Fokus</a:t>
            </a:r>
            <a:endParaRPr lang="en-US" sz="2000" dirty="0"/>
          </a:p>
        </p:txBody>
      </p:sp>
      <p:sp>
        <p:nvSpPr>
          <p:cNvPr id="15" name="text-471"/>
          <p:cNvSpPr txBox="1"/>
          <p:nvPr/>
        </p:nvSpPr>
        <p:spPr>
          <a:xfrm>
            <a:off x="5806440" y="4123944"/>
            <a:ext cx="5760720" cy="685800"/>
          </a:xfrm>
          <a:prstGeom prst="rect">
            <a:avLst/>
          </a:prstGeom>
          <a:noFill/>
          <a:ln/>
        </p:spPr>
        <p:txBody>
          <a:bodyPr wrap="square" lIns="0" tIns="0" rIns="0" bIns="0" rtlCol="0" anchor="t"/>
          <a:lstStyle/>
          <a:p>
            <a:pPr indent="0" marL="0">
              <a:buNone/>
            </a:pPr>
            <a:r>
              <a:rPr lang="en-US" sz="1500" dirty="0">
                <a:solidFill>
                  <a:srgbClr val="B9C8CF"/>
                </a:solidFill>
              </a:rPr>
              <a:t>Feature-Pairing und Report²-Regeln reduzieren die Prüfung auf die echten Ausnahmen.</a:t>
            </a:r>
            <a:endParaRPr lang="en-US" sz="1500" dirty="0"/>
          </a:p>
        </p:txBody>
      </p:sp>
      <p:sp>
        <p:nvSpPr>
          <p:cNvPr id="16" name="next-472"/>
          <p:cNvSpPr/>
          <p:nvPr/>
        </p:nvSpPr>
        <p:spPr>
          <a:xfrm>
            <a:off x="548640" y="5120640"/>
            <a:ext cx="11094415" cy="914400"/>
          </a:xfrm>
          <a:prstGeom prst="roundRect">
            <a:avLst>
              <a:gd name="adj" fmla="val 8000"/>
            </a:avLst>
          </a:prstGeom>
          <a:solidFill>
            <a:srgbClr val="18303D"/>
          </a:solidFill>
          <a:ln/>
        </p:spPr>
      </p:sp>
      <p:sp>
        <p:nvSpPr>
          <p:cNvPr id="17" name="text-473"/>
          <p:cNvSpPr txBox="1"/>
          <p:nvPr/>
        </p:nvSpPr>
        <p:spPr>
          <a:xfrm>
            <a:off x="822960" y="5285232"/>
            <a:ext cx="10545775" cy="594360"/>
          </a:xfrm>
          <a:prstGeom prst="rect">
            <a:avLst/>
          </a:prstGeom>
          <a:noFill/>
          <a:ln/>
        </p:spPr>
        <p:txBody>
          <a:bodyPr wrap="square" lIns="0" tIns="0" rIns="0" bIns="0" rtlCol="0" anchor="ctr"/>
          <a:lstStyle/>
          <a:p>
            <a:pPr indent="0" marL="0">
              <a:buNone/>
            </a:pPr>
            <a:r>
              <a:rPr lang="en-US" sz="1400" b="1" dirty="0">
                <a:solidFill>
                  <a:srgbClr val="7CC8E0"/>
                </a:solidFill>
              </a:rPr>
              <a:t>Nächste Ideen  </a:t>
            </a:r>
            <a:pPr indent="0" marL="0">
              <a:buNone/>
            </a:pPr>
            <a:r>
              <a:rPr lang="en-US" sz="1400" dirty="0">
                <a:solidFill>
                  <a:srgbClr val="FFFFFF"/>
                </a:solidFill>
              </a:rPr>
              <a:t>Dezimalkomma beim Kopieren · Dekonvolution auf mehreren Kernen · Block-Screening referenzmajor</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B9C8CF"/>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GC Workspace">
  <a:themeElements>
    <a:clrScheme name="GC Workspace">
      <a:dk1>
        <a:srgbClr val="0F1C24"/>
      </a:dk1>
      <a:lt1>
        <a:srgbClr val="FFFFFF"/>
      </a:lt1>
      <a:dk2>
        <a:srgbClr val="1B4F63"/>
      </a:dk2>
      <a:lt2>
        <a:srgbClr val="EEF4F6"/>
      </a:lt2>
      <a:accent1>
        <a:srgbClr val="1F7A99"/>
      </a:accent1>
      <a:accent2>
        <a:srgbClr val="D55E00"/>
      </a:accent2>
      <a:accent3>
        <a:srgbClr val="2E9E6B"/>
      </a:accent3>
      <a:accent4>
        <a:srgbClr val="E3A21A"/>
      </a:accent4>
      <a:accent5>
        <a:srgbClr val="C0392B"/>
      </a:accent5>
      <a:accent6>
        <a:srgbClr val="6B7C85"/>
      </a:accent6>
      <a:hlink>
        <a:srgbClr val="1F7A99"/>
      </a:hlink>
      <a:folHlink>
        <a:srgbClr val="1B4F63"/>
      </a:folHlink>
    </a:clrScheme>
    <a:fontScheme name="GC Workspa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GC Workspace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 Workspace - Technischer Feature-Ueberblick</dc:title>
  <dc:subject>PptxGenJS Presentation</dc:subject>
  <dc:creator>Budischowsky</dc:creator>
  <cp:lastModifiedBy>Budischowsky</cp:lastModifiedBy>
  <cp:revision>1</cp:revision>
  <dcterms:created xsi:type="dcterms:W3CDTF">2026-10-09T04:54:51Z</dcterms:created>
  <dcterms:modified xsi:type="dcterms:W3CDTF">2026-10-09T04:54:51Z</dcterms:modified>
</cp:coreProperties>
</file>