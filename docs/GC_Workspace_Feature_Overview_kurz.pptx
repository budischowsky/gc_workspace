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leitung" id="{80bb2b61-14ec-1fa1-725e-16d35e428cdb}">
          <p14:sldIdLst>
            <p14:sldId id="256"/>
            <p14:sldId id="257"/>
          </p14:sldIdLst>
        </p14:section>
        <p14:section name="Daten" id="{d1cd1ab2-fad2-9c58-9ab6-57bbe301ecba}">
          <p14:sldIdLst>
            <p14:sldId id="258"/>
          </p14:sldIdLst>
        </p14:section>
        <p14:section name="Integration und Dekonvolution" id="{a148be53-5229-efbc-850e-bcd867082bf2}">
          <p14:sldIdLst>
            <p14:sldId id="259"/>
            <p14:sldId id="260"/>
            <p14:sldId id="261"/>
            <p14:sldId id="262"/>
          </p14:sldIdLst>
        </p14:section>
        <p14:section name="Identifizierung" id="{b70b2b81-da7a-2d90-9721-3b94ce24be05}">
          <p14:sldIdLst>
            <p14:sldId id="263"/>
          </p14:sldIdLst>
        </p14:section>
        <p14:section name="Doppelbestimmung" id="{7b155508-f081-5756-b2ea-9921ff074f45}">
          <p14:sldIdLst>
            <p14:sldId id="264"/>
            <p14:sldId id="265"/>
          </p14:sldIdLst>
        </p14:section>
        <p14:section name="0-Klick-Reporting" id="{8a798034-a3dc-5dc6-4b4c-df70f2c310ac}">
          <p14:sldIdLst>
            <p14:sldId id="266"/>
            <p14:sldId id="267"/>
          </p14:sldIdLst>
        </p14:section>
        <p14:section name="Abschluss" id="{a1a6ddda-4d11-0780-622c-6449d2f42fb4}">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C24"/>
                </a:solidFill>
                <a:latin typeface="+mn-lt"/>
              </a:defRPr>
            </a:pPr>
            <a:r>
              <a:rPr sz="1400" b="0" i="0" u="none" strike="noStrike">
                <a:solidFill>
                  <a:srgbClr val="0F1C24"/>
                </a:solidFill>
                <a:latin typeface="+mn-lt"/>
              </a:rPr>
              <a:t>Suchzeit pro Peak (ms)</a:t>
            </a:r>
          </a:p>
        </c:rich>
      </c:tx>
      <c:layout/>
      <c:overlay val="0"/>
    </c:title>
    <c:autoTitleDeleted val="0"/>
    <c:plotArea>
      <c:layout/>
      <c:barChart>
        <c:barDir val="bar"/>
        <c:grouping val="clustered"/>
        <c:varyColors val="0"/>
        <c:ser>
          <c:idx val="0"/>
          <c:order val="0"/>
          <c:tx>
            <c:strRef>
              <c:f>Sheet1!$B$1</c:f>
              <c:strCache>
                <c:ptCount val="1"/>
                <c:pt idx="0">
                  <c:v>Suchzeit pro Peak</c:v>
                </c:pt>
              </c:strCache>
            </c:strRef>
          </c:tx>
          <c:spPr>
            <a:solidFill>
              <a:srgbClr val="D55E00"/>
            </a:solidFill>
            <a:effectLst/>
          </c:spPr>
          <c:invertIfNegative val="0"/>
          <c:dLbls>
            <c:numFmt formatCode="#,##0" sourceLinked="0"/>
            <c:txPr>
              <a:bodyPr/>
              <a:lstStyle/>
              <a:p>
                <a:pPr>
                  <a:defRPr b="0" i="0" strike="noStrike" sz="1400" u="none">
                    <a:solidFill>
                      <a:srgbClr val="0F1C24"/>
                    </a:solidFill>
                    <a:latin typeface="+mn-lt"/>
                  </a:defRPr>
                </a:pPr>
              </a:p>
            </c:txPr>
            <c:showLegendKey val="0"/>
            <c:showVal val="1"/>
            <c:showCatName val="0"/>
            <c:showSerName val="0"/>
            <c:showPercent val="0"/>
            <c:showBubbleSize val="0"/>
            <c:showLeaderLines val="0"/>
          </c:dLbls>
          <c:dPt>
            <c:idx val="0"/>
            <c:invertIfNegative val="0"/>
            <c:bubble3D val="0"/>
            <c:spPr>
              <a:solidFill>
                <a:srgbClr val="D55E00"/>
              </a:solidFill>
              <a:effectLst/>
            </c:spPr>
          </c:dPt>
          <c:dPt>
            <c:idx val="1"/>
            <c:invertIfNegative val="0"/>
            <c:bubble3D val="0"/>
            <c:spPr>
              <a:solidFill>
                <a:srgbClr val="9AA5AB"/>
              </a:solidFill>
              <a:effectLst/>
            </c:spPr>
          </c:dPt>
          <c:cat>
            <c:multiLvlStrRef>
              <c:f>Sheet1!$A$2:$A$3</c:f>
              <c:multiLvlStrCache>
                <c:ptCount val="2"/>
                <c:lvl>
                  <c:pt idx="0">
                    <c:v>Fast Search</c:v>
                  </c:pt>
                  <c:pt idx="1">
                    <c:v>Bisher</c:v>
                  </c:pt>
                </c:lvl>
              </c:multiLvlStrCache>
            </c:multiLvlStrRef>
          </c:cat>
          <c:val>
            <c:numRef>
              <c:f>Sheet1!$B$2:$B$3</c:f>
              <c:numCache>
                <c:formatCode>General</c:formatCode>
                <c:ptCount val="2"/>
                <c:pt idx="0">
                  <c:v>49</c:v>
                </c:pt>
                <c:pt idx="1">
                  <c:v>409</c:v>
                </c:pt>
              </c:numCache>
            </c:numRef>
          </c:val>
        </c:ser>
        <c:dLbls>
          <c:numFmt formatCode="#,##0" sourceLinked="0"/>
          <c:txPr>
            <a:bodyPr/>
            <a:lstStyle/>
            <a:p>
              <a:pPr>
                <a:defRPr b="0" i="0" strike="noStrike" sz="1400" u="none">
                  <a:solidFill>
                    <a:srgbClr val="0F1C2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0F1C24"/>
                </a:solidFill>
                <a:latin typeface="+mn-lt"/>
              </a:defRPr>
            </a:pPr>
            <a:endParaRPr lang="en-US"/>
          </a:p>
        </c:txPr>
        <c:crossAx val="2094734552"/>
        <c:crosses val="autoZero"/>
        <c:auto val="1"/>
        <c:lblAlgn val="ctr"/>
        <c:noMultiLvlLbl val="1"/>
      </c:catAx>
      <c:valAx>
        <c:axId val="2094734552"/>
        <c:scaling>
          <c:orientation val="minMax"/>
          <c:max val="47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GC Workspace ist eine eigenständige Auswertesoftware für GC-FID und GC-MS. Sie liest die Rohdaten direkt vom Gerät und führt durch alle Schritte bis zum fertigen, geprüften Report. Der Vortrag folgt dem Weg einer Probe: Daten einlesen, integrieren und dekonvolutieren, identifizieren, Doppelbestimmung abgleichen und am Ende automatisch berichten.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Bisher war die Auswertung eine Kette aus Herstellersoftware, exportierten Ergebnisdateien und Excel-Arbeit. GC Workspace rechnet alle sechs Stationen selbst – direkt aus den Rohdaten. Die letzte Station, der Report, läuft auf Wunsch vollständig automatisch.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Rohdateien werden ohne Umweg über die Herstellersoftware geöffnet: Agilent ChemStation und MassHunter mit FID und MS, Shimadzu GCMSsolution mit MS. Erkennt das Programm ein Dateiformat nicht eindeutig, lehnt es die Datei ab, statt ein plausibel aussehendes, aber falsches Chromatogramm zu zeigen. Die Bibliothekssuche ist eingebaut und liest NIST, Wiley, Shimadzu und MSP direkt – zusammen 1,8 Millionen Referenzspektren in einer Suche. Bewertet wird wie in ChemStation oder wie bei NIST; die Originalbibliotheken werden nie verändert.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Integrator arbeitet wie ChemStation mit Steigungserkennung, Basislinien, Tal-zu-Tal, Schultern, Skims und negativen Peaks. Rauschen und Peakbreite werden automatisch gemessen. Der entscheidende Unterschied: Manuelle Korrekturen werden nicht als fertiges Ergebnis gespeichert, sondern als Arbeitsschritte. Ändert man später die Parameter, werden die eigenen Korrekturen automatisch wieder angewendet. Jeder Schritt ist rückgängig zu machen und protokolliert.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Blanks werden aus der Sequenz des eigenen Batch-Ordners vorgeschlagen und vor dem Abzug zeitlich auf die Probe ausgerichtet. Man kann die ganze Spur abziehen oder nur die Peaks markieren, die auch im Blank vorkommen. Peaks der internen Standards werden nie abgezogen. Ohne passenden Blank im Batch verarbeitet die Automation eine Probe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Bei Koelutionen erkennt die MS-Dekonvolution, wie viele Substanzen in einem Peak stecken und wie ihre Elutionsprofile aussehen. Der FID spricht aber auf jede Substanz anders an – deshalb werden diese Profile an das FID-Signal angepasst. Die gemessene Gesamtfläche wird exakt auf die Komponenten aufgeteilt. Wie gut die Anpassung passt, zeigt das Bestimmtheitsmaß R²: Im Beispiel erklären die beiden Komponenten zusammen 98 % des gemessenen FID-Signals. Ein niedriger Wert ist ein Hinweis, den Split genauer anzusehen. Ein Split ist ein normaler Arbeitsschritt: rückgängig zu machen und beim Neu-Integrieren erhalten.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Bisher wurde für jeden Peak einzeln die ganze Bibliothek gelesen. Fast Search geht alle Peaks eines Laufs in einem gemeinsamen Durchgang durch alle Bibliotheken. Pro Peak sinkt die Suchzeit von gut 400 auf unter 50 Millisekunden – und das Ergebnis ist exakt dasselbe: gleiche Treffer, gleiche Scores, gleiche Reihenfolge. Der Treffer aus dem TIC wird automatisch dem FID-Peak zur gleichen Zeit zugeordnet.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Bestimmung A ist die Referenz. Zuerst wird der kleine Zeitversatz zwischen A und B über eindeutige Peaks ermittelt und ausgeglichen. Dann werden die Peaks über Retentionszeit und Spektrum gepaart – Kreuzungen sind ausgeschlossen. Fehlt ein Peak in einer Bestimmung, wird er nur ergänzt, wenn es im Signal einen Beleg dafür gibt; sonst steht dort 'nicht nachweisbar'. Für jedes Paar wird ein gemeinsamer Name bestimmt. Am Ende bekommt jede Substanz eine Ampelfarbe.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 Arbeitsblatt der Doppelbestimmung wird für jede Substanz automatisch der Mittelwert aus A und B berechnet und die Abweichung bewertet. Ampel und Sprungtaste führen direkt zu den offenen Fällen; Peaks und Substanzen lassen sich dort mit Chromatogramm und Spektrum daneben prüfen und anpassen. Die Regeln – etwa die erlaubte Abweichung zwischen A und B – sind einstellbar. Die Tabelle lässt sich wie Excel bearbeiten; wer wann akzeptiert hat, wird gespeichert.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Ein Workflow beobachtet den Messordner. Sobald eine Messung fertig ist und alle zugehörigen Läufe – Bestimmung A und B sowie die Blanks aus demselben Batch – vorliegen, wird die Probe mit der hinterlegten Methode vollständig ausgewertet, ohne dass jemand klicken muss. Regeln markieren Auffälligkeiten, der Analytiker prüft den Report und akzeptiert ihn. Danach wird er als Excel, Word oder PDF ausgeliefert. Im Workflow-Editor legt man fest, welche Reports wohin gehen. Das funktioniert auch für ganze Batches: Alle Proben eines Batches werden am Stück ausgewertet; neben dem Report je Probe entstehen ein gemeinsamer Batch-Report in Word oder PDF und eine Übersicht in Excel.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Jeder automatisch erzeugte Report landet in Report² und wird dort vom Analytiker geprüft und akzeptiert – automatisch akzeptiert wird nichts. Die Regeln helfen beim Prüfen: Greift keine Regel, ist der Report ohne Befund und schnell durchgesehen. Greift eine Regel – etwa ein überschrittener SML, ein fehlender oder abweichender Standard, rote Substanzen in der Doppelbestimmung oder ein fehlender Blank – steht er auf 'Control needed' und die Stellen sind markiert. Der Analytiker akzeptiert mit einem Klick oder lehnt mit Begründung ab; Korrekturen erzeugen eine neue Revision.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Zusammengefasst: Die Auswertung läuft standardisiert mit der hinterlegten Methode und ist dadurch deutlich schneller. Automatische Prüfungen – Blanks, interne Standards, Doppelbestimmung – laufen bei jeder Probe vollständig mit, das hebt die Qualität. Weil nichts mehr abgetippt oder zwischen Programmen kopiert wird, fallen Übertragungsfehler weg, und jede Änderung ist protokolliert. Weitere Methoden, Geräte und Report-Vorlagen lassen sich ergänzen. Diese Folie bleibt während der Fragen stehen.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512064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76656"/>
            <a:ext cx="11094415" cy="914400"/>
          </a:xfrm>
          <a:prstGeom prst="rect">
            <a:avLst/>
          </a:prstGeom>
          <a:noFill/>
          <a:ln/>
        </p:spPr>
        <p:txBody>
          <a:bodyPr wrap="square" rtlCol="0"/>
          <a:lstStyle>
            <a:lvl1pPr algn="l" indent="0" marL="0">
              <a:buNone/>
              <a:defRPr lang="en-US" sz="2800" dirty="0">
                <a:solidFill>
                  <a:schemeClr val="tx1"/>
                </a:solidFill>
                <a:latin typeface="Segoe UI Semibold" pitchFamily="34" charset="0"/>
                <a:ea typeface="Segoe UI Semibold" pitchFamily="34" charset="-122"/>
                <a:cs typeface="Segoe UI Semibold" pitchFamily="34" charset="-120"/>
              </a:defRPr>
            </a:lvl1pPr>
          </a:lstStyle>
          <a:p>
            <a:pPr algn="l" indent="0" marL="0">
              <a:buNone/>
            </a:pPr>
            <a:endParaRPr lang="en-US" sz="28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3"/>
                </a:solidFill>
              </a:rPr>
              <a:t>GC Workspace · Feature-Überblick</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C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640080"/>
            <a:ext cx="10881360" cy="1005840"/>
          </a:xfrm>
          <a:prstGeom prst="rect">
            <a:avLst/>
          </a:prstGeom>
          <a:noFill/>
          <a:ln/>
        </p:spPr>
        <p:txBody>
          <a:bodyPr wrap="square" rtlCol="0"/>
          <a:lstStyle>
            <a:lvl1pPr algn="l" indent="0" marL="0">
              <a:buNone/>
              <a:defRPr lang="en-US" sz="3000" dirty="0">
                <a:solidFill>
                  <a:schemeClr val="bg1"/>
                </a:solidFill>
                <a:latin typeface="Segoe UI Semibold" pitchFamily="34" charset="0"/>
                <a:ea typeface="Segoe UI Semibold" pitchFamily="34" charset="-122"/>
                <a:cs typeface="Segoe UI Semibold" pitchFamily="34" charset="-120"/>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chart" Target="../charts/chart1.xml"/><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234440"/>
            <a:ext cx="530352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FEATURE-ÜBERBLICK · OKTOBER 2026</a:t>
            </a:r>
            <a:endParaRPr lang="en-US" sz="1200" dirty="0"/>
          </a:p>
        </p:txBody>
      </p:sp>
      <p:sp>
        <p:nvSpPr>
          <p:cNvPr id="3" name="Text 1"/>
          <p:cNvSpPr txBox="1"/>
          <p:nvPr/>
        </p:nvSpPr>
        <p:spPr>
          <a:xfrm>
            <a:off x="640080" y="1600200"/>
            <a:ext cx="5394960" cy="914400"/>
          </a:xfrm>
          <a:prstGeom prst="rect">
            <a:avLst/>
          </a:prstGeom>
          <a:noFill/>
          <a:ln/>
        </p:spPr>
        <p:txBody>
          <a:bodyPr wrap="square" lIns="0" tIns="0" rIns="0" bIns="0" rtlCol="0" anchor="t"/>
          <a:lstStyle/>
          <a:p>
            <a:pPr indent="0" marL="0">
              <a:buNone/>
            </a:pPr>
            <a:r>
              <a:rPr lang="en-US" sz="4800" dirty="0">
                <a:solidFill>
                  <a:schemeClr val="bg1"/>
                </a:solidFill>
                <a:latin typeface="Segoe UI Semibold" pitchFamily="34" charset="0"/>
                <a:ea typeface="Segoe UI Semibold" pitchFamily="34" charset="-122"/>
                <a:cs typeface="Segoe UI Semibold" pitchFamily="34" charset="-120"/>
              </a:rPr>
              <a:t>GC Workspace</a:t>
            </a:r>
            <a:endParaRPr lang="en-US" sz="4800" dirty="0"/>
          </a:p>
        </p:txBody>
      </p:sp>
      <p:sp>
        <p:nvSpPr>
          <p:cNvPr id="4" name="Text 2"/>
          <p:cNvSpPr txBox="1"/>
          <p:nvPr/>
        </p:nvSpPr>
        <p:spPr>
          <a:xfrm>
            <a:off x="640080" y="2606040"/>
            <a:ext cx="5394960" cy="868680"/>
          </a:xfrm>
          <a:prstGeom prst="rect">
            <a:avLst/>
          </a:prstGeom>
          <a:noFill/>
          <a:ln/>
        </p:spPr>
        <p:txBody>
          <a:bodyPr wrap="square" lIns="0" tIns="0" rIns="0" bIns="0" rtlCol="0" anchor="t"/>
          <a:lstStyle/>
          <a:p>
            <a:pPr indent="0" marL="0">
              <a:buNone/>
            </a:pPr>
            <a:r>
              <a:rPr lang="en-US" sz="2000" dirty="0">
                <a:solidFill>
                  <a:srgbClr val="CFE0E8"/>
                </a:solidFill>
              </a:rPr>
              <a:t>Vom Rohsignal zum geprüften Report –</a:t>
            </a:r>
            <a:endParaRPr lang="en-US" sz="2000" dirty="0"/>
          </a:p>
          <a:p>
            <a:pPr indent="0" marL="0">
              <a:buNone/>
            </a:pPr>
            <a:r>
              <a:rPr lang="en-US" sz="2000" dirty="0">
                <a:solidFill>
                  <a:srgbClr val="CFE0E8"/>
                </a:solidFill>
              </a:rPr>
              <a:t>für GC-FID und GC-MS</a:t>
            </a:r>
            <a:endParaRPr lang="en-US" sz="2000" dirty="0"/>
          </a:p>
        </p:txBody>
      </p:sp>
      <p:sp>
        <p:nvSpPr>
          <p:cNvPr id="5" name="Shape 3"/>
          <p:cNvSpPr/>
          <p:nvPr/>
        </p:nvSpPr>
        <p:spPr>
          <a:xfrm>
            <a:off x="640080" y="3886200"/>
            <a:ext cx="384048" cy="384048"/>
          </a:xfrm>
          <a:prstGeom prst="ellipse">
            <a:avLst/>
          </a:prstGeom>
          <a:solidFill>
            <a:srgbClr val="24485A"/>
          </a:solidFill>
          <a:ln/>
        </p:spPr>
      </p:sp>
      <p:pic>
        <p:nvPicPr>
          <p:cNvPr id="6" name="Image 0" descr="Symbol">    </p:cNvPr>
          <p:cNvPicPr>
            <a:picLocks noChangeAspect="1"/>
          </p:cNvPicPr>
          <p:nvPr/>
        </p:nvPicPr>
        <p:blipFill>
          <a:blip r:embed="rId1"/>
          <a:stretch>
            <a:fillRect/>
          </a:stretch>
        </p:blipFill>
        <p:spPr>
          <a:xfrm>
            <a:off x="724571" y="3970691"/>
            <a:ext cx="215067" cy="215067"/>
          </a:xfrm>
          <a:prstGeom prst="rect">
            <a:avLst/>
          </a:prstGeom>
        </p:spPr>
      </p:pic>
      <p:sp>
        <p:nvSpPr>
          <p:cNvPr id="7" name="Text 4"/>
          <p:cNvSpPr txBox="1"/>
          <p:nvPr/>
        </p:nvSpPr>
        <p:spPr>
          <a:xfrm>
            <a:off x="1188720" y="3886200"/>
            <a:ext cx="4846320" cy="384048"/>
          </a:xfrm>
          <a:prstGeom prst="rect">
            <a:avLst/>
          </a:prstGeom>
          <a:noFill/>
          <a:ln/>
        </p:spPr>
        <p:txBody>
          <a:bodyPr wrap="square" lIns="0" tIns="0" rIns="0" bIns="0" rtlCol="0" anchor="ctr"/>
          <a:lstStyle/>
          <a:p>
            <a:pPr indent="0" marL="0">
              <a:buNone/>
            </a:pPr>
            <a:r>
              <a:rPr lang="en-US" sz="1600" dirty="0">
                <a:solidFill>
                  <a:schemeClr val="bg1"/>
                </a:solidFill>
              </a:rPr>
              <a:t>Rohdaten aller gängigen Geräte und Bibliotheken</a:t>
            </a:r>
            <a:endParaRPr lang="en-US" sz="1600" dirty="0"/>
          </a:p>
        </p:txBody>
      </p:sp>
      <p:sp>
        <p:nvSpPr>
          <p:cNvPr id="8" name="Shape 5"/>
          <p:cNvSpPr/>
          <p:nvPr/>
        </p:nvSpPr>
        <p:spPr>
          <a:xfrm>
            <a:off x="640080" y="4434840"/>
            <a:ext cx="384048" cy="384048"/>
          </a:xfrm>
          <a:prstGeom prst="ellipse">
            <a:avLst/>
          </a:prstGeom>
          <a:solidFill>
            <a:srgbClr val="24485A"/>
          </a:solidFill>
          <a:ln/>
        </p:spPr>
      </p:sp>
      <p:pic>
        <p:nvPicPr>
          <p:cNvPr id="9" name="Image 1" descr="Symbol">    </p:cNvPr>
          <p:cNvPicPr>
            <a:picLocks noChangeAspect="1"/>
          </p:cNvPicPr>
          <p:nvPr/>
        </p:nvPicPr>
        <p:blipFill>
          <a:blip r:embed="rId2"/>
          <a:stretch>
            <a:fillRect/>
          </a:stretch>
        </p:blipFill>
        <p:spPr>
          <a:xfrm>
            <a:off x="724571" y="4519331"/>
            <a:ext cx="215067" cy="215067"/>
          </a:xfrm>
          <a:prstGeom prst="rect">
            <a:avLst/>
          </a:prstGeom>
        </p:spPr>
      </p:pic>
      <p:sp>
        <p:nvSpPr>
          <p:cNvPr id="10" name="Text 6"/>
          <p:cNvSpPr txBox="1"/>
          <p:nvPr/>
        </p:nvSpPr>
        <p:spPr>
          <a:xfrm>
            <a:off x="1188720" y="4434840"/>
            <a:ext cx="4846320" cy="384048"/>
          </a:xfrm>
          <a:prstGeom prst="rect">
            <a:avLst/>
          </a:prstGeom>
          <a:noFill/>
          <a:ln/>
        </p:spPr>
        <p:txBody>
          <a:bodyPr wrap="square" lIns="0" tIns="0" rIns="0" bIns="0" rtlCol="0" anchor="ctr"/>
          <a:lstStyle/>
          <a:p>
            <a:pPr indent="0" marL="0">
              <a:buNone/>
            </a:pPr>
            <a:r>
              <a:rPr lang="en-US" sz="1600" dirty="0">
                <a:solidFill>
                  <a:schemeClr val="bg1"/>
                </a:solidFill>
              </a:rPr>
              <a:t>Integration, Dekonvolution, Identifizierung</a:t>
            </a:r>
            <a:endParaRPr lang="en-US" sz="1600" dirty="0"/>
          </a:p>
        </p:txBody>
      </p:sp>
      <p:sp>
        <p:nvSpPr>
          <p:cNvPr id="11" name="Shape 7"/>
          <p:cNvSpPr/>
          <p:nvPr/>
        </p:nvSpPr>
        <p:spPr>
          <a:xfrm>
            <a:off x="640080" y="4983480"/>
            <a:ext cx="384048" cy="384048"/>
          </a:xfrm>
          <a:prstGeom prst="ellipse">
            <a:avLst/>
          </a:prstGeom>
          <a:solidFill>
            <a:srgbClr val="24485A"/>
          </a:solidFill>
          <a:ln/>
        </p:spPr>
      </p:sp>
      <p:pic>
        <p:nvPicPr>
          <p:cNvPr id="12" name="Image 2" descr="Symbol">    </p:cNvPr>
          <p:cNvPicPr>
            <a:picLocks noChangeAspect="1"/>
          </p:cNvPicPr>
          <p:nvPr/>
        </p:nvPicPr>
        <p:blipFill>
          <a:blip r:embed="rId3"/>
          <a:stretch>
            <a:fillRect/>
          </a:stretch>
        </p:blipFill>
        <p:spPr>
          <a:xfrm>
            <a:off x="724571" y="5067971"/>
            <a:ext cx="215067" cy="215067"/>
          </a:xfrm>
          <a:prstGeom prst="rect">
            <a:avLst/>
          </a:prstGeom>
        </p:spPr>
      </p:pic>
      <p:sp>
        <p:nvSpPr>
          <p:cNvPr id="13" name="Text 8"/>
          <p:cNvSpPr txBox="1"/>
          <p:nvPr/>
        </p:nvSpPr>
        <p:spPr>
          <a:xfrm>
            <a:off x="1188720" y="4983480"/>
            <a:ext cx="4846320" cy="384048"/>
          </a:xfrm>
          <a:prstGeom prst="rect">
            <a:avLst/>
          </a:prstGeom>
          <a:noFill/>
          <a:ln/>
        </p:spPr>
        <p:txBody>
          <a:bodyPr wrap="square" lIns="0" tIns="0" rIns="0" bIns="0" rtlCol="0" anchor="ctr"/>
          <a:lstStyle/>
          <a:p>
            <a:pPr indent="0" marL="0">
              <a:buNone/>
            </a:pPr>
            <a:r>
              <a:rPr lang="en-US" sz="1600" dirty="0">
                <a:solidFill>
                  <a:schemeClr val="bg1"/>
                </a:solidFill>
              </a:rPr>
              <a:t>Doppelbestimmung und Report ohne Klick</a:t>
            </a:r>
            <a:endParaRPr lang="en-US" sz="1600" dirty="0"/>
          </a:p>
        </p:txBody>
      </p:sp>
      <p:pic>
        <p:nvPicPr>
          <p:cNvPr id="14" name="Image 3" descr="GC Workspace im Neon-Design">    </p:cNvPr>
          <p:cNvPicPr>
            <a:picLocks noChangeAspect="1"/>
          </p:cNvPicPr>
          <p:nvPr/>
        </p:nvPicPr>
        <p:blipFill>
          <a:blip r:embed="rId4"/>
          <a:stretch>
            <a:fillRect/>
          </a:stretch>
        </p:blipFill>
        <p:spPr>
          <a:xfrm>
            <a:off x="6355080" y="1417320"/>
            <a:ext cx="5257800" cy="2957170"/>
          </a:xfrm>
          <a:prstGeom prst="rect">
            <a:avLst/>
          </a:prstGeom>
          <a:effectLst>
            <a:outerShdw sx="100000" sy="100000" kx="0" ky="0" algn="bl" rotWithShape="0" blurRad="152400" dist="50800" dir="5400000">
              <a:srgbClr val="000000">
                <a:alpha val="50000"/>
              </a:srgbClr>
            </a:outerShdw>
          </a:effectLst>
        </p:spPr>
      </p:pic>
      <p:sp>
        <p:nvSpPr>
          <p:cNvPr id="15" name="Shape 9"/>
          <p:cNvSpPr/>
          <p:nvPr/>
        </p:nvSpPr>
        <p:spPr>
          <a:xfrm>
            <a:off x="6355080" y="1417320"/>
            <a:ext cx="5257800" cy="2957170"/>
          </a:xfrm>
          <a:prstGeom prst="rect">
            <a:avLst/>
          </a:prstGeom>
          <a:ln w="12700">
            <a:solidFill>
              <a:srgbClr val="2B4756"/>
            </a:solidFill>
            <a:prstDash val="solid"/>
          </a:ln>
        </p:spPr>
      </p:sp>
      <p:sp>
        <p:nvSpPr>
          <p:cNvPr id="16" name="Text 10"/>
          <p:cNvSpPr txBox="1"/>
          <p:nvPr/>
        </p:nvSpPr>
        <p:spPr>
          <a:xfrm>
            <a:off x="6355080" y="4480560"/>
            <a:ext cx="5257800" cy="274320"/>
          </a:xfrm>
          <a:prstGeom prst="rect">
            <a:avLst/>
          </a:prstGeom>
          <a:noFill/>
          <a:ln/>
        </p:spPr>
        <p:txBody>
          <a:bodyPr wrap="square" lIns="0" tIns="0" rIns="0" bIns="0" rtlCol="0" anchor="t"/>
          <a:lstStyle/>
          <a:p>
            <a:pPr indent="0" marL="0">
              <a:buNone/>
            </a:pPr>
            <a:r>
              <a:rPr lang="en-US" sz="1200" i="1" dirty="0">
                <a:solidFill>
                  <a:srgbClr val="8FA6B2"/>
                </a:solidFill>
              </a:rPr>
              <a:t>GC Workspace im Neon-Design: FID oben, TIC unten</a:t>
            </a:r>
            <a:endParaRPr lang="en-US" sz="1200" dirty="0"/>
          </a:p>
        </p:txBody>
      </p:sp>
      <p:sp>
        <p:nvSpPr>
          <p:cNvPr id="17" name="Text 11"/>
          <p:cNvSpPr txBox="1"/>
          <p:nvPr/>
        </p:nvSpPr>
        <p:spPr>
          <a:xfrm>
            <a:off x="640080" y="6080760"/>
            <a:ext cx="4572000" cy="274320"/>
          </a:xfrm>
          <a:prstGeom prst="rect">
            <a:avLst/>
          </a:prstGeom>
          <a:noFill/>
          <a:ln/>
        </p:spPr>
        <p:txBody>
          <a:bodyPr wrap="square" lIns="0" tIns="0" rIns="0" bIns="0" rtlCol="0" anchor="t"/>
          <a:lstStyle/>
          <a:p>
            <a:pPr indent="0" marL="0">
              <a:buNone/>
            </a:pPr>
            <a:r>
              <a:rPr lang="en-US" sz="1100" dirty="0">
                <a:solidFill>
                  <a:srgbClr val="8FA6B2"/>
                </a:solidFill>
              </a:rPr>
              <a:t>Stand Oktober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51206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ÜBERBLICK</a:t>
            </a:r>
            <a:endParaRPr lang="en-US" sz="1200" dirty="0"/>
          </a:p>
        </p:txBody>
      </p:sp>
      <p:sp>
        <p:nvSpPr>
          <p:cNvPr id="3" name="Text 0"/>
          <p:cNvSpPr/>
          <p:nvPr>
            <p:ph idx="101" type="title" hasCustomPrompt="1"/>
          </p:nvPr>
        </p:nvSpPr>
        <p:spPr>
          <a:xfrm>
            <a:off x="548640" y="676656"/>
            <a:ext cx="11094415" cy="914400"/>
          </a:xfrm>
          <a:prstGeom prst="rect">
            <a:avLst/>
          </a:prstGeom>
          <a:noFill/>
          <a:ln/>
        </p:spPr>
        <p:txBody>
          <a:bodyPr wrap="square" lIns="0" tIns="0" rIns="0" bIns="0" rtlCol="0" anchor="t"/>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Ein Programm deckt den ganzen Weg vom Messordner bis zum Report ab</a:t>
            </a:r>
            <a:endParaRPr lang="en-US" sz="2800" dirty="0"/>
          </a:p>
        </p:txBody>
      </p:sp>
      <p:sp>
        <p:nvSpPr>
          <p:cNvPr id="4" name="Text 2"/>
          <p:cNvSpPr txBox="1"/>
          <p:nvPr/>
        </p:nvSpPr>
        <p:spPr>
          <a:xfrm>
            <a:off x="5669280" y="347472"/>
            <a:ext cx="5971032" cy="292608"/>
          </a:xfrm>
          <a:prstGeom prst="rect">
            <a:avLst/>
          </a:prstGeom>
          <a:noFill/>
          <a:ln/>
        </p:spPr>
        <p:txBody>
          <a:bodyPr wrap="square" lIns="0" tIns="0" rIns="0" bIns="0" rtlCol="0" anchor="ctr"/>
          <a:lstStyle/>
          <a:p>
            <a:pPr algn="r" indent="0" marL="0">
              <a:buNone/>
            </a:pPr>
            <a:r>
              <a:rPr lang="en-US" sz="1100" dirty="0">
                <a:solidFill>
                  <a:srgbClr val="A7B3B9"/>
                </a:solidFill>
              </a:rPr>
              <a:t>Daten</a:t>
            </a:r>
            <a:pPr algn="r" indent="0" marL="0">
              <a:buNone/>
            </a:pPr>
            <a:r>
              <a:rPr lang="en-US" sz="1100" dirty="0">
                <a:solidFill>
                  <a:srgbClr val="C9D3D8"/>
                </a:solidFill>
              </a:rPr>
              <a:t>   ·   </a:t>
            </a:r>
            <a:pPr algn="r" indent="0" marL="0">
              <a:buNone/>
            </a:pPr>
            <a:r>
              <a:rPr lang="en-US" sz="1100" dirty="0">
                <a:solidFill>
                  <a:srgbClr val="A7B3B9"/>
                </a:solidFill>
              </a:rPr>
              <a:t>Integration</a:t>
            </a:r>
            <a:pPr algn="r" indent="0" marL="0">
              <a:buNone/>
            </a:pPr>
            <a:r>
              <a:rPr lang="en-US" sz="1100" dirty="0">
                <a:solidFill>
                  <a:srgbClr val="C9D3D8"/>
                </a:solidFill>
              </a:rPr>
              <a:t>   ·   </a:t>
            </a:r>
            <a:pPr algn="r" indent="0" marL="0">
              <a:buNone/>
            </a:pPr>
            <a:r>
              <a:rPr lang="en-US" sz="1100" dirty="0">
                <a:solidFill>
                  <a:srgbClr val="A7B3B9"/>
                </a:solidFill>
              </a:rPr>
              <a:t>Identifizierung</a:t>
            </a:r>
            <a:pPr algn="r" indent="0" marL="0">
              <a:buNone/>
            </a:pPr>
            <a:r>
              <a:rPr lang="en-US" sz="1100" dirty="0">
                <a:solidFill>
                  <a:srgbClr val="C9D3D8"/>
                </a:solidFill>
              </a:rPr>
              <a:t>   ·   </a:t>
            </a:r>
            <a:pPr algn="r" indent="0" marL="0">
              <a:buNone/>
            </a:pPr>
            <a:r>
              <a:rPr lang="en-US" sz="1100" dirty="0">
                <a:solidFill>
                  <a:srgbClr val="A7B3B9"/>
                </a:solidFill>
              </a:rPr>
              <a:t>Doppelbestimmung</a:t>
            </a:r>
            <a:pPr algn="r" indent="0" marL="0">
              <a:buNone/>
            </a:pPr>
            <a:r>
              <a:rPr lang="en-US" sz="1100" dirty="0">
                <a:solidFill>
                  <a:srgbClr val="C9D3D8"/>
                </a:solidFill>
              </a:rPr>
              <a:t>   ·   </a:t>
            </a:r>
            <a:pPr algn="r" indent="0" marL="0">
              <a:buNone/>
            </a:pPr>
            <a:r>
              <a:rPr lang="en-US" sz="1100" dirty="0">
                <a:solidFill>
                  <a:srgbClr val="A7B3B9"/>
                </a:solidFill>
              </a:rPr>
              <a:t>Reporting</a:t>
            </a:r>
            <a:endParaRPr lang="en-US" sz="1100" dirty="0"/>
          </a:p>
        </p:txBody>
      </p:sp>
      <p:sp>
        <p:nvSpPr>
          <p:cNvPr id="5" name="Shape 3"/>
          <p:cNvSpPr/>
          <p:nvPr/>
        </p:nvSpPr>
        <p:spPr>
          <a:xfrm>
            <a:off x="548640" y="1965960"/>
            <a:ext cx="1645920" cy="2423160"/>
          </a:xfrm>
          <a:prstGeom prst="roundRect">
            <a:avLst>
              <a:gd name="adj" fmla="val 4444"/>
            </a:avLst>
          </a:prstGeom>
          <a:solidFill>
            <a:schemeClr val="tx2"/>
          </a:solidFill>
          <a:ln/>
        </p:spPr>
      </p:sp>
      <p:sp>
        <p:nvSpPr>
          <p:cNvPr id="6" name="Shape 4"/>
          <p:cNvSpPr/>
          <p:nvPr/>
        </p:nvSpPr>
        <p:spPr>
          <a:xfrm>
            <a:off x="1028700" y="2240280"/>
            <a:ext cx="685800" cy="685800"/>
          </a:xfrm>
          <a:prstGeom prst="ellipse">
            <a:avLst/>
          </a:prstGeom>
          <a:solidFill>
            <a:srgbClr val="24607A"/>
          </a:solidFill>
          <a:ln/>
        </p:spPr>
      </p:sp>
      <p:pic>
        <p:nvPicPr>
          <p:cNvPr id="7" name="Image 0" descr="Symbol">    </p:cNvPr>
          <p:cNvPicPr>
            <a:picLocks noChangeAspect="1"/>
          </p:cNvPicPr>
          <p:nvPr/>
        </p:nvPicPr>
        <p:blipFill>
          <a:blip r:embed="rId1"/>
          <a:stretch>
            <a:fillRect/>
          </a:stretch>
        </p:blipFill>
        <p:spPr>
          <a:xfrm>
            <a:off x="1179576" y="2391156"/>
            <a:ext cx="384048" cy="384048"/>
          </a:xfrm>
          <a:prstGeom prst="rect">
            <a:avLst/>
          </a:prstGeom>
        </p:spPr>
      </p:pic>
      <p:sp>
        <p:nvSpPr>
          <p:cNvPr id="8" name="Text 5"/>
          <p:cNvSpPr txBox="1"/>
          <p:nvPr/>
        </p:nvSpPr>
        <p:spPr>
          <a:xfrm>
            <a:off x="548640" y="2990088"/>
            <a:ext cx="1645920" cy="274320"/>
          </a:xfrm>
          <a:prstGeom prst="rect">
            <a:avLst/>
          </a:prstGeom>
          <a:noFill/>
          <a:ln/>
        </p:spPr>
        <p:txBody>
          <a:bodyPr wrap="square" lIns="0" tIns="0" rIns="0" bIns="0" rtlCol="0" anchor="t"/>
          <a:lstStyle/>
          <a:p>
            <a:pPr algn="ctr" indent="0" marL="0">
              <a:buNone/>
            </a:pPr>
            <a:r>
              <a:rPr lang="en-US" sz="1300" b="1" dirty="0">
                <a:solidFill>
                  <a:schemeClr val="accent6"/>
                </a:solidFill>
              </a:rPr>
              <a:t>1</a:t>
            </a:r>
            <a:endParaRPr lang="en-US" sz="1300" dirty="0"/>
          </a:p>
        </p:txBody>
      </p:sp>
      <p:sp>
        <p:nvSpPr>
          <p:cNvPr id="9" name="Text 6"/>
          <p:cNvSpPr txBox="1"/>
          <p:nvPr/>
        </p:nvSpPr>
        <p:spPr>
          <a:xfrm>
            <a:off x="594360" y="3172968"/>
            <a:ext cx="1554480" cy="566928"/>
          </a:xfrm>
          <a:prstGeom prst="rect">
            <a:avLst/>
          </a:prstGeom>
          <a:noFill/>
          <a:ln/>
        </p:spPr>
        <p:txBody>
          <a:bodyPr wrap="square" lIns="0" tIns="0" rIns="0" bIns="0" rtlCol="0" anchor="b"/>
          <a:lstStyle/>
          <a:p>
            <a:pPr algn="ctr" indent="0" marL="0">
              <a:lnSpc>
                <a:spcPct val="90000"/>
              </a:lnSpc>
              <a:buNone/>
            </a:pPr>
            <a:r>
              <a:rPr lang="en-US" sz="1600" b="1" dirty="0">
                <a:solidFill>
                  <a:schemeClr val="bg1"/>
                </a:solidFill>
              </a:rPr>
              <a:t>Rohdaten</a:t>
            </a:r>
            <a:endParaRPr lang="en-US" sz="1600" dirty="0"/>
          </a:p>
        </p:txBody>
      </p:sp>
      <p:sp>
        <p:nvSpPr>
          <p:cNvPr id="10" name="Text 7"/>
          <p:cNvSpPr txBox="1"/>
          <p:nvPr/>
        </p:nvSpPr>
        <p:spPr>
          <a:xfrm>
            <a:off x="658368" y="3849624"/>
            <a:ext cx="1426464" cy="457200"/>
          </a:xfrm>
          <a:prstGeom prst="rect">
            <a:avLst/>
          </a:prstGeom>
          <a:noFill/>
          <a:ln/>
        </p:spPr>
        <p:txBody>
          <a:bodyPr wrap="square" lIns="0" tIns="0" rIns="0" bIns="0" rtlCol="0" anchor="t"/>
          <a:lstStyle/>
          <a:p>
            <a:pPr algn="ctr" indent="0" marL="0">
              <a:buNone/>
            </a:pPr>
            <a:r>
              <a:rPr lang="en-US" sz="1300" dirty="0">
                <a:solidFill>
                  <a:srgbClr val="CFE0E8"/>
                </a:solidFill>
              </a:rPr>
              <a:t>Agilent, Shimadzu, Bibliotheken</a:t>
            </a:r>
            <a:endParaRPr lang="en-US" sz="1300" dirty="0"/>
          </a:p>
        </p:txBody>
      </p:sp>
      <p:sp>
        <p:nvSpPr>
          <p:cNvPr id="11" name="Shape 8"/>
          <p:cNvSpPr/>
          <p:nvPr/>
        </p:nvSpPr>
        <p:spPr>
          <a:xfrm>
            <a:off x="2221992" y="3177540"/>
            <a:ext cx="188915" cy="0"/>
          </a:xfrm>
          <a:prstGeom prst="line">
            <a:avLst/>
          </a:prstGeom>
          <a:noFill/>
          <a:ln w="25400">
            <a:solidFill>
              <a:srgbClr val="9AA5AB"/>
            </a:solidFill>
            <a:prstDash val="solid"/>
            <a:tailEnd type="triangle"/>
          </a:ln>
        </p:spPr>
      </p:sp>
      <p:sp>
        <p:nvSpPr>
          <p:cNvPr id="12" name="Shape 9"/>
          <p:cNvSpPr/>
          <p:nvPr/>
        </p:nvSpPr>
        <p:spPr>
          <a:xfrm>
            <a:off x="2438339" y="1965960"/>
            <a:ext cx="1645920" cy="2423160"/>
          </a:xfrm>
          <a:prstGeom prst="roundRect">
            <a:avLst>
              <a:gd name="adj" fmla="val 4444"/>
            </a:avLst>
          </a:prstGeom>
          <a:solidFill>
            <a:schemeClr val="tx2"/>
          </a:solidFill>
          <a:ln/>
        </p:spPr>
      </p:sp>
      <p:sp>
        <p:nvSpPr>
          <p:cNvPr id="13" name="Shape 10"/>
          <p:cNvSpPr/>
          <p:nvPr/>
        </p:nvSpPr>
        <p:spPr>
          <a:xfrm>
            <a:off x="2918399" y="2240280"/>
            <a:ext cx="685800" cy="685800"/>
          </a:xfrm>
          <a:prstGeom prst="ellipse">
            <a:avLst/>
          </a:prstGeom>
          <a:solidFill>
            <a:srgbClr val="24607A"/>
          </a:solidFill>
          <a:ln/>
        </p:spPr>
      </p:sp>
      <p:pic>
        <p:nvPicPr>
          <p:cNvPr id="14" name="Image 1" descr="Symbol">    </p:cNvPr>
          <p:cNvPicPr>
            <a:picLocks noChangeAspect="1"/>
          </p:cNvPicPr>
          <p:nvPr/>
        </p:nvPicPr>
        <p:blipFill>
          <a:blip r:embed="rId2"/>
          <a:stretch>
            <a:fillRect/>
          </a:stretch>
        </p:blipFill>
        <p:spPr>
          <a:xfrm>
            <a:off x="3069275" y="2391156"/>
            <a:ext cx="384048" cy="384048"/>
          </a:xfrm>
          <a:prstGeom prst="rect">
            <a:avLst/>
          </a:prstGeom>
        </p:spPr>
      </p:pic>
      <p:sp>
        <p:nvSpPr>
          <p:cNvPr id="15" name="Text 11"/>
          <p:cNvSpPr txBox="1"/>
          <p:nvPr/>
        </p:nvSpPr>
        <p:spPr>
          <a:xfrm>
            <a:off x="2438339" y="2990088"/>
            <a:ext cx="1645920" cy="274320"/>
          </a:xfrm>
          <a:prstGeom prst="rect">
            <a:avLst/>
          </a:prstGeom>
          <a:noFill/>
          <a:ln/>
        </p:spPr>
        <p:txBody>
          <a:bodyPr wrap="square" lIns="0" tIns="0" rIns="0" bIns="0" rtlCol="0" anchor="t"/>
          <a:lstStyle/>
          <a:p>
            <a:pPr algn="ctr" indent="0" marL="0">
              <a:buNone/>
            </a:pPr>
            <a:r>
              <a:rPr lang="en-US" sz="1300" b="1" dirty="0">
                <a:solidFill>
                  <a:schemeClr val="accent6"/>
                </a:solidFill>
              </a:rPr>
              <a:t>2</a:t>
            </a:r>
            <a:endParaRPr lang="en-US" sz="1300" dirty="0"/>
          </a:p>
        </p:txBody>
      </p:sp>
      <p:sp>
        <p:nvSpPr>
          <p:cNvPr id="16" name="Text 12"/>
          <p:cNvSpPr txBox="1"/>
          <p:nvPr/>
        </p:nvSpPr>
        <p:spPr>
          <a:xfrm>
            <a:off x="2484059" y="3172968"/>
            <a:ext cx="1554480" cy="566928"/>
          </a:xfrm>
          <a:prstGeom prst="rect">
            <a:avLst/>
          </a:prstGeom>
          <a:noFill/>
          <a:ln/>
        </p:spPr>
        <p:txBody>
          <a:bodyPr wrap="square" lIns="0" tIns="0" rIns="0" bIns="0" rtlCol="0" anchor="b"/>
          <a:lstStyle/>
          <a:p>
            <a:pPr algn="ctr" indent="0" marL="0">
              <a:lnSpc>
                <a:spcPct val="90000"/>
              </a:lnSpc>
              <a:buNone/>
            </a:pPr>
            <a:r>
              <a:rPr lang="en-US" sz="1600" b="1" dirty="0">
                <a:solidFill>
                  <a:schemeClr val="bg1"/>
                </a:solidFill>
              </a:rPr>
              <a:t>Integration</a:t>
            </a:r>
            <a:endParaRPr lang="en-US" sz="1600" dirty="0"/>
          </a:p>
        </p:txBody>
      </p:sp>
      <p:sp>
        <p:nvSpPr>
          <p:cNvPr id="17" name="Text 13"/>
          <p:cNvSpPr txBox="1"/>
          <p:nvPr/>
        </p:nvSpPr>
        <p:spPr>
          <a:xfrm>
            <a:off x="2548067" y="3849624"/>
            <a:ext cx="1426464" cy="457200"/>
          </a:xfrm>
          <a:prstGeom prst="rect">
            <a:avLst/>
          </a:prstGeom>
          <a:noFill/>
          <a:ln/>
        </p:spPr>
        <p:txBody>
          <a:bodyPr wrap="square" lIns="0" tIns="0" rIns="0" bIns="0" rtlCol="0" anchor="t"/>
          <a:lstStyle/>
          <a:p>
            <a:pPr algn="ctr" indent="0" marL="0">
              <a:buNone/>
            </a:pPr>
            <a:r>
              <a:rPr lang="en-US" sz="1300" dirty="0">
                <a:solidFill>
                  <a:srgbClr val="CFE0E8"/>
                </a:solidFill>
              </a:rPr>
              <a:t>automatisch und korrigierbar</a:t>
            </a:r>
            <a:endParaRPr lang="en-US" sz="1300" dirty="0"/>
          </a:p>
        </p:txBody>
      </p:sp>
      <p:sp>
        <p:nvSpPr>
          <p:cNvPr id="18" name="Shape 14"/>
          <p:cNvSpPr/>
          <p:nvPr/>
        </p:nvSpPr>
        <p:spPr>
          <a:xfrm>
            <a:off x="4111691" y="3177540"/>
            <a:ext cx="188915" cy="0"/>
          </a:xfrm>
          <a:prstGeom prst="line">
            <a:avLst/>
          </a:prstGeom>
          <a:noFill/>
          <a:ln w="25400">
            <a:solidFill>
              <a:srgbClr val="9AA5AB"/>
            </a:solidFill>
            <a:prstDash val="solid"/>
            <a:tailEnd type="triangle"/>
          </a:ln>
        </p:spPr>
      </p:sp>
      <p:sp>
        <p:nvSpPr>
          <p:cNvPr id="19" name="Shape 15"/>
          <p:cNvSpPr/>
          <p:nvPr/>
        </p:nvSpPr>
        <p:spPr>
          <a:xfrm>
            <a:off x="4328038" y="1965960"/>
            <a:ext cx="1645920" cy="2423160"/>
          </a:xfrm>
          <a:prstGeom prst="roundRect">
            <a:avLst>
              <a:gd name="adj" fmla="val 4444"/>
            </a:avLst>
          </a:prstGeom>
          <a:solidFill>
            <a:schemeClr val="tx2"/>
          </a:solidFill>
          <a:ln/>
        </p:spPr>
      </p:sp>
      <p:sp>
        <p:nvSpPr>
          <p:cNvPr id="20" name="Shape 16"/>
          <p:cNvSpPr/>
          <p:nvPr/>
        </p:nvSpPr>
        <p:spPr>
          <a:xfrm>
            <a:off x="4808098" y="2240280"/>
            <a:ext cx="685800" cy="685800"/>
          </a:xfrm>
          <a:prstGeom prst="ellipse">
            <a:avLst/>
          </a:prstGeom>
          <a:solidFill>
            <a:srgbClr val="24607A"/>
          </a:solidFill>
          <a:ln/>
        </p:spPr>
      </p:sp>
      <p:pic>
        <p:nvPicPr>
          <p:cNvPr id="21" name="Image 2" descr="Symbol">    </p:cNvPr>
          <p:cNvPicPr>
            <a:picLocks noChangeAspect="1"/>
          </p:cNvPicPr>
          <p:nvPr/>
        </p:nvPicPr>
        <p:blipFill>
          <a:blip r:embed="rId3"/>
          <a:stretch>
            <a:fillRect/>
          </a:stretch>
        </p:blipFill>
        <p:spPr>
          <a:xfrm>
            <a:off x="4958974" y="2391156"/>
            <a:ext cx="384048" cy="384048"/>
          </a:xfrm>
          <a:prstGeom prst="rect">
            <a:avLst/>
          </a:prstGeom>
        </p:spPr>
      </p:pic>
      <p:sp>
        <p:nvSpPr>
          <p:cNvPr id="22" name="Text 17"/>
          <p:cNvSpPr txBox="1"/>
          <p:nvPr/>
        </p:nvSpPr>
        <p:spPr>
          <a:xfrm>
            <a:off x="4328038" y="2990088"/>
            <a:ext cx="1645920" cy="274320"/>
          </a:xfrm>
          <a:prstGeom prst="rect">
            <a:avLst/>
          </a:prstGeom>
          <a:noFill/>
          <a:ln/>
        </p:spPr>
        <p:txBody>
          <a:bodyPr wrap="square" lIns="0" tIns="0" rIns="0" bIns="0" rtlCol="0" anchor="t"/>
          <a:lstStyle/>
          <a:p>
            <a:pPr algn="ctr" indent="0" marL="0">
              <a:buNone/>
            </a:pPr>
            <a:r>
              <a:rPr lang="en-US" sz="1300" b="1" dirty="0">
                <a:solidFill>
                  <a:schemeClr val="accent6"/>
                </a:solidFill>
              </a:rPr>
              <a:t>3</a:t>
            </a:r>
            <a:endParaRPr lang="en-US" sz="1300" dirty="0"/>
          </a:p>
        </p:txBody>
      </p:sp>
      <p:sp>
        <p:nvSpPr>
          <p:cNvPr id="23" name="Text 18"/>
          <p:cNvSpPr txBox="1"/>
          <p:nvPr/>
        </p:nvSpPr>
        <p:spPr>
          <a:xfrm>
            <a:off x="4373758" y="3172968"/>
            <a:ext cx="1554480" cy="566928"/>
          </a:xfrm>
          <a:prstGeom prst="rect">
            <a:avLst/>
          </a:prstGeom>
          <a:noFill/>
          <a:ln/>
        </p:spPr>
        <p:txBody>
          <a:bodyPr wrap="square" lIns="0" tIns="0" rIns="0" bIns="0" rtlCol="0" anchor="b"/>
          <a:lstStyle/>
          <a:p>
            <a:pPr algn="ctr" indent="0" marL="0">
              <a:lnSpc>
                <a:spcPct val="90000"/>
              </a:lnSpc>
              <a:buNone/>
            </a:pPr>
            <a:r>
              <a:rPr lang="en-US" sz="1600" b="1" dirty="0">
                <a:solidFill>
                  <a:schemeClr val="bg1"/>
                </a:solidFill>
              </a:rPr>
              <a:t>Dekonvolution</a:t>
            </a:r>
            <a:endParaRPr lang="en-US" sz="1600" dirty="0"/>
          </a:p>
        </p:txBody>
      </p:sp>
      <p:sp>
        <p:nvSpPr>
          <p:cNvPr id="24" name="Text 19"/>
          <p:cNvSpPr txBox="1"/>
          <p:nvPr/>
        </p:nvSpPr>
        <p:spPr>
          <a:xfrm>
            <a:off x="4437766" y="3849624"/>
            <a:ext cx="1426464" cy="457200"/>
          </a:xfrm>
          <a:prstGeom prst="rect">
            <a:avLst/>
          </a:prstGeom>
          <a:noFill/>
          <a:ln/>
        </p:spPr>
        <p:txBody>
          <a:bodyPr wrap="square" lIns="0" tIns="0" rIns="0" bIns="0" rtlCol="0" anchor="t"/>
          <a:lstStyle/>
          <a:p>
            <a:pPr algn="ctr" indent="0" marL="0">
              <a:buNone/>
            </a:pPr>
            <a:r>
              <a:rPr lang="en-US" sz="1300" dirty="0">
                <a:solidFill>
                  <a:srgbClr val="CFE0E8"/>
                </a:solidFill>
              </a:rPr>
              <a:t>Koelutionen trennen</a:t>
            </a:r>
            <a:endParaRPr lang="en-US" sz="1300" dirty="0"/>
          </a:p>
        </p:txBody>
      </p:sp>
      <p:sp>
        <p:nvSpPr>
          <p:cNvPr id="25" name="Shape 20"/>
          <p:cNvSpPr/>
          <p:nvPr/>
        </p:nvSpPr>
        <p:spPr>
          <a:xfrm>
            <a:off x="6001390" y="3177540"/>
            <a:ext cx="188915" cy="0"/>
          </a:xfrm>
          <a:prstGeom prst="line">
            <a:avLst/>
          </a:prstGeom>
          <a:noFill/>
          <a:ln w="25400">
            <a:solidFill>
              <a:srgbClr val="9AA5AB"/>
            </a:solidFill>
            <a:prstDash val="solid"/>
            <a:tailEnd type="triangle"/>
          </a:ln>
        </p:spPr>
      </p:sp>
      <p:sp>
        <p:nvSpPr>
          <p:cNvPr id="26" name="Shape 21"/>
          <p:cNvSpPr/>
          <p:nvPr/>
        </p:nvSpPr>
        <p:spPr>
          <a:xfrm>
            <a:off x="6217737" y="1965960"/>
            <a:ext cx="1645920" cy="2423160"/>
          </a:xfrm>
          <a:prstGeom prst="roundRect">
            <a:avLst>
              <a:gd name="adj" fmla="val 4444"/>
            </a:avLst>
          </a:prstGeom>
          <a:solidFill>
            <a:schemeClr val="tx2"/>
          </a:solidFill>
          <a:ln/>
        </p:spPr>
      </p:sp>
      <p:sp>
        <p:nvSpPr>
          <p:cNvPr id="27" name="Shape 22"/>
          <p:cNvSpPr/>
          <p:nvPr/>
        </p:nvSpPr>
        <p:spPr>
          <a:xfrm>
            <a:off x="6697797" y="2240280"/>
            <a:ext cx="685800" cy="685800"/>
          </a:xfrm>
          <a:prstGeom prst="ellipse">
            <a:avLst/>
          </a:prstGeom>
          <a:solidFill>
            <a:srgbClr val="24607A"/>
          </a:solidFill>
          <a:ln/>
        </p:spPr>
      </p:sp>
      <p:pic>
        <p:nvPicPr>
          <p:cNvPr id="28" name="Image 3" descr="Symbol">    </p:cNvPr>
          <p:cNvPicPr>
            <a:picLocks noChangeAspect="1"/>
          </p:cNvPicPr>
          <p:nvPr/>
        </p:nvPicPr>
        <p:blipFill>
          <a:blip r:embed="rId4"/>
          <a:stretch>
            <a:fillRect/>
          </a:stretch>
        </p:blipFill>
        <p:spPr>
          <a:xfrm>
            <a:off x="6848673" y="2391156"/>
            <a:ext cx="384048" cy="384048"/>
          </a:xfrm>
          <a:prstGeom prst="rect">
            <a:avLst/>
          </a:prstGeom>
        </p:spPr>
      </p:pic>
      <p:sp>
        <p:nvSpPr>
          <p:cNvPr id="29" name="Text 23"/>
          <p:cNvSpPr txBox="1"/>
          <p:nvPr/>
        </p:nvSpPr>
        <p:spPr>
          <a:xfrm>
            <a:off x="6217737" y="2990088"/>
            <a:ext cx="1645920" cy="274320"/>
          </a:xfrm>
          <a:prstGeom prst="rect">
            <a:avLst/>
          </a:prstGeom>
          <a:noFill/>
          <a:ln/>
        </p:spPr>
        <p:txBody>
          <a:bodyPr wrap="square" lIns="0" tIns="0" rIns="0" bIns="0" rtlCol="0" anchor="t"/>
          <a:lstStyle/>
          <a:p>
            <a:pPr algn="ctr" indent="0" marL="0">
              <a:buNone/>
            </a:pPr>
            <a:r>
              <a:rPr lang="en-US" sz="1300" b="1" dirty="0">
                <a:solidFill>
                  <a:schemeClr val="accent6"/>
                </a:solidFill>
              </a:rPr>
              <a:t>4</a:t>
            </a:r>
            <a:endParaRPr lang="en-US" sz="1300" dirty="0"/>
          </a:p>
        </p:txBody>
      </p:sp>
      <p:sp>
        <p:nvSpPr>
          <p:cNvPr id="30" name="Text 24"/>
          <p:cNvSpPr txBox="1"/>
          <p:nvPr/>
        </p:nvSpPr>
        <p:spPr>
          <a:xfrm>
            <a:off x="6263457" y="3172968"/>
            <a:ext cx="1554480" cy="566928"/>
          </a:xfrm>
          <a:prstGeom prst="rect">
            <a:avLst/>
          </a:prstGeom>
          <a:noFill/>
          <a:ln/>
        </p:spPr>
        <p:txBody>
          <a:bodyPr wrap="square" lIns="0" tIns="0" rIns="0" bIns="0" rtlCol="0" anchor="b"/>
          <a:lstStyle/>
          <a:p>
            <a:pPr algn="ctr" indent="0" marL="0">
              <a:lnSpc>
                <a:spcPct val="90000"/>
              </a:lnSpc>
              <a:buNone/>
            </a:pPr>
            <a:r>
              <a:rPr lang="en-US" sz="1600" b="1" dirty="0">
                <a:solidFill>
                  <a:schemeClr val="bg1"/>
                </a:solidFill>
              </a:rPr>
              <a:t>Identifizierung</a:t>
            </a:r>
            <a:endParaRPr lang="en-US" sz="1600" dirty="0"/>
          </a:p>
        </p:txBody>
      </p:sp>
      <p:sp>
        <p:nvSpPr>
          <p:cNvPr id="31" name="Text 25"/>
          <p:cNvSpPr txBox="1"/>
          <p:nvPr/>
        </p:nvSpPr>
        <p:spPr>
          <a:xfrm>
            <a:off x="6327465" y="3849624"/>
            <a:ext cx="1426464" cy="457200"/>
          </a:xfrm>
          <a:prstGeom prst="rect">
            <a:avLst/>
          </a:prstGeom>
          <a:noFill/>
          <a:ln/>
        </p:spPr>
        <p:txBody>
          <a:bodyPr wrap="square" lIns="0" tIns="0" rIns="0" bIns="0" rtlCol="0" anchor="t"/>
          <a:lstStyle/>
          <a:p>
            <a:pPr algn="ctr" indent="0" marL="0">
              <a:buNone/>
            </a:pPr>
            <a:r>
              <a:rPr lang="en-US" sz="1300" dirty="0">
                <a:solidFill>
                  <a:srgbClr val="CFE0E8"/>
                </a:solidFill>
              </a:rPr>
              <a:t>Bibliothek und Standards</a:t>
            </a:r>
            <a:endParaRPr lang="en-US" sz="1300" dirty="0"/>
          </a:p>
        </p:txBody>
      </p:sp>
      <p:sp>
        <p:nvSpPr>
          <p:cNvPr id="32" name="Shape 26"/>
          <p:cNvSpPr/>
          <p:nvPr/>
        </p:nvSpPr>
        <p:spPr>
          <a:xfrm>
            <a:off x="7891089" y="3177540"/>
            <a:ext cx="188915" cy="0"/>
          </a:xfrm>
          <a:prstGeom prst="line">
            <a:avLst/>
          </a:prstGeom>
          <a:noFill/>
          <a:ln w="25400">
            <a:solidFill>
              <a:srgbClr val="9AA5AB"/>
            </a:solidFill>
            <a:prstDash val="solid"/>
            <a:tailEnd type="triangle"/>
          </a:ln>
        </p:spPr>
      </p:sp>
      <p:sp>
        <p:nvSpPr>
          <p:cNvPr id="33" name="Shape 27"/>
          <p:cNvSpPr/>
          <p:nvPr/>
        </p:nvSpPr>
        <p:spPr>
          <a:xfrm>
            <a:off x="8107436" y="1965960"/>
            <a:ext cx="1645920" cy="2423160"/>
          </a:xfrm>
          <a:prstGeom prst="roundRect">
            <a:avLst>
              <a:gd name="adj" fmla="val 4444"/>
            </a:avLst>
          </a:prstGeom>
          <a:solidFill>
            <a:schemeClr val="tx2"/>
          </a:solidFill>
          <a:ln/>
        </p:spPr>
      </p:sp>
      <p:sp>
        <p:nvSpPr>
          <p:cNvPr id="34" name="Shape 28"/>
          <p:cNvSpPr/>
          <p:nvPr/>
        </p:nvSpPr>
        <p:spPr>
          <a:xfrm>
            <a:off x="8587496" y="2240280"/>
            <a:ext cx="685800" cy="685800"/>
          </a:xfrm>
          <a:prstGeom prst="ellipse">
            <a:avLst/>
          </a:prstGeom>
          <a:solidFill>
            <a:srgbClr val="24607A"/>
          </a:solidFill>
          <a:ln/>
        </p:spPr>
      </p:sp>
      <p:pic>
        <p:nvPicPr>
          <p:cNvPr id="35" name="Image 4" descr="Symbol">    </p:cNvPr>
          <p:cNvPicPr>
            <a:picLocks noChangeAspect="1"/>
          </p:cNvPicPr>
          <p:nvPr/>
        </p:nvPicPr>
        <p:blipFill>
          <a:blip r:embed="rId5"/>
          <a:stretch>
            <a:fillRect/>
          </a:stretch>
        </p:blipFill>
        <p:spPr>
          <a:xfrm>
            <a:off x="8738372" y="2391156"/>
            <a:ext cx="384048" cy="384048"/>
          </a:xfrm>
          <a:prstGeom prst="rect">
            <a:avLst/>
          </a:prstGeom>
        </p:spPr>
      </p:pic>
      <p:sp>
        <p:nvSpPr>
          <p:cNvPr id="36" name="Text 29"/>
          <p:cNvSpPr txBox="1"/>
          <p:nvPr/>
        </p:nvSpPr>
        <p:spPr>
          <a:xfrm>
            <a:off x="8107436" y="2990088"/>
            <a:ext cx="1645920" cy="274320"/>
          </a:xfrm>
          <a:prstGeom prst="rect">
            <a:avLst/>
          </a:prstGeom>
          <a:noFill/>
          <a:ln/>
        </p:spPr>
        <p:txBody>
          <a:bodyPr wrap="square" lIns="0" tIns="0" rIns="0" bIns="0" rtlCol="0" anchor="t"/>
          <a:lstStyle/>
          <a:p>
            <a:pPr algn="ctr" indent="0" marL="0">
              <a:buNone/>
            </a:pPr>
            <a:r>
              <a:rPr lang="en-US" sz="1300" b="1" dirty="0">
                <a:solidFill>
                  <a:schemeClr val="accent6"/>
                </a:solidFill>
              </a:rPr>
              <a:t>5</a:t>
            </a:r>
            <a:endParaRPr lang="en-US" sz="1300" dirty="0"/>
          </a:p>
        </p:txBody>
      </p:sp>
      <p:sp>
        <p:nvSpPr>
          <p:cNvPr id="37" name="Text 30"/>
          <p:cNvSpPr txBox="1"/>
          <p:nvPr/>
        </p:nvSpPr>
        <p:spPr>
          <a:xfrm>
            <a:off x="8153156" y="3172968"/>
            <a:ext cx="1554480" cy="566928"/>
          </a:xfrm>
          <a:prstGeom prst="rect">
            <a:avLst/>
          </a:prstGeom>
          <a:noFill/>
          <a:ln/>
        </p:spPr>
        <p:txBody>
          <a:bodyPr wrap="square" lIns="0" tIns="0" rIns="0" bIns="0" rtlCol="0" anchor="b"/>
          <a:lstStyle/>
          <a:p>
            <a:pPr algn="ctr" indent="0" marL="0">
              <a:lnSpc>
                <a:spcPct val="90000"/>
              </a:lnSpc>
              <a:buNone/>
            </a:pPr>
            <a:r>
              <a:rPr lang="en-US" sz="1600" b="1" dirty="0">
                <a:solidFill>
                  <a:schemeClr val="bg1"/>
                </a:solidFill>
              </a:rPr>
              <a:t>Doppel-</a:t>
            </a:r>
            <a:endParaRPr lang="en-US" sz="1600" dirty="0"/>
          </a:p>
          <a:p>
            <a:pPr algn="ctr" indent="0" marL="0">
              <a:lnSpc>
                <a:spcPct val="90000"/>
              </a:lnSpc>
              <a:buNone/>
            </a:pPr>
            <a:r>
              <a:rPr lang="en-US" sz="1600" b="1" dirty="0">
                <a:solidFill>
                  <a:schemeClr val="bg1"/>
                </a:solidFill>
              </a:rPr>
              <a:t>bestimmung</a:t>
            </a:r>
            <a:endParaRPr lang="en-US" sz="1600" dirty="0"/>
          </a:p>
        </p:txBody>
      </p:sp>
      <p:sp>
        <p:nvSpPr>
          <p:cNvPr id="38" name="Text 31"/>
          <p:cNvSpPr txBox="1"/>
          <p:nvPr/>
        </p:nvSpPr>
        <p:spPr>
          <a:xfrm>
            <a:off x="8217164" y="3849624"/>
            <a:ext cx="1426464" cy="457200"/>
          </a:xfrm>
          <a:prstGeom prst="rect">
            <a:avLst/>
          </a:prstGeom>
          <a:noFill/>
          <a:ln/>
        </p:spPr>
        <p:txBody>
          <a:bodyPr wrap="square" lIns="0" tIns="0" rIns="0" bIns="0" rtlCol="0" anchor="t"/>
          <a:lstStyle/>
          <a:p>
            <a:pPr algn="ctr" indent="0" marL="0">
              <a:buNone/>
            </a:pPr>
            <a:r>
              <a:rPr lang="en-US" sz="1300" dirty="0">
                <a:solidFill>
                  <a:srgbClr val="CFE0E8"/>
                </a:solidFill>
              </a:rPr>
              <a:t>A und B abgleichen</a:t>
            </a:r>
            <a:endParaRPr lang="en-US" sz="1300" dirty="0"/>
          </a:p>
        </p:txBody>
      </p:sp>
      <p:sp>
        <p:nvSpPr>
          <p:cNvPr id="39" name="Shape 32"/>
          <p:cNvSpPr/>
          <p:nvPr/>
        </p:nvSpPr>
        <p:spPr>
          <a:xfrm>
            <a:off x="9780788" y="3177540"/>
            <a:ext cx="188915" cy="0"/>
          </a:xfrm>
          <a:prstGeom prst="line">
            <a:avLst/>
          </a:prstGeom>
          <a:noFill/>
          <a:ln w="25400">
            <a:solidFill>
              <a:srgbClr val="9AA5AB"/>
            </a:solidFill>
            <a:prstDash val="solid"/>
            <a:tailEnd type="triangle"/>
          </a:ln>
        </p:spPr>
      </p:sp>
      <p:sp>
        <p:nvSpPr>
          <p:cNvPr id="40" name="Shape 33"/>
          <p:cNvSpPr/>
          <p:nvPr/>
        </p:nvSpPr>
        <p:spPr>
          <a:xfrm>
            <a:off x="9997135" y="1965960"/>
            <a:ext cx="1645920" cy="2423160"/>
          </a:xfrm>
          <a:prstGeom prst="roundRect">
            <a:avLst>
              <a:gd name="adj" fmla="val 4444"/>
            </a:avLst>
          </a:prstGeom>
          <a:solidFill>
            <a:schemeClr val="accent2"/>
          </a:solidFill>
          <a:ln/>
        </p:spPr>
      </p:sp>
      <p:sp>
        <p:nvSpPr>
          <p:cNvPr id="41" name="Shape 34"/>
          <p:cNvSpPr/>
          <p:nvPr/>
        </p:nvSpPr>
        <p:spPr>
          <a:xfrm>
            <a:off x="10477195" y="2240280"/>
            <a:ext cx="685800" cy="685800"/>
          </a:xfrm>
          <a:prstGeom prst="ellipse">
            <a:avLst/>
          </a:prstGeom>
          <a:solidFill>
            <a:srgbClr val="B04E00"/>
          </a:solidFill>
          <a:ln/>
        </p:spPr>
      </p:sp>
      <p:pic>
        <p:nvPicPr>
          <p:cNvPr id="42" name="Image 5" descr="Symbol">    </p:cNvPr>
          <p:cNvPicPr>
            <a:picLocks noChangeAspect="1"/>
          </p:cNvPicPr>
          <p:nvPr/>
        </p:nvPicPr>
        <p:blipFill>
          <a:blip r:embed="rId6"/>
          <a:stretch>
            <a:fillRect/>
          </a:stretch>
        </p:blipFill>
        <p:spPr>
          <a:xfrm>
            <a:off x="10628071" y="2391156"/>
            <a:ext cx="384048" cy="384048"/>
          </a:xfrm>
          <a:prstGeom prst="rect">
            <a:avLst/>
          </a:prstGeom>
        </p:spPr>
      </p:pic>
      <p:sp>
        <p:nvSpPr>
          <p:cNvPr id="43" name="Text 35"/>
          <p:cNvSpPr txBox="1"/>
          <p:nvPr/>
        </p:nvSpPr>
        <p:spPr>
          <a:xfrm>
            <a:off x="9997135" y="2990088"/>
            <a:ext cx="1645920" cy="274320"/>
          </a:xfrm>
          <a:prstGeom prst="rect">
            <a:avLst/>
          </a:prstGeom>
          <a:noFill/>
          <a:ln/>
        </p:spPr>
        <p:txBody>
          <a:bodyPr wrap="square" lIns="0" tIns="0" rIns="0" bIns="0" rtlCol="0" anchor="t"/>
          <a:lstStyle/>
          <a:p>
            <a:pPr algn="ctr" indent="0" marL="0">
              <a:buNone/>
            </a:pPr>
            <a:r>
              <a:rPr lang="en-US" sz="1300" b="1" dirty="0">
                <a:solidFill>
                  <a:srgbClr val="FFE1CC"/>
                </a:solidFill>
              </a:rPr>
              <a:t>6</a:t>
            </a:r>
            <a:endParaRPr lang="en-US" sz="1300" dirty="0"/>
          </a:p>
        </p:txBody>
      </p:sp>
      <p:sp>
        <p:nvSpPr>
          <p:cNvPr id="44" name="Text 36"/>
          <p:cNvSpPr txBox="1"/>
          <p:nvPr/>
        </p:nvSpPr>
        <p:spPr>
          <a:xfrm>
            <a:off x="10042855" y="3172968"/>
            <a:ext cx="1554480" cy="566928"/>
          </a:xfrm>
          <a:prstGeom prst="rect">
            <a:avLst/>
          </a:prstGeom>
          <a:noFill/>
          <a:ln/>
        </p:spPr>
        <p:txBody>
          <a:bodyPr wrap="square" lIns="0" tIns="0" rIns="0" bIns="0" rtlCol="0" anchor="b"/>
          <a:lstStyle/>
          <a:p>
            <a:pPr algn="ctr" indent="0" marL="0">
              <a:lnSpc>
                <a:spcPct val="90000"/>
              </a:lnSpc>
              <a:buNone/>
            </a:pPr>
            <a:r>
              <a:rPr lang="en-US" sz="1600" b="1" dirty="0">
                <a:solidFill>
                  <a:schemeClr val="bg1"/>
                </a:solidFill>
              </a:rPr>
              <a:t>Report</a:t>
            </a:r>
            <a:endParaRPr lang="en-US" sz="1600" dirty="0"/>
          </a:p>
        </p:txBody>
      </p:sp>
      <p:sp>
        <p:nvSpPr>
          <p:cNvPr id="45" name="Text 37"/>
          <p:cNvSpPr txBox="1"/>
          <p:nvPr/>
        </p:nvSpPr>
        <p:spPr>
          <a:xfrm>
            <a:off x="10106863" y="3849624"/>
            <a:ext cx="1426464" cy="457200"/>
          </a:xfrm>
          <a:prstGeom prst="rect">
            <a:avLst/>
          </a:prstGeom>
          <a:noFill/>
          <a:ln/>
        </p:spPr>
        <p:txBody>
          <a:bodyPr wrap="square" lIns="0" tIns="0" rIns="0" bIns="0" rtlCol="0" anchor="t"/>
          <a:lstStyle/>
          <a:p>
            <a:pPr algn="ctr" indent="0" marL="0">
              <a:buNone/>
            </a:pPr>
            <a:r>
              <a:rPr lang="en-US" sz="1300" dirty="0">
                <a:solidFill>
                  <a:srgbClr val="FFE9DA"/>
                </a:solidFill>
              </a:rPr>
              <a:t>automatisch und regelgeprüft</a:t>
            </a:r>
            <a:endParaRPr lang="en-US" sz="1300" dirty="0"/>
          </a:p>
        </p:txBody>
      </p:sp>
      <p:sp>
        <p:nvSpPr>
          <p:cNvPr id="46" name="Shape 38"/>
          <p:cNvSpPr/>
          <p:nvPr/>
        </p:nvSpPr>
        <p:spPr>
          <a:xfrm>
            <a:off x="548640" y="4754880"/>
            <a:ext cx="11094415" cy="1188720"/>
          </a:xfrm>
          <a:prstGeom prst="roundRect">
            <a:avLst>
              <a:gd name="adj" fmla="val 6154"/>
            </a:avLst>
          </a:prstGeom>
          <a:solidFill>
            <a:schemeClr val="bg2"/>
          </a:solidFill>
          <a:ln/>
        </p:spPr>
      </p:sp>
      <p:sp>
        <p:nvSpPr>
          <p:cNvPr id="47" name="Text 39"/>
          <p:cNvSpPr txBox="1"/>
          <p:nvPr/>
        </p:nvSpPr>
        <p:spPr>
          <a:xfrm>
            <a:off x="868680" y="4754880"/>
            <a:ext cx="2011680" cy="1188720"/>
          </a:xfrm>
          <a:prstGeom prst="rect">
            <a:avLst/>
          </a:prstGeom>
          <a:noFill/>
          <a:ln/>
        </p:spPr>
        <p:txBody>
          <a:bodyPr wrap="square" lIns="0" tIns="0" rIns="0" bIns="0" rtlCol="0" anchor="ctr"/>
          <a:lstStyle/>
          <a:p>
            <a:pPr indent="0" marL="0">
              <a:buNone/>
            </a:pPr>
            <a:r>
              <a:rPr lang="en-US" sz="1800" b="1" dirty="0">
                <a:solidFill>
                  <a:schemeClr val="tx2"/>
                </a:solidFill>
              </a:rPr>
              <a:t>Was wegfällt</a:t>
            </a:r>
            <a:endParaRPr lang="en-US" sz="1800" dirty="0"/>
          </a:p>
        </p:txBody>
      </p:sp>
      <p:sp>
        <p:nvSpPr>
          <p:cNvPr id="48" name="Shape 40"/>
          <p:cNvSpPr/>
          <p:nvPr/>
        </p:nvSpPr>
        <p:spPr>
          <a:xfrm>
            <a:off x="2606040" y="5120640"/>
            <a:ext cx="457200" cy="457200"/>
          </a:xfrm>
          <a:prstGeom prst="ellipse">
            <a:avLst/>
          </a:prstGeom>
          <a:solidFill>
            <a:schemeClr val="bg1"/>
          </a:solidFill>
          <a:ln/>
        </p:spPr>
      </p:sp>
      <p:pic>
        <p:nvPicPr>
          <p:cNvPr id="49" name="Image 6" descr="Symbol">    </p:cNvPr>
          <p:cNvPicPr>
            <a:picLocks noChangeAspect="1"/>
          </p:cNvPicPr>
          <p:nvPr/>
        </p:nvPicPr>
        <p:blipFill>
          <a:blip r:embed="rId7"/>
          <a:stretch>
            <a:fillRect/>
          </a:stretch>
        </p:blipFill>
        <p:spPr>
          <a:xfrm>
            <a:off x="2706624" y="5221224"/>
            <a:ext cx="256032" cy="256032"/>
          </a:xfrm>
          <a:prstGeom prst="rect">
            <a:avLst/>
          </a:prstGeom>
        </p:spPr>
      </p:pic>
      <p:sp>
        <p:nvSpPr>
          <p:cNvPr id="50" name="Text 41"/>
          <p:cNvSpPr txBox="1"/>
          <p:nvPr/>
        </p:nvSpPr>
        <p:spPr>
          <a:xfrm>
            <a:off x="3200400" y="4983480"/>
            <a:ext cx="2331720" cy="731520"/>
          </a:xfrm>
          <a:prstGeom prst="rect">
            <a:avLst/>
          </a:prstGeom>
          <a:noFill/>
          <a:ln/>
        </p:spPr>
        <p:txBody>
          <a:bodyPr wrap="square" lIns="0" tIns="0" rIns="0" bIns="0" rtlCol="0" anchor="ctr"/>
          <a:lstStyle/>
          <a:p>
            <a:pPr indent="0" marL="0">
              <a:buNone/>
            </a:pPr>
            <a:r>
              <a:rPr lang="en-US" sz="1500" dirty="0">
                <a:solidFill>
                  <a:schemeClr val="tx1"/>
                </a:solidFill>
              </a:rPr>
              <a:t>Export aus ChemStation oder MassHunter</a:t>
            </a:r>
            <a:endParaRPr lang="en-US" sz="1500" dirty="0"/>
          </a:p>
        </p:txBody>
      </p:sp>
      <p:sp>
        <p:nvSpPr>
          <p:cNvPr id="51" name="Shape 42"/>
          <p:cNvSpPr/>
          <p:nvPr/>
        </p:nvSpPr>
        <p:spPr>
          <a:xfrm>
            <a:off x="5669280" y="5120640"/>
            <a:ext cx="457200" cy="457200"/>
          </a:xfrm>
          <a:prstGeom prst="ellipse">
            <a:avLst/>
          </a:prstGeom>
          <a:solidFill>
            <a:schemeClr val="bg1"/>
          </a:solidFill>
          <a:ln/>
        </p:spPr>
      </p:sp>
      <p:pic>
        <p:nvPicPr>
          <p:cNvPr id="52" name="Image 7" descr="Symbol">    </p:cNvPr>
          <p:cNvPicPr>
            <a:picLocks noChangeAspect="1"/>
          </p:cNvPicPr>
          <p:nvPr/>
        </p:nvPicPr>
        <p:blipFill>
          <a:blip r:embed="rId8"/>
          <a:stretch>
            <a:fillRect/>
          </a:stretch>
        </p:blipFill>
        <p:spPr>
          <a:xfrm>
            <a:off x="5769864" y="5221224"/>
            <a:ext cx="256032" cy="256032"/>
          </a:xfrm>
          <a:prstGeom prst="rect">
            <a:avLst/>
          </a:prstGeom>
        </p:spPr>
      </p:pic>
      <p:sp>
        <p:nvSpPr>
          <p:cNvPr id="53" name="Text 43"/>
          <p:cNvSpPr txBox="1"/>
          <p:nvPr/>
        </p:nvSpPr>
        <p:spPr>
          <a:xfrm>
            <a:off x="6263640" y="4983480"/>
            <a:ext cx="2331720" cy="731520"/>
          </a:xfrm>
          <a:prstGeom prst="rect">
            <a:avLst/>
          </a:prstGeom>
          <a:noFill/>
          <a:ln/>
        </p:spPr>
        <p:txBody>
          <a:bodyPr wrap="square" lIns="0" tIns="0" rIns="0" bIns="0" rtlCol="0" anchor="ctr"/>
          <a:lstStyle/>
          <a:p>
            <a:pPr indent="0" marL="0">
              <a:buNone/>
            </a:pPr>
            <a:r>
              <a:rPr lang="en-US" sz="1500" dirty="0">
                <a:solidFill>
                  <a:schemeClr val="tx1"/>
                </a:solidFill>
              </a:rPr>
              <a:t>Zwischendateien und Excel-Nacharbeit</a:t>
            </a:r>
            <a:endParaRPr lang="en-US" sz="1500" dirty="0"/>
          </a:p>
        </p:txBody>
      </p:sp>
      <p:sp>
        <p:nvSpPr>
          <p:cNvPr id="54" name="Shape 44"/>
          <p:cNvSpPr/>
          <p:nvPr/>
        </p:nvSpPr>
        <p:spPr>
          <a:xfrm>
            <a:off x="8732520" y="5120640"/>
            <a:ext cx="457200" cy="457200"/>
          </a:xfrm>
          <a:prstGeom prst="ellipse">
            <a:avLst/>
          </a:prstGeom>
          <a:solidFill>
            <a:schemeClr val="bg1"/>
          </a:solidFill>
          <a:ln/>
        </p:spPr>
      </p:sp>
      <p:pic>
        <p:nvPicPr>
          <p:cNvPr id="55" name="Image 8" descr="Symbol">    </p:cNvPr>
          <p:cNvPicPr>
            <a:picLocks noChangeAspect="1"/>
          </p:cNvPicPr>
          <p:nvPr/>
        </p:nvPicPr>
        <p:blipFill>
          <a:blip r:embed="rId9"/>
          <a:stretch>
            <a:fillRect/>
          </a:stretch>
        </p:blipFill>
        <p:spPr>
          <a:xfrm>
            <a:off x="8833104" y="5221224"/>
            <a:ext cx="256032" cy="256032"/>
          </a:xfrm>
          <a:prstGeom prst="rect">
            <a:avLst/>
          </a:prstGeom>
        </p:spPr>
      </p:pic>
      <p:sp>
        <p:nvSpPr>
          <p:cNvPr id="56" name="Text 45"/>
          <p:cNvSpPr txBox="1"/>
          <p:nvPr/>
        </p:nvSpPr>
        <p:spPr>
          <a:xfrm>
            <a:off x="9326880" y="4983480"/>
            <a:ext cx="2331720" cy="731520"/>
          </a:xfrm>
          <a:prstGeom prst="rect">
            <a:avLst/>
          </a:prstGeom>
          <a:noFill/>
          <a:ln/>
        </p:spPr>
        <p:txBody>
          <a:bodyPr wrap="square" lIns="0" tIns="0" rIns="0" bIns="0" rtlCol="0" anchor="ctr"/>
          <a:lstStyle/>
          <a:p>
            <a:pPr indent="0" marL="0">
              <a:buNone/>
            </a:pPr>
            <a:r>
              <a:rPr lang="en-US" sz="1500" dirty="0">
                <a:solidFill>
                  <a:schemeClr val="tx1"/>
                </a:solidFill>
              </a:rPr>
              <a:t>Abgleich von A und B von Hand</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51206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DATEN</a:t>
            </a:r>
            <a:endParaRPr lang="en-US" sz="1200" dirty="0"/>
          </a:p>
        </p:txBody>
      </p:sp>
      <p:sp>
        <p:nvSpPr>
          <p:cNvPr id="3" name="Text 0"/>
          <p:cNvSpPr/>
          <p:nvPr>
            <p:ph idx="101" type="title" hasCustomPrompt="1"/>
          </p:nvPr>
        </p:nvSpPr>
        <p:spPr>
          <a:xfrm>
            <a:off x="548640" y="676656"/>
            <a:ext cx="11094415" cy="914400"/>
          </a:xfrm>
          <a:prstGeom prst="rect">
            <a:avLst/>
          </a:prstGeom>
          <a:noFill/>
          <a:ln/>
        </p:spPr>
        <p:txBody>
          <a:bodyPr wrap="square" lIns="0" tIns="0" rIns="0" bIns="0" rtlCol="0" anchor="t"/>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Rohdaten aller gängigen Geräte und Bibliotheken werden direkt gelesen – ohne Export</a:t>
            </a:r>
            <a:endParaRPr lang="en-US" sz="2800" dirty="0"/>
          </a:p>
        </p:txBody>
      </p:sp>
      <p:sp>
        <p:nvSpPr>
          <p:cNvPr id="4" name="Text 2"/>
          <p:cNvSpPr txBox="1"/>
          <p:nvPr/>
        </p:nvSpPr>
        <p:spPr>
          <a:xfrm>
            <a:off x="5669280" y="347472"/>
            <a:ext cx="5971032" cy="292608"/>
          </a:xfrm>
          <a:prstGeom prst="rect">
            <a:avLst/>
          </a:prstGeom>
          <a:noFill/>
          <a:ln/>
        </p:spPr>
        <p:txBody>
          <a:bodyPr wrap="square" lIns="0" tIns="0" rIns="0" bIns="0" rtlCol="0" anchor="ctr"/>
          <a:lstStyle/>
          <a:p>
            <a:pPr algn="r" indent="0" marL="0">
              <a:buNone/>
            </a:pPr>
            <a:r>
              <a:rPr lang="en-US" sz="1100" b="1" dirty="0">
                <a:solidFill>
                  <a:schemeClr val="accent1"/>
                </a:solidFill>
              </a:rPr>
              <a:t>Daten</a:t>
            </a:r>
            <a:pPr algn="r" indent="0" marL="0">
              <a:buNone/>
            </a:pPr>
            <a:r>
              <a:rPr lang="en-US" sz="1100" dirty="0">
                <a:solidFill>
                  <a:srgbClr val="C9D3D8"/>
                </a:solidFill>
              </a:rPr>
              <a:t>   ·   </a:t>
            </a:r>
            <a:pPr algn="r" indent="0" marL="0">
              <a:buNone/>
            </a:pPr>
            <a:r>
              <a:rPr lang="en-US" sz="1100" dirty="0">
                <a:solidFill>
                  <a:srgbClr val="A7B3B9"/>
                </a:solidFill>
              </a:rPr>
              <a:t>Integration</a:t>
            </a:r>
            <a:pPr algn="r" indent="0" marL="0">
              <a:buNone/>
            </a:pPr>
            <a:r>
              <a:rPr lang="en-US" sz="1100" dirty="0">
                <a:solidFill>
                  <a:srgbClr val="C9D3D8"/>
                </a:solidFill>
              </a:rPr>
              <a:t>   ·   </a:t>
            </a:r>
            <a:pPr algn="r" indent="0" marL="0">
              <a:buNone/>
            </a:pPr>
            <a:r>
              <a:rPr lang="en-US" sz="1100" dirty="0">
                <a:solidFill>
                  <a:srgbClr val="A7B3B9"/>
                </a:solidFill>
              </a:rPr>
              <a:t>Identifizierung</a:t>
            </a:r>
            <a:pPr algn="r" indent="0" marL="0">
              <a:buNone/>
            </a:pPr>
            <a:r>
              <a:rPr lang="en-US" sz="1100" dirty="0">
                <a:solidFill>
                  <a:srgbClr val="C9D3D8"/>
                </a:solidFill>
              </a:rPr>
              <a:t>   ·   </a:t>
            </a:r>
            <a:pPr algn="r" indent="0" marL="0">
              <a:buNone/>
            </a:pPr>
            <a:r>
              <a:rPr lang="en-US" sz="1100" dirty="0">
                <a:solidFill>
                  <a:srgbClr val="A7B3B9"/>
                </a:solidFill>
              </a:rPr>
              <a:t>Doppelbestimmung</a:t>
            </a:r>
            <a:pPr algn="r" indent="0" marL="0">
              <a:buNone/>
            </a:pPr>
            <a:r>
              <a:rPr lang="en-US" sz="1100" dirty="0">
                <a:solidFill>
                  <a:srgbClr val="C9D3D8"/>
                </a:solidFill>
              </a:rPr>
              <a:t>   ·   </a:t>
            </a:r>
            <a:pPr algn="r" indent="0" marL="0">
              <a:buNone/>
            </a:pPr>
            <a:r>
              <a:rPr lang="en-US" sz="1100" dirty="0">
                <a:solidFill>
                  <a:srgbClr val="A7B3B9"/>
                </a:solidFill>
              </a:rPr>
              <a:t>Reporting</a:t>
            </a:r>
            <a:endParaRPr lang="en-US" sz="1100" dirty="0"/>
          </a:p>
        </p:txBody>
      </p:sp>
      <p:sp>
        <p:nvSpPr>
          <p:cNvPr id="33" name="Text 28"/>
          <p:cNvSpPr txBox="1"/>
          <p:nvPr/>
        </p:nvSpPr>
        <p:spPr>
          <a:xfrm>
            <a:off x="548640" y="1828800"/>
            <a:ext cx="2743200" cy="256032"/>
          </a:xfrm>
          <a:prstGeom prst="rect">
            <a:avLst/>
          </a:prstGeom>
          <a:noFill/>
          <a:ln/>
        </p:spPr>
        <p:txBody>
          <a:bodyPr wrap="square" lIns="0" tIns="0" rIns="0" bIns="0" rtlCol="0" anchor="t"/>
          <a:lstStyle/>
          <a:p>
            <a:pPr indent="0" marL="0">
              <a:buNone/>
            </a:pPr>
            <a:r>
              <a:rPr lang="en-US" sz="1200" b="1" spc="200" kern="0" dirty="0">
                <a:solidFill>
                  <a:srgbClr val="5B6B73"/>
                </a:solidFill>
              </a:rPr>
              <a:t>BIBLIOTHEKEN</a:t>
            </a:r>
            <a:endParaRPr lang="en-US" sz="1200" dirty="0"/>
          </a:p>
        </p:txBody>
      </p:sp>
      <p:sp>
        <p:nvSpPr>
          <p:cNvPr id="49" name="Text 28"/>
          <p:cNvSpPr txBox="1"/>
          <p:nvPr/>
        </p:nvSpPr>
        <p:spPr>
          <a:xfrm>
            <a:off x="548640" y="4343400"/>
            <a:ext cx="2743200" cy="256032"/>
          </a:xfrm>
          <a:prstGeom prst="rect">
            <a:avLst/>
          </a:prstGeom>
          <a:noFill/>
          <a:ln/>
        </p:spPr>
        <p:txBody>
          <a:bodyPr wrap="square" lIns="0" tIns="0" rIns="0" bIns="0" rtlCol="0" anchor="t"/>
          <a:lstStyle/>
          <a:p>
            <a:pPr indent="0" marL="0">
              <a:buNone/>
            </a:pPr>
            <a:r>
              <a:rPr lang="en-US" sz="1200" b="1" spc="200" kern="0" dirty="0">
                <a:solidFill>
                  <a:srgbClr val="5B6B73"/>
                </a:solidFill>
              </a:rPr>
              <a:t>ROHDATEN</a:t>
            </a:r>
            <a:endParaRPr lang="en-US" sz="1200" dirty="0"/>
          </a:p>
        </p:txBody>
      </p:sp>
      <p:sp>
        <p:nvSpPr>
          <p:cNvPr id="34" name="Shape 29"/>
          <p:cNvSpPr/>
          <p:nvPr/>
        </p:nvSpPr>
        <p:spPr>
          <a:xfrm>
            <a:off x="548640" y="2194560"/>
            <a:ext cx="11094415" cy="1737360"/>
          </a:xfrm>
          <a:prstGeom prst="roundRect">
            <a:avLst>
              <a:gd name="adj" fmla="val 5333"/>
            </a:avLst>
          </a:prstGeom>
          <a:solidFill>
            <a:schemeClr val="bg2"/>
          </a:solidFill>
          <a:ln/>
        </p:spPr>
      </p:sp>
      <p:sp>
        <p:nvSpPr>
          <p:cNvPr id="35" name="Text 30"/>
          <p:cNvSpPr txBox="1"/>
          <p:nvPr/>
        </p:nvSpPr>
        <p:spPr>
          <a:xfrm>
            <a:off x="868680" y="2560320"/>
            <a:ext cx="3108960" cy="731520"/>
          </a:xfrm>
          <a:prstGeom prst="rect">
            <a:avLst/>
          </a:prstGeom>
          <a:noFill/>
          <a:ln/>
        </p:spPr>
        <p:txBody>
          <a:bodyPr wrap="square" lIns="0" tIns="0" rIns="0" bIns="0" rtlCol="0" anchor="t"/>
          <a:lstStyle/>
          <a:p>
            <a:pPr indent="0" marL="0">
              <a:buNone/>
            </a:pPr>
            <a:r>
              <a:rPr lang="en-US" sz="4000" dirty="0">
                <a:solidFill>
                  <a:schemeClr val="accent2"/>
                </a:solidFill>
                <a:latin typeface="Segoe UI Semibold" pitchFamily="34" charset="0"/>
                <a:ea typeface="Segoe UI Semibold" pitchFamily="34" charset="-122"/>
                <a:cs typeface="Segoe UI Semibold" pitchFamily="34" charset="-120"/>
              </a:rPr>
              <a:t>1,8 Mio.</a:t>
            </a:r>
            <a:endParaRPr lang="en-US" sz="4000" dirty="0"/>
          </a:p>
        </p:txBody>
      </p:sp>
      <p:sp>
        <p:nvSpPr>
          <p:cNvPr id="36" name="Text 31"/>
          <p:cNvSpPr txBox="1"/>
          <p:nvPr/>
        </p:nvSpPr>
        <p:spPr>
          <a:xfrm>
            <a:off x="868680" y="3291840"/>
            <a:ext cx="3291840" cy="320040"/>
          </a:xfrm>
          <a:prstGeom prst="rect">
            <a:avLst/>
          </a:prstGeom>
          <a:noFill/>
          <a:ln/>
        </p:spPr>
        <p:txBody>
          <a:bodyPr wrap="square" lIns="0" tIns="0" rIns="0" bIns="0" rtlCol="0" anchor="t"/>
          <a:lstStyle/>
          <a:p>
            <a:pPr indent="0" marL="0">
              <a:buNone/>
            </a:pPr>
            <a:r>
              <a:rPr lang="en-US" sz="1400" dirty="0">
                <a:solidFill>
                  <a:schemeClr val="tx1"/>
                </a:solidFill>
              </a:rPr>
              <a:t>Spektren aus 13 Bibliotheken</a:t>
            </a:r>
            <a:endParaRPr lang="en-US" sz="1400" dirty="0"/>
          </a:p>
        </p:txBody>
      </p:sp>
      <p:sp>
        <p:nvSpPr>
          <p:cNvPr id="37" name="Shape 32"/>
          <p:cNvSpPr/>
          <p:nvPr/>
        </p:nvSpPr>
        <p:spPr>
          <a:xfrm>
            <a:off x="4480560" y="2679192"/>
            <a:ext cx="1600200" cy="438912"/>
          </a:xfrm>
          <a:prstGeom prst="roundRect">
            <a:avLst>
              <a:gd name="adj" fmla="val 50000"/>
            </a:avLst>
          </a:prstGeom>
          <a:solidFill>
            <a:schemeClr val="tx2"/>
          </a:solidFill>
          <a:ln/>
        </p:spPr>
      </p:sp>
      <p:sp>
        <p:nvSpPr>
          <p:cNvPr id="38" name="Text 33"/>
          <p:cNvSpPr txBox="1"/>
          <p:nvPr/>
        </p:nvSpPr>
        <p:spPr>
          <a:xfrm>
            <a:off x="4480560" y="2679192"/>
            <a:ext cx="1600200" cy="438912"/>
          </a:xfrm>
          <a:prstGeom prst="rect">
            <a:avLst/>
          </a:prstGeom>
          <a:noFill/>
          <a:ln/>
        </p:spPr>
        <p:txBody>
          <a:bodyPr wrap="square" lIns="0" tIns="0" rIns="0" bIns="0" rtlCol="0" anchor="ctr"/>
          <a:lstStyle/>
          <a:p>
            <a:pPr algn="ctr" indent="0" marL="0">
              <a:buNone/>
            </a:pPr>
            <a:r>
              <a:rPr lang="en-US" sz="1400" b="1" dirty="0">
                <a:solidFill>
                  <a:schemeClr val="bg1"/>
                </a:solidFill>
              </a:rPr>
              <a:t>NIST</a:t>
            </a:r>
            <a:endParaRPr lang="en-US" sz="1400" dirty="0"/>
          </a:p>
        </p:txBody>
      </p:sp>
      <p:sp>
        <p:nvSpPr>
          <p:cNvPr id="39" name="Shape 34"/>
          <p:cNvSpPr/>
          <p:nvPr/>
        </p:nvSpPr>
        <p:spPr>
          <a:xfrm>
            <a:off x="6263640" y="2679192"/>
            <a:ext cx="1600200" cy="438912"/>
          </a:xfrm>
          <a:prstGeom prst="roundRect">
            <a:avLst>
              <a:gd name="adj" fmla="val 50000"/>
            </a:avLst>
          </a:prstGeom>
          <a:solidFill>
            <a:schemeClr val="tx2"/>
          </a:solidFill>
          <a:ln/>
        </p:spPr>
      </p:sp>
      <p:sp>
        <p:nvSpPr>
          <p:cNvPr id="40" name="Text 35"/>
          <p:cNvSpPr txBox="1"/>
          <p:nvPr/>
        </p:nvSpPr>
        <p:spPr>
          <a:xfrm>
            <a:off x="6263640" y="2679192"/>
            <a:ext cx="1600200" cy="438912"/>
          </a:xfrm>
          <a:prstGeom prst="rect">
            <a:avLst/>
          </a:prstGeom>
          <a:noFill/>
          <a:ln/>
        </p:spPr>
        <p:txBody>
          <a:bodyPr wrap="square" lIns="0" tIns="0" rIns="0" bIns="0" rtlCol="0" anchor="ctr"/>
          <a:lstStyle/>
          <a:p>
            <a:pPr algn="ctr" indent="0" marL="0">
              <a:buNone/>
            </a:pPr>
            <a:r>
              <a:rPr lang="en-US" sz="1400" b="1" dirty="0">
                <a:solidFill>
                  <a:schemeClr val="bg1"/>
                </a:solidFill>
              </a:rPr>
              <a:t>Wiley</a:t>
            </a:r>
            <a:endParaRPr lang="en-US" sz="1400" dirty="0"/>
          </a:p>
        </p:txBody>
      </p:sp>
      <p:sp>
        <p:nvSpPr>
          <p:cNvPr id="41" name="Shape 36"/>
          <p:cNvSpPr/>
          <p:nvPr/>
        </p:nvSpPr>
        <p:spPr>
          <a:xfrm>
            <a:off x="8046720" y="2679192"/>
            <a:ext cx="1600200" cy="438912"/>
          </a:xfrm>
          <a:prstGeom prst="roundRect">
            <a:avLst>
              <a:gd name="adj" fmla="val 50000"/>
            </a:avLst>
          </a:prstGeom>
          <a:solidFill>
            <a:schemeClr val="tx2"/>
          </a:solidFill>
          <a:ln/>
        </p:spPr>
      </p:sp>
      <p:sp>
        <p:nvSpPr>
          <p:cNvPr id="42" name="Text 37"/>
          <p:cNvSpPr txBox="1"/>
          <p:nvPr/>
        </p:nvSpPr>
        <p:spPr>
          <a:xfrm>
            <a:off x="8046720" y="2679192"/>
            <a:ext cx="1600200" cy="438912"/>
          </a:xfrm>
          <a:prstGeom prst="rect">
            <a:avLst/>
          </a:prstGeom>
          <a:noFill/>
          <a:ln/>
        </p:spPr>
        <p:txBody>
          <a:bodyPr wrap="square" lIns="0" tIns="0" rIns="0" bIns="0" rtlCol="0" anchor="ctr"/>
          <a:lstStyle/>
          <a:p>
            <a:pPr algn="ctr" indent="0" marL="0">
              <a:buNone/>
            </a:pPr>
            <a:r>
              <a:rPr lang="en-US" sz="1400" b="1" dirty="0">
                <a:solidFill>
                  <a:schemeClr val="bg1"/>
                </a:solidFill>
              </a:rPr>
              <a:t>Shimadzu</a:t>
            </a:r>
            <a:endParaRPr lang="en-US" sz="1400" dirty="0"/>
          </a:p>
        </p:txBody>
      </p:sp>
      <p:sp>
        <p:nvSpPr>
          <p:cNvPr id="43" name="Shape 38"/>
          <p:cNvSpPr/>
          <p:nvPr/>
        </p:nvSpPr>
        <p:spPr>
          <a:xfrm>
            <a:off x="9829800" y="2679192"/>
            <a:ext cx="1600200" cy="438912"/>
          </a:xfrm>
          <a:prstGeom prst="roundRect">
            <a:avLst>
              <a:gd name="adj" fmla="val 50000"/>
            </a:avLst>
          </a:prstGeom>
          <a:solidFill>
            <a:schemeClr val="tx2"/>
          </a:solidFill>
          <a:ln/>
        </p:spPr>
      </p:sp>
      <p:sp>
        <p:nvSpPr>
          <p:cNvPr id="44" name="Text 39"/>
          <p:cNvSpPr txBox="1"/>
          <p:nvPr/>
        </p:nvSpPr>
        <p:spPr>
          <a:xfrm>
            <a:off x="9829800" y="2679192"/>
            <a:ext cx="1600200" cy="438912"/>
          </a:xfrm>
          <a:prstGeom prst="rect">
            <a:avLst/>
          </a:prstGeom>
          <a:noFill/>
          <a:ln/>
        </p:spPr>
        <p:txBody>
          <a:bodyPr wrap="square" lIns="0" tIns="0" rIns="0" bIns="0" rtlCol="0" anchor="ctr"/>
          <a:lstStyle/>
          <a:p>
            <a:pPr algn="ctr" indent="0" marL="0">
              <a:buNone/>
            </a:pPr>
            <a:r>
              <a:rPr lang="en-US" sz="1400" b="1" dirty="0">
                <a:solidFill>
                  <a:schemeClr val="bg1"/>
                </a:solidFill>
              </a:rPr>
              <a:t>MSP / eigene</a:t>
            </a:r>
            <a:endParaRPr lang="en-US" sz="1400" dirty="0"/>
          </a:p>
        </p:txBody>
      </p:sp>
      <p:sp>
        <p:nvSpPr>
          <p:cNvPr id="45" name="Text 40"/>
          <p:cNvSpPr txBox="1"/>
          <p:nvPr/>
        </p:nvSpPr>
        <p:spPr>
          <a:xfrm>
            <a:off x="4480560" y="3291840"/>
            <a:ext cx="6949440" cy="548640"/>
          </a:xfrm>
          <a:prstGeom prst="rect">
            <a:avLst/>
          </a:prstGeom>
          <a:noFill/>
          <a:ln/>
        </p:spPr>
        <p:txBody>
          <a:bodyPr wrap="square" lIns="0" tIns="0" rIns="0" bIns="0" rtlCol="0" anchor="t"/>
          <a:lstStyle/>
          <a:p>
            <a:pPr indent="0" marL="0">
              <a:buNone/>
            </a:pPr>
            <a:r>
              <a:rPr lang="en-US" sz="1500" dirty="0">
                <a:solidFill>
                  <a:schemeClr val="tx1"/>
                </a:solidFill>
              </a:rPr>
              <a:t>Bewertung wie ChemStation (PBM) oder NIST.</a:t>
            </a:r>
            <a:endParaRPr lang="en-US" sz="1500" dirty="0"/>
          </a:p>
          <a:p>
            <a:pPr indent="0" marL="0">
              <a:buNone/>
            </a:pPr>
            <a:r>
              <a:rPr lang="en-US" sz="1500" dirty="0">
                <a:solidFill>
                  <a:schemeClr val="tx1"/>
                </a:solidFill>
              </a:rPr>
              <a:t>Die Originalbibliotheken bleiben unverändert.</a:t>
            </a:r>
            <a:endParaRPr lang="en-US" sz="1500" dirty="0"/>
          </a:p>
        </p:txBody>
      </p:sp>
      <p:sp>
        <p:nvSpPr>
          <p:cNvPr id="46" name="Shape 41"/>
          <p:cNvSpPr/>
          <p:nvPr/>
        </p:nvSpPr>
        <p:spPr>
          <a:xfrm>
            <a:off x="548640" y="4709160"/>
            <a:ext cx="329184" cy="329184"/>
          </a:xfrm>
          <a:prstGeom prst="ellipse">
            <a:avLst/>
          </a:prstGeom>
          <a:solidFill>
            <a:schemeClr val="accent3"/>
          </a:solidFill>
          <a:ln/>
        </p:spPr>
      </p:sp>
      <p:sp>
        <p:nvSpPr>
          <p:cNvPr id="50" name="Shape 41"/>
          <p:cNvSpPr/>
          <p:nvPr/>
        </p:nvSpPr>
        <p:spPr>
          <a:xfrm>
            <a:off x="548640" y="5212080"/>
            <a:ext cx="329184" cy="329184"/>
          </a:xfrm>
          <a:prstGeom prst="ellipse">
            <a:avLst/>
          </a:prstGeom>
          <a:solidFill>
            <a:schemeClr val="accent3"/>
          </a:solidFill>
          <a:ln/>
        </p:spPr>
      </p:sp>
      <p:pic>
        <p:nvPicPr>
          <p:cNvPr id="47" name="Image 3" descr="Symbol">    </p:cNvPr>
          <p:cNvPicPr>
            <a:picLocks noChangeAspect="1"/>
          </p:cNvPicPr>
          <p:nvPr/>
        </p:nvPicPr>
        <p:blipFill>
          <a:blip r:embed="rId4"/>
          <a:stretch>
            <a:fillRect/>
          </a:stretch>
        </p:blipFill>
        <p:spPr>
          <a:xfrm>
            <a:off x="621060" y="4782312"/>
            <a:ext cx="184343" cy="184343"/>
          </a:xfrm>
          <a:prstGeom prst="rect">
            <a:avLst/>
          </a:prstGeom>
        </p:spPr>
      </p:pic>
      <p:pic>
        <p:nvPicPr>
          <p:cNvPr id="51" name="Image 3" descr="Symbol">    </p:cNvPr>
          <p:cNvPicPr>
            <a:picLocks noChangeAspect="1"/>
          </p:cNvPicPr>
          <p:nvPr/>
        </p:nvPicPr>
        <p:blipFill>
          <a:blip r:embed="rId4"/>
          <a:stretch>
            <a:fillRect/>
          </a:stretch>
        </p:blipFill>
        <p:spPr>
          <a:xfrm>
            <a:off x="621060" y="5285232"/>
            <a:ext cx="184343" cy="184343"/>
          </a:xfrm>
          <a:prstGeom prst="rect">
            <a:avLst/>
          </a:prstGeom>
        </p:spPr>
      </p:pic>
      <p:sp>
        <p:nvSpPr>
          <p:cNvPr id="48" name="Text 42"/>
          <p:cNvSpPr txBox="1"/>
          <p:nvPr/>
        </p:nvSpPr>
        <p:spPr>
          <a:xfrm>
            <a:off x="1005840" y="4709160"/>
            <a:ext cx="10607040" cy="329184"/>
          </a:xfrm>
          <a:prstGeom prst="rect">
            <a:avLst/>
          </a:prstGeom>
          <a:noFill/>
          <a:ln/>
        </p:spPr>
        <p:txBody>
          <a:bodyPr wrap="square" lIns="0" tIns="0" rIns="0" bIns="0" rtlCol="0" anchor="ctr"/>
          <a:lstStyle/>
          <a:p>
            <a:pPr indent="0" marL="0">
              <a:buNone/>
            </a:pPr>
            <a:r>
              <a:rPr lang="en-US" sz="1400" dirty="0">
                <a:solidFill>
                  <a:schemeClr val="tx1"/>
                </a:solidFill>
              </a:rPr>
              <a:t>Direkt aus dem Messordner geöffnet – kein Export aus ChemStation, MassHunter oder GCMSsolution.</a:t>
            </a:r>
            <a:endParaRPr lang="en-US" sz="1400" dirty="0"/>
          </a:p>
        </p:txBody>
      </p:sp>
      <p:sp>
        <p:nvSpPr>
          <p:cNvPr id="52" name="Text 42"/>
          <p:cNvSpPr txBox="1"/>
          <p:nvPr/>
        </p:nvSpPr>
        <p:spPr>
          <a:xfrm>
            <a:off x="1005840" y="5212080"/>
            <a:ext cx="8229600" cy="329184"/>
          </a:xfrm>
          <a:prstGeom prst="rect">
            <a:avLst/>
          </a:prstGeom>
          <a:noFill/>
          <a:ln/>
        </p:spPr>
        <p:txBody>
          <a:bodyPr wrap="square" lIns="0" tIns="0" rIns="0" bIns="0" rtlCol="0" anchor="ctr"/>
          <a:lstStyle/>
          <a:p>
            <a:pPr indent="0" marL="0">
              <a:buNone/>
            </a:pPr>
            <a:r>
              <a:rPr lang="en-US" sz="1400" dirty="0">
                <a:solidFill>
                  <a:schemeClr val="tx1"/>
                </a:solidFill>
              </a:rPr>
              <a:t>Unbekannte Dateiformate werden abgewiesen, nie falsch gelesen.</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51206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INTEGRATION</a:t>
            </a:r>
            <a:endParaRPr lang="en-US" sz="1200" dirty="0"/>
          </a:p>
        </p:txBody>
      </p:sp>
      <p:sp>
        <p:nvSpPr>
          <p:cNvPr id="3" name="Text 0"/>
          <p:cNvSpPr/>
          <p:nvPr>
            <p:ph idx="101" type="title" hasCustomPrompt="1"/>
          </p:nvPr>
        </p:nvSpPr>
        <p:spPr>
          <a:xfrm>
            <a:off x="548640" y="676656"/>
            <a:ext cx="11094415" cy="914400"/>
          </a:xfrm>
          <a:prstGeom prst="rect">
            <a:avLst/>
          </a:prstGeom>
          <a:noFill/>
          <a:ln/>
        </p:spPr>
        <p:txBody>
          <a:bodyPr wrap="square" lIns="0" tIns="0" rIns="0" bIns="0" rtlCol="0" anchor="t"/>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Manuelle Korrekturen bleiben auch nach dem Neu-Integrieren erhalten</a:t>
            </a:r>
            <a:endParaRPr lang="en-US" sz="2800" dirty="0"/>
          </a:p>
        </p:txBody>
      </p:sp>
      <p:sp>
        <p:nvSpPr>
          <p:cNvPr id="4" name="Text 2"/>
          <p:cNvSpPr txBox="1"/>
          <p:nvPr/>
        </p:nvSpPr>
        <p:spPr>
          <a:xfrm>
            <a:off x="5669280" y="347472"/>
            <a:ext cx="5971032" cy="292608"/>
          </a:xfrm>
          <a:prstGeom prst="rect">
            <a:avLst/>
          </a:prstGeom>
          <a:noFill/>
          <a:ln/>
        </p:spPr>
        <p:txBody>
          <a:bodyPr wrap="square" lIns="0" tIns="0" rIns="0" bIns="0" rtlCol="0" anchor="ctr"/>
          <a:lstStyle/>
          <a:p>
            <a:pPr algn="r" indent="0" marL="0">
              <a:buNone/>
            </a:pPr>
            <a:r>
              <a:rPr lang="en-US" sz="1100" dirty="0">
                <a:solidFill>
                  <a:srgbClr val="A7B3B9"/>
                </a:solidFill>
              </a:rPr>
              <a:t>Daten</a:t>
            </a:r>
            <a:pPr algn="r" indent="0" marL="0">
              <a:buNone/>
            </a:pPr>
            <a:r>
              <a:rPr lang="en-US" sz="1100" dirty="0">
                <a:solidFill>
                  <a:srgbClr val="C9D3D8"/>
                </a:solidFill>
              </a:rPr>
              <a:t>   ·   </a:t>
            </a:r>
            <a:pPr algn="r" indent="0" marL="0">
              <a:buNone/>
            </a:pPr>
            <a:r>
              <a:rPr lang="en-US" sz="1100" b="1" dirty="0">
                <a:solidFill>
                  <a:schemeClr val="accent1"/>
                </a:solidFill>
              </a:rPr>
              <a:t>Integration</a:t>
            </a:r>
            <a:pPr algn="r" indent="0" marL="0">
              <a:buNone/>
            </a:pPr>
            <a:r>
              <a:rPr lang="en-US" sz="1100" dirty="0">
                <a:solidFill>
                  <a:srgbClr val="C9D3D8"/>
                </a:solidFill>
              </a:rPr>
              <a:t>   ·   </a:t>
            </a:r>
            <a:pPr algn="r" indent="0" marL="0">
              <a:buNone/>
            </a:pPr>
            <a:r>
              <a:rPr lang="en-US" sz="1100" dirty="0">
                <a:solidFill>
                  <a:srgbClr val="A7B3B9"/>
                </a:solidFill>
              </a:rPr>
              <a:t>Identifizierung</a:t>
            </a:r>
            <a:pPr algn="r" indent="0" marL="0">
              <a:buNone/>
            </a:pPr>
            <a:r>
              <a:rPr lang="en-US" sz="1100" dirty="0">
                <a:solidFill>
                  <a:srgbClr val="C9D3D8"/>
                </a:solidFill>
              </a:rPr>
              <a:t>   ·   </a:t>
            </a:r>
            <a:pPr algn="r" indent="0" marL="0">
              <a:buNone/>
            </a:pPr>
            <a:r>
              <a:rPr lang="en-US" sz="1100" dirty="0">
                <a:solidFill>
                  <a:srgbClr val="A7B3B9"/>
                </a:solidFill>
              </a:rPr>
              <a:t>Doppelbestimmung</a:t>
            </a:r>
            <a:pPr algn="r" indent="0" marL="0">
              <a:buNone/>
            </a:pPr>
            <a:r>
              <a:rPr lang="en-US" sz="1100" dirty="0">
                <a:solidFill>
                  <a:srgbClr val="C9D3D8"/>
                </a:solidFill>
              </a:rPr>
              <a:t>   ·   </a:t>
            </a:r>
            <a:pPr algn="r" indent="0" marL="0">
              <a:buNone/>
            </a:pPr>
            <a:r>
              <a:rPr lang="en-US" sz="1100" dirty="0">
                <a:solidFill>
                  <a:srgbClr val="A7B3B9"/>
                </a:solidFill>
              </a:rPr>
              <a:t>Reporting</a:t>
            </a:r>
            <a:endParaRPr lang="en-US" sz="1100" dirty="0"/>
          </a:p>
        </p:txBody>
      </p:sp>
      <p:sp>
        <p:nvSpPr>
          <p:cNvPr id="5" name="Shape 3"/>
          <p:cNvSpPr/>
          <p:nvPr/>
        </p:nvSpPr>
        <p:spPr>
          <a:xfrm>
            <a:off x="548640" y="1828800"/>
            <a:ext cx="2514600" cy="1097280"/>
          </a:xfrm>
          <a:prstGeom prst="roundRect">
            <a:avLst>
              <a:gd name="adj" fmla="val 6667"/>
            </a:avLst>
          </a:prstGeom>
          <a:solidFill>
            <a:schemeClr val="bg2"/>
          </a:solidFill>
          <a:ln/>
        </p:spPr>
      </p:sp>
      <p:sp>
        <p:nvSpPr>
          <p:cNvPr id="6" name="Text 4"/>
          <p:cNvSpPr txBox="1"/>
          <p:nvPr/>
        </p:nvSpPr>
        <p:spPr>
          <a:xfrm>
            <a:off x="731520" y="1965960"/>
            <a:ext cx="2194560" cy="329184"/>
          </a:xfrm>
          <a:prstGeom prst="rect">
            <a:avLst/>
          </a:prstGeom>
          <a:noFill/>
          <a:ln/>
        </p:spPr>
        <p:txBody>
          <a:bodyPr wrap="square" lIns="0" tIns="0" rIns="0" bIns="0" rtlCol="0" anchor="t"/>
          <a:lstStyle/>
          <a:p>
            <a:pPr indent="0" marL="0">
              <a:buNone/>
            </a:pPr>
            <a:r>
              <a:rPr lang="en-US" sz="1700" b="1" dirty="0">
                <a:solidFill>
                  <a:schemeClr val="tx2"/>
                </a:solidFill>
              </a:rPr>
              <a:t>Rohsignal</a:t>
            </a:r>
            <a:endParaRPr lang="en-US" sz="1700" dirty="0"/>
          </a:p>
        </p:txBody>
      </p:sp>
      <p:sp>
        <p:nvSpPr>
          <p:cNvPr id="7" name="Text 5"/>
          <p:cNvSpPr txBox="1"/>
          <p:nvPr/>
        </p:nvSpPr>
        <p:spPr>
          <a:xfrm>
            <a:off x="731520" y="2331720"/>
            <a:ext cx="2194560" cy="548640"/>
          </a:xfrm>
          <a:prstGeom prst="rect">
            <a:avLst/>
          </a:prstGeom>
          <a:noFill/>
          <a:ln/>
        </p:spPr>
        <p:txBody>
          <a:bodyPr wrap="square" lIns="0" tIns="0" rIns="0" bIns="0" rtlCol="0" anchor="t"/>
          <a:lstStyle/>
          <a:p>
            <a:pPr indent="0" marL="0">
              <a:buNone/>
            </a:pPr>
            <a:r>
              <a:rPr lang="en-US" sz="1300" dirty="0">
                <a:solidFill>
                  <a:srgbClr val="5B6B73"/>
                </a:solidFill>
              </a:rPr>
              <a:t>FID, TIC, Ionenspuren</a:t>
            </a:r>
            <a:endParaRPr lang="en-US" sz="1300" dirty="0"/>
          </a:p>
        </p:txBody>
      </p:sp>
      <p:sp>
        <p:nvSpPr>
          <p:cNvPr id="8" name="Shape 6"/>
          <p:cNvSpPr/>
          <p:nvPr/>
        </p:nvSpPr>
        <p:spPr>
          <a:xfrm>
            <a:off x="3108960" y="2377440"/>
            <a:ext cx="274320" cy="0"/>
          </a:xfrm>
          <a:prstGeom prst="line">
            <a:avLst/>
          </a:prstGeom>
          <a:noFill/>
          <a:ln w="25400">
            <a:solidFill>
              <a:srgbClr val="9AA5AB"/>
            </a:solidFill>
            <a:prstDash val="solid"/>
            <a:tailEnd type="triangle"/>
          </a:ln>
        </p:spPr>
      </p:sp>
      <p:sp>
        <p:nvSpPr>
          <p:cNvPr id="9" name="Shape 7"/>
          <p:cNvSpPr/>
          <p:nvPr/>
        </p:nvSpPr>
        <p:spPr>
          <a:xfrm>
            <a:off x="548640" y="3154680"/>
            <a:ext cx="2514600" cy="1097280"/>
          </a:xfrm>
          <a:prstGeom prst="roundRect">
            <a:avLst>
              <a:gd name="adj" fmla="val 6667"/>
            </a:avLst>
          </a:prstGeom>
          <a:solidFill>
            <a:schemeClr val="bg2"/>
          </a:solidFill>
          <a:ln/>
        </p:spPr>
      </p:sp>
      <p:sp>
        <p:nvSpPr>
          <p:cNvPr id="10" name="Text 8"/>
          <p:cNvSpPr txBox="1"/>
          <p:nvPr/>
        </p:nvSpPr>
        <p:spPr>
          <a:xfrm>
            <a:off x="731520" y="3291840"/>
            <a:ext cx="2194560" cy="329184"/>
          </a:xfrm>
          <a:prstGeom prst="rect">
            <a:avLst/>
          </a:prstGeom>
          <a:noFill/>
          <a:ln/>
        </p:spPr>
        <p:txBody>
          <a:bodyPr wrap="square" lIns="0" tIns="0" rIns="0" bIns="0" rtlCol="0" anchor="t"/>
          <a:lstStyle/>
          <a:p>
            <a:pPr indent="0" marL="0">
              <a:buNone/>
            </a:pPr>
            <a:r>
              <a:rPr lang="en-US" sz="1700" b="1" dirty="0">
                <a:solidFill>
                  <a:schemeClr val="tx2"/>
                </a:solidFill>
              </a:rPr>
              <a:t>Integrationsmethode</a:t>
            </a:r>
            <a:endParaRPr lang="en-US" sz="1700" dirty="0"/>
          </a:p>
        </p:txBody>
      </p:sp>
      <p:sp>
        <p:nvSpPr>
          <p:cNvPr id="11" name="Text 9"/>
          <p:cNvSpPr txBox="1"/>
          <p:nvPr/>
        </p:nvSpPr>
        <p:spPr>
          <a:xfrm>
            <a:off x="731520" y="3657600"/>
            <a:ext cx="2194560" cy="548640"/>
          </a:xfrm>
          <a:prstGeom prst="rect">
            <a:avLst/>
          </a:prstGeom>
          <a:noFill/>
          <a:ln/>
        </p:spPr>
        <p:txBody>
          <a:bodyPr wrap="square" lIns="0" tIns="0" rIns="0" bIns="0" rtlCol="0" anchor="t"/>
          <a:lstStyle/>
          <a:p>
            <a:pPr indent="0" marL="0">
              <a:buNone/>
            </a:pPr>
            <a:r>
              <a:rPr lang="en-US" sz="1300" dirty="0">
                <a:solidFill>
                  <a:srgbClr val="5B6B73"/>
                </a:solidFill>
              </a:rPr>
              <a:t>Schwellen aus dem Rauschen gemessen</a:t>
            </a:r>
            <a:endParaRPr lang="en-US" sz="1300" dirty="0"/>
          </a:p>
        </p:txBody>
      </p:sp>
      <p:sp>
        <p:nvSpPr>
          <p:cNvPr id="12" name="Shape 10"/>
          <p:cNvSpPr/>
          <p:nvPr/>
        </p:nvSpPr>
        <p:spPr>
          <a:xfrm>
            <a:off x="3108960" y="3703320"/>
            <a:ext cx="274320" cy="0"/>
          </a:xfrm>
          <a:prstGeom prst="line">
            <a:avLst/>
          </a:prstGeom>
          <a:noFill/>
          <a:ln w="25400">
            <a:solidFill>
              <a:srgbClr val="9AA5AB"/>
            </a:solidFill>
            <a:prstDash val="solid"/>
            <a:tailEnd type="triangle"/>
          </a:ln>
        </p:spPr>
      </p:sp>
      <p:sp>
        <p:nvSpPr>
          <p:cNvPr id="13" name="Shape 11"/>
          <p:cNvSpPr/>
          <p:nvPr/>
        </p:nvSpPr>
        <p:spPr>
          <a:xfrm>
            <a:off x="548640" y="4480560"/>
            <a:ext cx="2514600" cy="1097280"/>
          </a:xfrm>
          <a:prstGeom prst="roundRect">
            <a:avLst>
              <a:gd name="adj" fmla="val 6667"/>
            </a:avLst>
          </a:prstGeom>
          <a:solidFill>
            <a:schemeClr val="bg2"/>
          </a:solidFill>
          <a:ln/>
        </p:spPr>
      </p:sp>
      <p:sp>
        <p:nvSpPr>
          <p:cNvPr id="14" name="Text 12"/>
          <p:cNvSpPr txBox="1"/>
          <p:nvPr/>
        </p:nvSpPr>
        <p:spPr>
          <a:xfrm>
            <a:off x="731520" y="4617720"/>
            <a:ext cx="2194560" cy="329184"/>
          </a:xfrm>
          <a:prstGeom prst="rect">
            <a:avLst/>
          </a:prstGeom>
          <a:noFill/>
          <a:ln/>
        </p:spPr>
        <p:txBody>
          <a:bodyPr wrap="square" lIns="0" tIns="0" rIns="0" bIns="0" rtlCol="0" anchor="t"/>
          <a:lstStyle/>
          <a:p>
            <a:pPr indent="0" marL="0">
              <a:buNone/>
            </a:pPr>
            <a:r>
              <a:rPr lang="en-US" sz="1700" b="1" dirty="0">
                <a:solidFill>
                  <a:schemeClr val="accent2"/>
                </a:solidFill>
              </a:rPr>
              <a:t>Ihre Korrekturen</a:t>
            </a:r>
            <a:endParaRPr lang="en-US" sz="1700" dirty="0"/>
          </a:p>
        </p:txBody>
      </p:sp>
      <p:sp>
        <p:nvSpPr>
          <p:cNvPr id="15" name="Text 13"/>
          <p:cNvSpPr txBox="1"/>
          <p:nvPr/>
        </p:nvSpPr>
        <p:spPr>
          <a:xfrm>
            <a:off x="731520" y="4983480"/>
            <a:ext cx="2194560" cy="548640"/>
          </a:xfrm>
          <a:prstGeom prst="rect">
            <a:avLst/>
          </a:prstGeom>
          <a:noFill/>
          <a:ln/>
        </p:spPr>
        <p:txBody>
          <a:bodyPr wrap="square" lIns="0" tIns="0" rIns="0" bIns="0" rtlCol="0" anchor="t"/>
          <a:lstStyle/>
          <a:p>
            <a:pPr indent="0" marL="0">
              <a:buNone/>
            </a:pPr>
            <a:r>
              <a:rPr lang="en-US" sz="1300" dirty="0">
                <a:solidFill>
                  <a:srgbClr val="5B6B73"/>
                </a:solidFill>
              </a:rPr>
              <a:t>Basislinie, Split, Peak setzen</a:t>
            </a:r>
            <a:endParaRPr lang="en-US" sz="1300" dirty="0"/>
          </a:p>
        </p:txBody>
      </p:sp>
      <p:sp>
        <p:nvSpPr>
          <p:cNvPr id="16" name="Shape 14"/>
          <p:cNvSpPr/>
          <p:nvPr/>
        </p:nvSpPr>
        <p:spPr>
          <a:xfrm>
            <a:off x="3108960" y="5029200"/>
            <a:ext cx="274320" cy="0"/>
          </a:xfrm>
          <a:prstGeom prst="line">
            <a:avLst/>
          </a:prstGeom>
          <a:noFill/>
          <a:ln w="25400">
            <a:solidFill>
              <a:srgbClr val="9AA5AB"/>
            </a:solidFill>
            <a:prstDash val="solid"/>
            <a:tailEnd type="triangle"/>
          </a:ln>
        </p:spPr>
      </p:sp>
      <p:sp>
        <p:nvSpPr>
          <p:cNvPr id="17" name="Shape 15"/>
          <p:cNvSpPr/>
          <p:nvPr/>
        </p:nvSpPr>
        <p:spPr>
          <a:xfrm>
            <a:off x="3429000" y="1828800"/>
            <a:ext cx="3017520" cy="3749040"/>
          </a:xfrm>
          <a:prstGeom prst="roundRect">
            <a:avLst>
              <a:gd name="adj" fmla="val 2424"/>
            </a:avLst>
          </a:prstGeom>
          <a:solidFill>
            <a:schemeClr val="tx2"/>
          </a:solidFill>
          <a:ln/>
        </p:spPr>
      </p:sp>
      <p:sp>
        <p:nvSpPr>
          <p:cNvPr id="18" name="Text 16"/>
          <p:cNvSpPr txBox="1"/>
          <p:nvPr/>
        </p:nvSpPr>
        <p:spPr>
          <a:xfrm>
            <a:off x="3703320" y="2029968"/>
            <a:ext cx="2468880" cy="384048"/>
          </a:xfrm>
          <a:prstGeom prst="rect">
            <a:avLst/>
          </a:prstGeom>
          <a:noFill/>
          <a:ln/>
        </p:spPr>
        <p:txBody>
          <a:bodyPr wrap="square" lIns="0" tIns="0" rIns="0" bIns="0" rtlCol="0" anchor="t"/>
          <a:lstStyle/>
          <a:p>
            <a:pPr indent="0" marL="0">
              <a:buNone/>
            </a:pPr>
            <a:r>
              <a:rPr lang="en-US" sz="2000" b="1" dirty="0">
                <a:solidFill>
                  <a:schemeClr val="bg1"/>
                </a:solidFill>
              </a:rPr>
              <a:t>Integrator</a:t>
            </a:r>
            <a:endParaRPr lang="en-US" sz="2000" dirty="0"/>
          </a:p>
        </p:txBody>
      </p:sp>
      <p:sp>
        <p:nvSpPr>
          <p:cNvPr id="19" name="Shape 17"/>
          <p:cNvSpPr/>
          <p:nvPr/>
        </p:nvSpPr>
        <p:spPr>
          <a:xfrm>
            <a:off x="3721608" y="2788920"/>
            <a:ext cx="146304" cy="146304"/>
          </a:xfrm>
          <a:prstGeom prst="ellipse">
            <a:avLst/>
          </a:prstGeom>
          <a:solidFill>
            <a:schemeClr val="accent6"/>
          </a:solidFill>
          <a:ln/>
        </p:spPr>
      </p:sp>
      <p:sp>
        <p:nvSpPr>
          <p:cNvPr id="20" name="Text 18"/>
          <p:cNvSpPr txBox="1"/>
          <p:nvPr/>
        </p:nvSpPr>
        <p:spPr>
          <a:xfrm>
            <a:off x="4023360" y="2697480"/>
            <a:ext cx="2240280" cy="548640"/>
          </a:xfrm>
          <a:prstGeom prst="rect">
            <a:avLst/>
          </a:prstGeom>
          <a:noFill/>
          <a:ln/>
        </p:spPr>
        <p:txBody>
          <a:bodyPr wrap="square" lIns="0" tIns="0" rIns="0" bIns="0" rtlCol="0" anchor="t"/>
          <a:lstStyle/>
          <a:p>
            <a:pPr indent="0" marL="0">
              <a:buNone/>
            </a:pPr>
            <a:r>
              <a:rPr lang="en-US" sz="1500" dirty="0">
                <a:solidFill>
                  <a:schemeClr val="bg1"/>
                </a:solidFill>
              </a:rPr>
              <a:t>Basislinie und Tal-zu-Tal</a:t>
            </a:r>
            <a:endParaRPr lang="en-US" sz="1500" dirty="0"/>
          </a:p>
        </p:txBody>
      </p:sp>
      <p:sp>
        <p:nvSpPr>
          <p:cNvPr id="21" name="Shape 19"/>
          <p:cNvSpPr/>
          <p:nvPr/>
        </p:nvSpPr>
        <p:spPr>
          <a:xfrm>
            <a:off x="3721608" y="3474720"/>
            <a:ext cx="146304" cy="146304"/>
          </a:xfrm>
          <a:prstGeom prst="ellipse">
            <a:avLst/>
          </a:prstGeom>
          <a:solidFill>
            <a:schemeClr val="accent6"/>
          </a:solidFill>
          <a:ln/>
        </p:spPr>
      </p:sp>
      <p:sp>
        <p:nvSpPr>
          <p:cNvPr id="22" name="Text 20"/>
          <p:cNvSpPr txBox="1"/>
          <p:nvPr/>
        </p:nvSpPr>
        <p:spPr>
          <a:xfrm>
            <a:off x="4023360" y="3383280"/>
            <a:ext cx="2240280" cy="548640"/>
          </a:xfrm>
          <a:prstGeom prst="rect">
            <a:avLst/>
          </a:prstGeom>
          <a:noFill/>
          <a:ln/>
        </p:spPr>
        <p:txBody>
          <a:bodyPr wrap="square" lIns="0" tIns="0" rIns="0" bIns="0" rtlCol="0" anchor="t"/>
          <a:lstStyle/>
          <a:p>
            <a:pPr indent="0" marL="0">
              <a:buNone/>
            </a:pPr>
            <a:r>
              <a:rPr lang="en-US" sz="1500" dirty="0">
                <a:solidFill>
                  <a:schemeClr val="bg1"/>
                </a:solidFill>
              </a:rPr>
              <a:t>Schultern und Skims</a:t>
            </a:r>
            <a:endParaRPr lang="en-US" sz="1500" dirty="0"/>
          </a:p>
        </p:txBody>
      </p:sp>
      <p:sp>
        <p:nvSpPr>
          <p:cNvPr id="23" name="Shape 21"/>
          <p:cNvSpPr/>
          <p:nvPr/>
        </p:nvSpPr>
        <p:spPr>
          <a:xfrm>
            <a:off x="3721608" y="4160520"/>
            <a:ext cx="146304" cy="146304"/>
          </a:xfrm>
          <a:prstGeom prst="ellipse">
            <a:avLst/>
          </a:prstGeom>
          <a:solidFill>
            <a:schemeClr val="accent6"/>
          </a:solidFill>
          <a:ln/>
        </p:spPr>
      </p:sp>
      <p:sp>
        <p:nvSpPr>
          <p:cNvPr id="24" name="Text 22"/>
          <p:cNvSpPr txBox="1"/>
          <p:nvPr/>
        </p:nvSpPr>
        <p:spPr>
          <a:xfrm>
            <a:off x="4023360" y="4069080"/>
            <a:ext cx="2240280" cy="548640"/>
          </a:xfrm>
          <a:prstGeom prst="rect">
            <a:avLst/>
          </a:prstGeom>
          <a:noFill/>
          <a:ln/>
        </p:spPr>
        <p:txBody>
          <a:bodyPr wrap="square" lIns="0" tIns="0" rIns="0" bIns="0" rtlCol="0" anchor="t"/>
          <a:lstStyle/>
          <a:p>
            <a:pPr indent="0" marL="0">
              <a:buNone/>
            </a:pPr>
            <a:r>
              <a:rPr lang="en-US" sz="1500" dirty="0">
                <a:solidFill>
                  <a:schemeClr val="bg1"/>
                </a:solidFill>
              </a:rPr>
              <a:t>Negative Peaks</a:t>
            </a:r>
            <a:endParaRPr lang="en-US" sz="1500" dirty="0"/>
          </a:p>
        </p:txBody>
      </p:sp>
      <p:sp>
        <p:nvSpPr>
          <p:cNvPr id="25" name="Shape 23"/>
          <p:cNvSpPr/>
          <p:nvPr/>
        </p:nvSpPr>
        <p:spPr>
          <a:xfrm>
            <a:off x="3721608" y="4846320"/>
            <a:ext cx="146304" cy="146304"/>
          </a:xfrm>
          <a:prstGeom prst="ellipse">
            <a:avLst/>
          </a:prstGeom>
          <a:solidFill>
            <a:schemeClr val="accent2"/>
          </a:solidFill>
          <a:ln/>
        </p:spPr>
      </p:sp>
      <p:sp>
        <p:nvSpPr>
          <p:cNvPr id="26" name="Text 24"/>
          <p:cNvSpPr txBox="1"/>
          <p:nvPr/>
        </p:nvSpPr>
        <p:spPr>
          <a:xfrm>
            <a:off x="4023360" y="4754880"/>
            <a:ext cx="2240280" cy="548640"/>
          </a:xfrm>
          <a:prstGeom prst="rect">
            <a:avLst/>
          </a:prstGeom>
          <a:noFill/>
          <a:ln/>
        </p:spPr>
        <p:txBody>
          <a:bodyPr wrap="square" lIns="0" tIns="0" rIns="0" bIns="0" rtlCol="0" anchor="t"/>
          <a:lstStyle/>
          <a:p>
            <a:pPr indent="0" marL="0">
              <a:buNone/>
            </a:pPr>
            <a:r>
              <a:rPr lang="en-US" sz="1500" b="1" dirty="0">
                <a:solidFill>
                  <a:srgbClr val="FFD2B5"/>
                </a:solidFill>
              </a:rPr>
              <a:t>Korrekturen erneut angewendet</a:t>
            </a:r>
            <a:endParaRPr lang="en-US" sz="1500" dirty="0"/>
          </a:p>
        </p:txBody>
      </p:sp>
      <p:sp>
        <p:nvSpPr>
          <p:cNvPr id="27" name="Shape 25"/>
          <p:cNvSpPr/>
          <p:nvPr/>
        </p:nvSpPr>
        <p:spPr>
          <a:xfrm>
            <a:off x="6492240" y="3703320"/>
            <a:ext cx="411480" cy="0"/>
          </a:xfrm>
          <a:prstGeom prst="line">
            <a:avLst/>
          </a:prstGeom>
          <a:noFill/>
          <a:ln w="25400">
            <a:solidFill>
              <a:srgbClr val="9AA5AB"/>
            </a:solidFill>
            <a:prstDash val="solid"/>
            <a:tailEnd type="triangle"/>
          </a:ln>
        </p:spPr>
      </p:sp>
      <p:sp>
        <p:nvSpPr>
          <p:cNvPr id="28" name="Shape 26"/>
          <p:cNvSpPr/>
          <p:nvPr/>
        </p:nvSpPr>
        <p:spPr>
          <a:xfrm>
            <a:off x="6949440" y="3200400"/>
            <a:ext cx="1600200" cy="1005840"/>
          </a:xfrm>
          <a:prstGeom prst="roundRect">
            <a:avLst>
              <a:gd name="adj" fmla="val 7273"/>
            </a:avLst>
          </a:prstGeom>
          <a:solidFill>
            <a:schemeClr val="bg1"/>
          </a:solidFill>
          <a:ln w="12700">
            <a:solidFill>
              <a:schemeClr val="accent1"/>
            </a:solidFill>
            <a:prstDash val="solid"/>
          </a:ln>
        </p:spPr>
      </p:sp>
      <p:sp>
        <p:nvSpPr>
          <p:cNvPr id="29" name="Text 27"/>
          <p:cNvSpPr txBox="1"/>
          <p:nvPr/>
        </p:nvSpPr>
        <p:spPr>
          <a:xfrm>
            <a:off x="6949440" y="3200400"/>
            <a:ext cx="1600200" cy="1005840"/>
          </a:xfrm>
          <a:prstGeom prst="rect">
            <a:avLst/>
          </a:prstGeom>
          <a:noFill/>
          <a:ln/>
        </p:spPr>
        <p:txBody>
          <a:bodyPr wrap="square" lIns="0" tIns="0" rIns="0" bIns="0" rtlCol="0" anchor="ctr"/>
          <a:lstStyle/>
          <a:p>
            <a:pPr algn="ctr" indent="0" marL="0">
              <a:buNone/>
            </a:pPr>
            <a:r>
              <a:rPr lang="en-US" sz="1600" b="1" dirty="0">
                <a:solidFill>
                  <a:schemeClr val="accent1"/>
                </a:solidFill>
              </a:rPr>
              <a:t>Peaktabelle</a:t>
            </a:r>
            <a:endParaRPr lang="en-US" sz="1600" dirty="0"/>
          </a:p>
        </p:txBody>
      </p:sp>
      <p:sp>
        <p:nvSpPr>
          <p:cNvPr id="30" name="Text 28"/>
          <p:cNvSpPr txBox="1"/>
          <p:nvPr/>
        </p:nvSpPr>
        <p:spPr>
          <a:xfrm>
            <a:off x="8961120" y="1828800"/>
            <a:ext cx="2681935" cy="329184"/>
          </a:xfrm>
          <a:prstGeom prst="rect">
            <a:avLst/>
          </a:prstGeom>
          <a:noFill/>
          <a:ln/>
        </p:spPr>
        <p:txBody>
          <a:bodyPr wrap="square" lIns="0" tIns="0" rIns="0" bIns="0" rtlCol="0" anchor="t"/>
          <a:lstStyle/>
          <a:p>
            <a:pPr indent="0" marL="0">
              <a:buNone/>
            </a:pPr>
            <a:r>
              <a:rPr lang="en-US" sz="1800" b="1" dirty="0">
                <a:solidFill>
                  <a:schemeClr val="tx2"/>
                </a:solidFill>
              </a:rPr>
              <a:t>Korrekturen überleben</a:t>
            </a:r>
            <a:endParaRPr lang="en-US" sz="1800" dirty="0"/>
          </a:p>
        </p:txBody>
      </p:sp>
      <p:sp>
        <p:nvSpPr>
          <p:cNvPr id="31" name="Text 29"/>
          <p:cNvSpPr txBox="1"/>
          <p:nvPr/>
        </p:nvSpPr>
        <p:spPr>
          <a:xfrm>
            <a:off x="8961120" y="2176272"/>
            <a:ext cx="2681935" cy="868680"/>
          </a:xfrm>
          <a:prstGeom prst="rect">
            <a:avLst/>
          </a:prstGeom>
          <a:noFill/>
          <a:ln/>
        </p:spPr>
        <p:txBody>
          <a:bodyPr wrap="square" lIns="0" tIns="0" rIns="0" bIns="0" rtlCol="0" anchor="t"/>
          <a:lstStyle/>
          <a:p>
            <a:pPr indent="0" marL="0">
              <a:buNone/>
            </a:pPr>
            <a:r>
              <a:rPr lang="en-US" sz="1500" dirty="0">
                <a:solidFill>
                  <a:schemeClr val="tx1"/>
                </a:solidFill>
              </a:rPr>
              <a:t>Neue Parameter? Manuelle Schritte werden automatisch erneut angewendet.</a:t>
            </a:r>
            <a:endParaRPr lang="en-US" sz="1500" dirty="0"/>
          </a:p>
        </p:txBody>
      </p:sp>
      <p:sp>
        <p:nvSpPr>
          <p:cNvPr id="32" name="Text 30"/>
          <p:cNvSpPr txBox="1"/>
          <p:nvPr/>
        </p:nvSpPr>
        <p:spPr>
          <a:xfrm>
            <a:off x="8961120" y="3154680"/>
            <a:ext cx="2681935" cy="329184"/>
          </a:xfrm>
          <a:prstGeom prst="rect">
            <a:avLst/>
          </a:prstGeom>
          <a:noFill/>
          <a:ln/>
        </p:spPr>
        <p:txBody>
          <a:bodyPr wrap="square" lIns="0" tIns="0" rIns="0" bIns="0" rtlCol="0" anchor="t"/>
          <a:lstStyle/>
          <a:p>
            <a:pPr indent="0" marL="0">
              <a:buNone/>
            </a:pPr>
            <a:r>
              <a:rPr lang="en-US" sz="1800" b="1" dirty="0">
                <a:solidFill>
                  <a:schemeClr val="tx2"/>
                </a:solidFill>
              </a:rPr>
              <a:t>Rückgängig machbar</a:t>
            </a:r>
            <a:endParaRPr lang="en-US" sz="1800" dirty="0"/>
          </a:p>
        </p:txBody>
      </p:sp>
      <p:sp>
        <p:nvSpPr>
          <p:cNvPr id="33" name="Text 31"/>
          <p:cNvSpPr txBox="1"/>
          <p:nvPr/>
        </p:nvSpPr>
        <p:spPr>
          <a:xfrm>
            <a:off x="8961120" y="3502152"/>
            <a:ext cx="2681935" cy="868680"/>
          </a:xfrm>
          <a:prstGeom prst="rect">
            <a:avLst/>
          </a:prstGeom>
          <a:noFill/>
          <a:ln/>
        </p:spPr>
        <p:txBody>
          <a:bodyPr wrap="square" lIns="0" tIns="0" rIns="0" bIns="0" rtlCol="0" anchor="t"/>
          <a:lstStyle/>
          <a:p>
            <a:pPr indent="0" marL="0">
              <a:buNone/>
            </a:pPr>
            <a:r>
              <a:rPr lang="en-US" sz="1500" dirty="0">
                <a:solidFill>
                  <a:schemeClr val="tx1"/>
                </a:solidFill>
              </a:rPr>
              <a:t>Undo jederzeit, jede Änderung im Audit-Trail.</a:t>
            </a:r>
            <a:endParaRPr lang="en-US" sz="1500" dirty="0"/>
          </a:p>
        </p:txBody>
      </p:sp>
      <p:sp>
        <p:nvSpPr>
          <p:cNvPr id="34" name="Text 32"/>
          <p:cNvSpPr txBox="1"/>
          <p:nvPr/>
        </p:nvSpPr>
        <p:spPr>
          <a:xfrm>
            <a:off x="8961120" y="4480560"/>
            <a:ext cx="2681935" cy="329184"/>
          </a:xfrm>
          <a:prstGeom prst="rect">
            <a:avLst/>
          </a:prstGeom>
          <a:noFill/>
          <a:ln/>
        </p:spPr>
        <p:txBody>
          <a:bodyPr wrap="square" lIns="0" tIns="0" rIns="0" bIns="0" rtlCol="0" anchor="t"/>
          <a:lstStyle/>
          <a:p>
            <a:pPr indent="0" marL="0">
              <a:buNone/>
            </a:pPr>
            <a:r>
              <a:rPr lang="en-US" sz="1800" b="1" dirty="0">
                <a:solidFill>
                  <a:schemeClr val="tx2"/>
                </a:solidFill>
              </a:rPr>
              <a:t>Wie gewohnt</a:t>
            </a:r>
            <a:endParaRPr lang="en-US" sz="1800" dirty="0"/>
          </a:p>
        </p:txBody>
      </p:sp>
      <p:sp>
        <p:nvSpPr>
          <p:cNvPr id="35" name="Text 33"/>
          <p:cNvSpPr txBox="1"/>
          <p:nvPr/>
        </p:nvSpPr>
        <p:spPr>
          <a:xfrm>
            <a:off x="8961120" y="4828032"/>
            <a:ext cx="2681935" cy="868680"/>
          </a:xfrm>
          <a:prstGeom prst="rect">
            <a:avLst/>
          </a:prstGeom>
          <a:noFill/>
          <a:ln/>
        </p:spPr>
        <p:txBody>
          <a:bodyPr wrap="square" lIns="0" tIns="0" rIns="0" bIns="0" rtlCol="0" anchor="t"/>
          <a:lstStyle/>
          <a:p>
            <a:pPr indent="0" marL="0">
              <a:buNone/>
            </a:pPr>
            <a:r>
              <a:rPr lang="en-US" sz="1500" dirty="0">
                <a:solidFill>
                  <a:schemeClr val="tx1"/>
                </a:solidFill>
              </a:rPr>
              <a:t>Ergebnisse gegen die ChemStation-Integration geprüft.</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51206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INTEGRATION · BLANK-KORREKTUR</a:t>
            </a:r>
            <a:endParaRPr lang="en-US" sz="1200" dirty="0"/>
          </a:p>
        </p:txBody>
      </p:sp>
      <p:sp>
        <p:nvSpPr>
          <p:cNvPr id="3" name="Text 0"/>
          <p:cNvSpPr/>
          <p:nvPr>
            <p:ph idx="101" type="title" hasCustomPrompt="1"/>
          </p:nvPr>
        </p:nvSpPr>
        <p:spPr>
          <a:xfrm>
            <a:off x="548640" y="676656"/>
            <a:ext cx="11094415" cy="914400"/>
          </a:xfrm>
          <a:prstGeom prst="rect">
            <a:avLst/>
          </a:prstGeom>
          <a:noFill/>
          <a:ln/>
        </p:spPr>
        <p:txBody>
          <a:bodyPr wrap="square" lIns="0" tIns="0" rIns="0" bIns="0" rtlCol="0" anchor="t"/>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Blanks werden automatisch abgezogen – interne Standards bleiben unangetastet</a:t>
            </a:r>
            <a:endParaRPr lang="en-US" sz="2800" dirty="0"/>
          </a:p>
        </p:txBody>
      </p:sp>
      <p:sp>
        <p:nvSpPr>
          <p:cNvPr id="4" name="Text 2"/>
          <p:cNvSpPr txBox="1"/>
          <p:nvPr/>
        </p:nvSpPr>
        <p:spPr>
          <a:xfrm>
            <a:off x="5669280" y="347472"/>
            <a:ext cx="5971032" cy="292608"/>
          </a:xfrm>
          <a:prstGeom prst="rect">
            <a:avLst/>
          </a:prstGeom>
          <a:noFill/>
          <a:ln/>
        </p:spPr>
        <p:txBody>
          <a:bodyPr wrap="square" lIns="0" tIns="0" rIns="0" bIns="0" rtlCol="0" anchor="ctr"/>
          <a:lstStyle/>
          <a:p>
            <a:pPr algn="r" indent="0" marL="0">
              <a:buNone/>
            </a:pPr>
            <a:r>
              <a:rPr lang="en-US" sz="1100" dirty="0">
                <a:solidFill>
                  <a:srgbClr val="A7B3B9"/>
                </a:solidFill>
              </a:rPr>
              <a:t>Daten</a:t>
            </a:r>
            <a:pPr algn="r" indent="0" marL="0">
              <a:buNone/>
            </a:pPr>
            <a:r>
              <a:rPr lang="en-US" sz="1100" dirty="0">
                <a:solidFill>
                  <a:srgbClr val="C9D3D8"/>
                </a:solidFill>
              </a:rPr>
              <a:t>   ·   </a:t>
            </a:r>
            <a:pPr algn="r" indent="0" marL="0">
              <a:buNone/>
            </a:pPr>
            <a:r>
              <a:rPr lang="en-US" sz="1100" b="1" dirty="0">
                <a:solidFill>
                  <a:schemeClr val="accent1"/>
                </a:solidFill>
              </a:rPr>
              <a:t>Integration</a:t>
            </a:r>
            <a:pPr algn="r" indent="0" marL="0">
              <a:buNone/>
            </a:pPr>
            <a:r>
              <a:rPr lang="en-US" sz="1100" dirty="0">
                <a:solidFill>
                  <a:srgbClr val="C9D3D8"/>
                </a:solidFill>
              </a:rPr>
              <a:t>   ·   </a:t>
            </a:r>
            <a:pPr algn="r" indent="0" marL="0">
              <a:buNone/>
            </a:pPr>
            <a:r>
              <a:rPr lang="en-US" sz="1100" dirty="0">
                <a:solidFill>
                  <a:srgbClr val="A7B3B9"/>
                </a:solidFill>
              </a:rPr>
              <a:t>Identifizierung</a:t>
            </a:r>
            <a:pPr algn="r" indent="0" marL="0">
              <a:buNone/>
            </a:pPr>
            <a:r>
              <a:rPr lang="en-US" sz="1100" dirty="0">
                <a:solidFill>
                  <a:srgbClr val="C9D3D8"/>
                </a:solidFill>
              </a:rPr>
              <a:t>   ·   </a:t>
            </a:r>
            <a:pPr algn="r" indent="0" marL="0">
              <a:buNone/>
            </a:pPr>
            <a:r>
              <a:rPr lang="en-US" sz="1100" dirty="0">
                <a:solidFill>
                  <a:srgbClr val="A7B3B9"/>
                </a:solidFill>
              </a:rPr>
              <a:t>Doppelbestimmung</a:t>
            </a:r>
            <a:pPr algn="r" indent="0" marL="0">
              <a:buNone/>
            </a:pPr>
            <a:r>
              <a:rPr lang="en-US" sz="1100" dirty="0">
                <a:solidFill>
                  <a:srgbClr val="C9D3D8"/>
                </a:solidFill>
              </a:rPr>
              <a:t>   ·   </a:t>
            </a:r>
            <a:pPr algn="r" indent="0" marL="0">
              <a:buNone/>
            </a:pPr>
            <a:r>
              <a:rPr lang="en-US" sz="1100" dirty="0">
                <a:solidFill>
                  <a:srgbClr val="A7B3B9"/>
                </a:solidFill>
              </a:rPr>
              <a:t>Reporting</a:t>
            </a:r>
            <a:endParaRPr lang="en-US" sz="1100" dirty="0"/>
          </a:p>
        </p:txBody>
      </p:sp>
      <p:pic>
        <p:nvPicPr>
          <p:cNvPr id="5" name="Image 0" descr="Schema der Blank-Subtraktion">    </p:cNvPr>
          <p:cNvPicPr>
            <a:picLocks noChangeAspect="1"/>
          </p:cNvPicPr>
          <p:nvPr/>
        </p:nvPicPr>
        <p:blipFill>
          <a:blip r:embed="rId1"/>
          <a:stretch>
            <a:fillRect/>
          </a:stretch>
        </p:blipFill>
        <p:spPr>
          <a:xfrm>
            <a:off x="548640" y="1783080"/>
            <a:ext cx="5869459" cy="4343400"/>
          </a:xfrm>
          <a:prstGeom prst="rect">
            <a:avLst/>
          </a:prstGeom>
          <a:effectLst>
            <a:outerShdw sx="100000" sy="100000" kx="0" ky="0" algn="bl" rotWithShape="0" blurRad="76200" dist="25400" dir="5400000">
              <a:srgbClr val="000000">
                <a:alpha val="18000"/>
              </a:srgbClr>
            </a:outerShdw>
          </a:effectLst>
        </p:spPr>
      </p:pic>
      <p:sp>
        <p:nvSpPr>
          <p:cNvPr id="6" name="Shape 3"/>
          <p:cNvSpPr/>
          <p:nvPr/>
        </p:nvSpPr>
        <p:spPr>
          <a:xfrm>
            <a:off x="548640" y="1783080"/>
            <a:ext cx="5869459" cy="4343400"/>
          </a:xfrm>
          <a:prstGeom prst="rect">
            <a:avLst/>
          </a:prstGeom>
          <a:ln w="9525">
            <a:solidFill>
              <a:srgbClr val="D3DDE2"/>
            </a:solidFill>
            <a:prstDash val="solid"/>
          </a:ln>
        </p:spPr>
      </p:sp>
      <p:sp>
        <p:nvSpPr>
          <p:cNvPr id="7" name="Shape 4"/>
          <p:cNvSpPr/>
          <p:nvPr/>
        </p:nvSpPr>
        <p:spPr>
          <a:xfrm>
            <a:off x="6966739" y="1920240"/>
            <a:ext cx="548640" cy="548640"/>
          </a:xfrm>
          <a:prstGeom prst="ellipse">
            <a:avLst/>
          </a:prstGeom>
          <a:solidFill>
            <a:schemeClr val="accent1"/>
          </a:solidFill>
          <a:ln/>
        </p:spPr>
      </p:sp>
      <p:pic>
        <p:nvPicPr>
          <p:cNvPr id="8" name="Image 1" descr="Symbol">    </p:cNvPr>
          <p:cNvPicPr>
            <a:picLocks noChangeAspect="1"/>
          </p:cNvPicPr>
          <p:nvPr/>
        </p:nvPicPr>
        <p:blipFill>
          <a:blip r:embed="rId2"/>
          <a:stretch>
            <a:fillRect/>
          </a:stretch>
        </p:blipFill>
        <p:spPr>
          <a:xfrm>
            <a:off x="7087440" y="2040941"/>
            <a:ext cx="307238" cy="307238"/>
          </a:xfrm>
          <a:prstGeom prst="rect">
            <a:avLst/>
          </a:prstGeom>
        </p:spPr>
      </p:pic>
      <p:sp>
        <p:nvSpPr>
          <p:cNvPr id="9" name="Text 5"/>
          <p:cNvSpPr txBox="1"/>
          <p:nvPr/>
        </p:nvSpPr>
        <p:spPr>
          <a:xfrm>
            <a:off x="7743979" y="1901952"/>
            <a:ext cx="3899076" cy="347472"/>
          </a:xfrm>
          <a:prstGeom prst="rect">
            <a:avLst/>
          </a:prstGeom>
          <a:noFill/>
          <a:ln/>
        </p:spPr>
        <p:txBody>
          <a:bodyPr wrap="square" lIns="0" tIns="0" rIns="0" bIns="0" rtlCol="0" anchor="t"/>
          <a:lstStyle/>
          <a:p>
            <a:pPr indent="0" marL="0">
              <a:buNone/>
            </a:pPr>
            <a:r>
              <a:rPr lang="en-US" sz="1800" b="1" dirty="0">
                <a:solidFill>
                  <a:schemeClr val="tx2"/>
                </a:solidFill>
              </a:rPr>
              <a:t>Aus dem eigenen Batch</a:t>
            </a:r>
            <a:endParaRPr lang="en-US" sz="1800" dirty="0"/>
          </a:p>
        </p:txBody>
      </p:sp>
      <p:sp>
        <p:nvSpPr>
          <p:cNvPr id="10" name="Text 6"/>
          <p:cNvSpPr txBox="1"/>
          <p:nvPr/>
        </p:nvSpPr>
        <p:spPr>
          <a:xfrm>
            <a:off x="7743979" y="2286000"/>
            <a:ext cx="3899076" cy="777240"/>
          </a:xfrm>
          <a:prstGeom prst="rect">
            <a:avLst/>
          </a:prstGeom>
          <a:noFill/>
          <a:ln/>
        </p:spPr>
        <p:txBody>
          <a:bodyPr wrap="square" lIns="0" tIns="0" rIns="0" bIns="0" rtlCol="0" anchor="t"/>
          <a:lstStyle/>
          <a:p>
            <a:pPr indent="0" marL="0">
              <a:buNone/>
            </a:pPr>
            <a:r>
              <a:rPr lang="en-US" sz="1500" dirty="0">
                <a:solidFill>
                  <a:schemeClr val="tx1"/>
                </a:solidFill>
              </a:rPr>
              <a:t>Blanks werden aus der Sequenz zugeordnet und zeitlich angeglichen.</a:t>
            </a:r>
            <a:endParaRPr lang="en-US" sz="1500" dirty="0"/>
          </a:p>
        </p:txBody>
      </p:sp>
      <p:sp>
        <p:nvSpPr>
          <p:cNvPr id="11" name="Shape 7"/>
          <p:cNvSpPr/>
          <p:nvPr/>
        </p:nvSpPr>
        <p:spPr>
          <a:xfrm>
            <a:off x="6966739" y="3337560"/>
            <a:ext cx="548640" cy="548640"/>
          </a:xfrm>
          <a:prstGeom prst="ellipse">
            <a:avLst/>
          </a:prstGeom>
          <a:solidFill>
            <a:schemeClr val="accent1"/>
          </a:solidFill>
          <a:ln/>
        </p:spPr>
      </p:sp>
      <p:pic>
        <p:nvPicPr>
          <p:cNvPr id="12" name="Image 2" descr="Symbol">    </p:cNvPr>
          <p:cNvPicPr>
            <a:picLocks noChangeAspect="1"/>
          </p:cNvPicPr>
          <p:nvPr/>
        </p:nvPicPr>
        <p:blipFill>
          <a:blip r:embed="rId3"/>
          <a:stretch>
            <a:fillRect/>
          </a:stretch>
        </p:blipFill>
        <p:spPr>
          <a:xfrm>
            <a:off x="7087440" y="3458261"/>
            <a:ext cx="307238" cy="307238"/>
          </a:xfrm>
          <a:prstGeom prst="rect">
            <a:avLst/>
          </a:prstGeom>
        </p:spPr>
      </p:pic>
      <p:sp>
        <p:nvSpPr>
          <p:cNvPr id="13" name="Text 8"/>
          <p:cNvSpPr txBox="1"/>
          <p:nvPr/>
        </p:nvSpPr>
        <p:spPr>
          <a:xfrm>
            <a:off x="7743979" y="3319272"/>
            <a:ext cx="3899076" cy="347472"/>
          </a:xfrm>
          <a:prstGeom prst="rect">
            <a:avLst/>
          </a:prstGeom>
          <a:noFill/>
          <a:ln/>
        </p:spPr>
        <p:txBody>
          <a:bodyPr wrap="square" lIns="0" tIns="0" rIns="0" bIns="0" rtlCol="0" anchor="t"/>
          <a:lstStyle/>
          <a:p>
            <a:pPr indent="0" marL="0">
              <a:buNone/>
            </a:pPr>
            <a:r>
              <a:rPr lang="en-US" sz="1800" b="1" dirty="0">
                <a:solidFill>
                  <a:schemeClr val="tx2"/>
                </a:solidFill>
              </a:rPr>
              <a:t>Ganze Spur oder einzelne Peaks</a:t>
            </a:r>
            <a:endParaRPr lang="en-US" sz="1800" dirty="0"/>
          </a:p>
        </p:txBody>
      </p:sp>
      <p:sp>
        <p:nvSpPr>
          <p:cNvPr id="14" name="Text 9"/>
          <p:cNvSpPr txBox="1"/>
          <p:nvPr/>
        </p:nvSpPr>
        <p:spPr>
          <a:xfrm>
            <a:off x="7743979" y="3703320"/>
            <a:ext cx="3899076" cy="777240"/>
          </a:xfrm>
          <a:prstGeom prst="rect">
            <a:avLst/>
          </a:prstGeom>
          <a:noFill/>
          <a:ln/>
        </p:spPr>
        <p:txBody>
          <a:bodyPr wrap="square" lIns="0" tIns="0" rIns="0" bIns="0" rtlCol="0" anchor="t"/>
          <a:lstStyle/>
          <a:p>
            <a:pPr indent="0" marL="0">
              <a:buNone/>
            </a:pPr>
            <a:r>
              <a:rPr lang="en-US" sz="1500" dirty="0">
                <a:solidFill>
                  <a:schemeClr val="tx1"/>
                </a:solidFill>
              </a:rPr>
              <a:t>Signal abziehen oder Peak als „auch im Blank“ markieren.</a:t>
            </a:r>
            <a:endParaRPr lang="en-US" sz="1500" dirty="0"/>
          </a:p>
        </p:txBody>
      </p:sp>
      <p:sp>
        <p:nvSpPr>
          <p:cNvPr id="15" name="Shape 10"/>
          <p:cNvSpPr/>
          <p:nvPr/>
        </p:nvSpPr>
        <p:spPr>
          <a:xfrm>
            <a:off x="6966739" y="4754880"/>
            <a:ext cx="548640" cy="548640"/>
          </a:xfrm>
          <a:prstGeom prst="ellipse">
            <a:avLst/>
          </a:prstGeom>
          <a:solidFill>
            <a:schemeClr val="accent1"/>
          </a:solidFill>
          <a:ln/>
        </p:spPr>
      </p:sp>
      <p:pic>
        <p:nvPicPr>
          <p:cNvPr id="16" name="Image 3" descr="Symbol">    </p:cNvPr>
          <p:cNvPicPr>
            <a:picLocks noChangeAspect="1"/>
          </p:cNvPicPr>
          <p:nvPr/>
        </p:nvPicPr>
        <p:blipFill>
          <a:blip r:embed="rId4"/>
          <a:stretch>
            <a:fillRect/>
          </a:stretch>
        </p:blipFill>
        <p:spPr>
          <a:xfrm>
            <a:off x="7087440" y="4875581"/>
            <a:ext cx="307238" cy="307238"/>
          </a:xfrm>
          <a:prstGeom prst="rect">
            <a:avLst/>
          </a:prstGeom>
        </p:spPr>
      </p:pic>
      <p:sp>
        <p:nvSpPr>
          <p:cNvPr id="17" name="Text 11"/>
          <p:cNvSpPr txBox="1"/>
          <p:nvPr/>
        </p:nvSpPr>
        <p:spPr>
          <a:xfrm>
            <a:off x="7743979" y="4736592"/>
            <a:ext cx="3899076" cy="347472"/>
          </a:xfrm>
          <a:prstGeom prst="rect">
            <a:avLst/>
          </a:prstGeom>
          <a:noFill/>
          <a:ln/>
        </p:spPr>
        <p:txBody>
          <a:bodyPr wrap="square" lIns="0" tIns="0" rIns="0" bIns="0" rtlCol="0" anchor="t"/>
          <a:lstStyle/>
          <a:p>
            <a:pPr indent="0" marL="0">
              <a:buNone/>
            </a:pPr>
            <a:r>
              <a:rPr lang="en-US" sz="1800" b="1" dirty="0">
                <a:solidFill>
                  <a:schemeClr val="tx2"/>
                </a:solidFill>
              </a:rPr>
              <a:t>Standards geschützt</a:t>
            </a:r>
            <a:endParaRPr lang="en-US" sz="1800" dirty="0"/>
          </a:p>
        </p:txBody>
      </p:sp>
      <p:sp>
        <p:nvSpPr>
          <p:cNvPr id="18" name="Text 12"/>
          <p:cNvSpPr txBox="1"/>
          <p:nvPr/>
        </p:nvSpPr>
        <p:spPr>
          <a:xfrm>
            <a:off x="7743979" y="5120640"/>
            <a:ext cx="3899076" cy="777240"/>
          </a:xfrm>
          <a:prstGeom prst="rect">
            <a:avLst/>
          </a:prstGeom>
          <a:noFill/>
          <a:ln/>
        </p:spPr>
        <p:txBody>
          <a:bodyPr wrap="square" lIns="0" tIns="0" rIns="0" bIns="0" rtlCol="0" anchor="t"/>
          <a:lstStyle/>
          <a:p>
            <a:pPr indent="0" marL="0">
              <a:buNone/>
            </a:pPr>
            <a:r>
              <a:rPr lang="en-US" sz="1500" dirty="0">
                <a:solidFill>
                  <a:schemeClr val="tx1"/>
                </a:solidFill>
              </a:rPr>
              <a:t>Peaks interner Standards behalten ihr volles Signal.</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51206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DEKONVOLUTION</a:t>
            </a:r>
            <a:endParaRPr lang="en-US" sz="1200" dirty="0"/>
          </a:p>
        </p:txBody>
      </p:sp>
      <p:sp>
        <p:nvSpPr>
          <p:cNvPr id="3" name="Text 0"/>
          <p:cNvSpPr/>
          <p:nvPr>
            <p:ph idx="101" type="title" hasCustomPrompt="1"/>
          </p:nvPr>
        </p:nvSpPr>
        <p:spPr>
          <a:xfrm>
            <a:off x="548640" y="676656"/>
            <a:ext cx="11094415" cy="914400"/>
          </a:xfrm>
          <a:prstGeom prst="rect">
            <a:avLst/>
          </a:prstGeom>
          <a:noFill/>
          <a:ln/>
        </p:spPr>
        <p:txBody>
          <a:bodyPr wrap="square" lIns="0" tIns="0" rIns="0" bIns="0" rtlCol="0" anchor="t"/>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Das MS trennt Koelutionen, der FID liefert die Flächen</a:t>
            </a:r>
            <a:endParaRPr lang="en-US" sz="2800" dirty="0"/>
          </a:p>
        </p:txBody>
      </p:sp>
      <p:sp>
        <p:nvSpPr>
          <p:cNvPr id="4" name="Text 2"/>
          <p:cNvSpPr txBox="1"/>
          <p:nvPr/>
        </p:nvSpPr>
        <p:spPr>
          <a:xfrm>
            <a:off x="5669280" y="347472"/>
            <a:ext cx="5971032" cy="292608"/>
          </a:xfrm>
          <a:prstGeom prst="rect">
            <a:avLst/>
          </a:prstGeom>
          <a:noFill/>
          <a:ln/>
        </p:spPr>
        <p:txBody>
          <a:bodyPr wrap="square" lIns="0" tIns="0" rIns="0" bIns="0" rtlCol="0" anchor="ctr"/>
          <a:lstStyle/>
          <a:p>
            <a:pPr algn="r" indent="0" marL="0">
              <a:buNone/>
            </a:pPr>
            <a:r>
              <a:rPr lang="en-US" sz="1100" dirty="0">
                <a:solidFill>
                  <a:srgbClr val="A7B3B9"/>
                </a:solidFill>
              </a:rPr>
              <a:t>Daten</a:t>
            </a:r>
            <a:pPr algn="r" indent="0" marL="0">
              <a:buNone/>
            </a:pPr>
            <a:r>
              <a:rPr lang="en-US" sz="1100" dirty="0">
                <a:solidFill>
                  <a:srgbClr val="C9D3D8"/>
                </a:solidFill>
              </a:rPr>
              <a:t>   ·   </a:t>
            </a:r>
            <a:pPr algn="r" indent="0" marL="0">
              <a:buNone/>
            </a:pPr>
            <a:r>
              <a:rPr lang="en-US" sz="1100" b="1" dirty="0">
                <a:solidFill>
                  <a:schemeClr val="accent1"/>
                </a:solidFill>
              </a:rPr>
              <a:t>Integration</a:t>
            </a:r>
            <a:pPr algn="r" indent="0" marL="0">
              <a:buNone/>
            </a:pPr>
            <a:r>
              <a:rPr lang="en-US" sz="1100" dirty="0">
                <a:solidFill>
                  <a:srgbClr val="C9D3D8"/>
                </a:solidFill>
              </a:rPr>
              <a:t>   ·   </a:t>
            </a:r>
            <a:pPr algn="r" indent="0" marL="0">
              <a:buNone/>
            </a:pPr>
            <a:r>
              <a:rPr lang="en-US" sz="1100" dirty="0">
                <a:solidFill>
                  <a:srgbClr val="A7B3B9"/>
                </a:solidFill>
              </a:rPr>
              <a:t>Identifizierung</a:t>
            </a:r>
            <a:pPr algn="r" indent="0" marL="0">
              <a:buNone/>
            </a:pPr>
            <a:r>
              <a:rPr lang="en-US" sz="1100" dirty="0">
                <a:solidFill>
                  <a:srgbClr val="C9D3D8"/>
                </a:solidFill>
              </a:rPr>
              <a:t>   ·   </a:t>
            </a:r>
            <a:pPr algn="r" indent="0" marL="0">
              <a:buNone/>
            </a:pPr>
            <a:r>
              <a:rPr lang="en-US" sz="1100" dirty="0">
                <a:solidFill>
                  <a:srgbClr val="A7B3B9"/>
                </a:solidFill>
              </a:rPr>
              <a:t>Doppelbestimmung</a:t>
            </a:r>
            <a:pPr algn="r" indent="0" marL="0">
              <a:buNone/>
            </a:pPr>
            <a:r>
              <a:rPr lang="en-US" sz="1100" dirty="0">
                <a:solidFill>
                  <a:srgbClr val="C9D3D8"/>
                </a:solidFill>
              </a:rPr>
              <a:t>   ·   </a:t>
            </a:r>
            <a:pPr algn="r" indent="0" marL="0">
              <a:buNone/>
            </a:pPr>
            <a:r>
              <a:rPr lang="en-US" sz="1100" dirty="0">
                <a:solidFill>
                  <a:srgbClr val="A7B3B9"/>
                </a:solidFill>
              </a:rPr>
              <a:t>Reporting</a:t>
            </a:r>
            <a:endParaRPr lang="en-US" sz="1100" dirty="0"/>
          </a:p>
        </p:txBody>
      </p:sp>
      <p:pic>
        <p:nvPicPr>
          <p:cNvPr id="5" name="Image 0" descr="Dekonvolutionsfenster mit zwei Komponenten">    </p:cNvPr>
          <p:cNvPicPr>
            <a:picLocks noChangeAspect="1"/>
          </p:cNvPicPr>
          <p:nvPr/>
        </p:nvPicPr>
        <p:blipFill>
          <a:blip r:embed="rId1"/>
          <a:stretch>
            <a:fillRect/>
          </a:stretch>
        </p:blipFill>
        <p:spPr>
          <a:xfrm>
            <a:off x="548640" y="1783080"/>
            <a:ext cx="6766560" cy="3637026"/>
          </a:xfrm>
          <a:prstGeom prst="rect">
            <a:avLst/>
          </a:prstGeom>
          <a:effectLst>
            <a:outerShdw sx="100000" sy="100000" kx="0" ky="0" algn="bl" rotWithShape="0" blurRad="76200" dist="25400" dir="5400000">
              <a:srgbClr val="000000">
                <a:alpha val="18000"/>
              </a:srgbClr>
            </a:outerShdw>
          </a:effectLst>
        </p:spPr>
      </p:pic>
      <p:sp>
        <p:nvSpPr>
          <p:cNvPr id="6" name="Shape 3"/>
          <p:cNvSpPr/>
          <p:nvPr/>
        </p:nvSpPr>
        <p:spPr>
          <a:xfrm>
            <a:off x="548640" y="1783080"/>
            <a:ext cx="6766560" cy="3637026"/>
          </a:xfrm>
          <a:prstGeom prst="rect">
            <a:avLst/>
          </a:prstGeom>
          <a:ln w="9525">
            <a:solidFill>
              <a:srgbClr val="D3DDE2"/>
            </a:solidFill>
            <a:prstDash val="solid"/>
          </a:ln>
        </p:spPr>
      </p:sp>
      <p:sp>
        <p:nvSpPr>
          <p:cNvPr id="7" name="Text 4"/>
          <p:cNvSpPr txBox="1"/>
          <p:nvPr/>
        </p:nvSpPr>
        <p:spPr>
          <a:xfrm>
            <a:off x="548640" y="5511546"/>
            <a:ext cx="6766560" cy="292608"/>
          </a:xfrm>
          <a:prstGeom prst="rect">
            <a:avLst/>
          </a:prstGeom>
          <a:noFill/>
          <a:ln/>
        </p:spPr>
        <p:txBody>
          <a:bodyPr wrap="square" lIns="0" tIns="0" rIns="0" bIns="0" rtlCol="0" anchor="t"/>
          <a:lstStyle/>
          <a:p>
            <a:pPr indent="0" marL="0">
              <a:buNone/>
            </a:pPr>
            <a:r>
              <a:rPr lang="en-US" sz="1200" i="1" dirty="0">
                <a:solidFill>
                  <a:srgbClr val="5B6B73"/>
                </a:solidFill>
              </a:rPr>
              <a:t>Peak 18,92 min: deuteriertes Phthalat 52 % und Alkan 48 %</a:t>
            </a:r>
            <a:endParaRPr lang="en-US" sz="1200" dirty="0"/>
          </a:p>
        </p:txBody>
      </p:sp>
      <p:sp>
        <p:nvSpPr>
          <p:cNvPr id="8" name="Shape 5"/>
          <p:cNvSpPr/>
          <p:nvPr/>
        </p:nvSpPr>
        <p:spPr>
          <a:xfrm>
            <a:off x="7726680" y="1783080"/>
            <a:ext cx="3916375" cy="896112"/>
          </a:xfrm>
          <a:prstGeom prst="roundRect">
            <a:avLst>
              <a:gd name="adj" fmla="val 8163"/>
            </a:avLst>
          </a:prstGeom>
          <a:solidFill>
            <a:schemeClr val="bg2"/>
          </a:solidFill>
          <a:ln/>
        </p:spPr>
      </p:sp>
      <p:sp>
        <p:nvSpPr>
          <p:cNvPr id="9" name="Shape 6"/>
          <p:cNvSpPr/>
          <p:nvPr/>
        </p:nvSpPr>
        <p:spPr>
          <a:xfrm>
            <a:off x="7909560" y="2039112"/>
            <a:ext cx="384048" cy="384048"/>
          </a:xfrm>
          <a:prstGeom prst="ellipse">
            <a:avLst/>
          </a:prstGeom>
          <a:solidFill>
            <a:schemeClr val="accent1"/>
          </a:solidFill>
          <a:ln w="19050">
            <a:solidFill>
              <a:srgbClr val="FFFFFF"/>
            </a:solidFill>
            <a:prstDash val="solid"/>
          </a:ln>
        </p:spPr>
      </p:sp>
      <p:sp>
        <p:nvSpPr>
          <p:cNvPr id="10" name="Text 7"/>
          <p:cNvSpPr txBox="1"/>
          <p:nvPr/>
        </p:nvSpPr>
        <p:spPr>
          <a:xfrm>
            <a:off x="7909560" y="20391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8"/>
          <p:cNvSpPr txBox="1"/>
          <p:nvPr/>
        </p:nvSpPr>
        <p:spPr>
          <a:xfrm>
            <a:off x="8458200" y="1901952"/>
            <a:ext cx="3047695" cy="347472"/>
          </a:xfrm>
          <a:prstGeom prst="rect">
            <a:avLst/>
          </a:prstGeom>
          <a:noFill/>
          <a:ln/>
        </p:spPr>
        <p:txBody>
          <a:bodyPr wrap="square" lIns="0" tIns="0" rIns="0" bIns="0" rtlCol="0" anchor="t"/>
          <a:lstStyle/>
          <a:p>
            <a:pPr indent="0" marL="0">
              <a:buNone/>
            </a:pPr>
            <a:r>
              <a:rPr lang="en-US" sz="1700" b="1" dirty="0">
                <a:solidFill>
                  <a:schemeClr val="tx2"/>
                </a:solidFill>
              </a:rPr>
              <a:t>MS erkennt die Komponenten</a:t>
            </a:r>
            <a:endParaRPr lang="en-US" sz="1700" dirty="0"/>
          </a:p>
        </p:txBody>
      </p:sp>
      <p:sp>
        <p:nvSpPr>
          <p:cNvPr id="12" name="Text 9"/>
          <p:cNvSpPr txBox="1"/>
          <p:nvPr/>
        </p:nvSpPr>
        <p:spPr>
          <a:xfrm>
            <a:off x="8458200" y="2258568"/>
            <a:ext cx="3047695" cy="320040"/>
          </a:xfrm>
          <a:prstGeom prst="rect">
            <a:avLst/>
          </a:prstGeom>
          <a:noFill/>
          <a:ln/>
        </p:spPr>
        <p:txBody>
          <a:bodyPr wrap="square" lIns="0" tIns="0" rIns="0" bIns="0" rtlCol="0" anchor="t"/>
          <a:lstStyle/>
          <a:p>
            <a:pPr indent="0" marL="0">
              <a:buNone/>
            </a:pPr>
            <a:r>
              <a:rPr lang="en-US" sz="1400" dirty="0">
                <a:solidFill>
                  <a:srgbClr val="5B6B73"/>
                </a:solidFill>
              </a:rPr>
              <a:t>ein Elutionsprofil je Substanz</a:t>
            </a:r>
            <a:endParaRPr lang="en-US" sz="1400" dirty="0"/>
          </a:p>
        </p:txBody>
      </p:sp>
      <p:sp>
        <p:nvSpPr>
          <p:cNvPr id="13" name="Shape 10"/>
          <p:cNvSpPr/>
          <p:nvPr/>
        </p:nvSpPr>
        <p:spPr>
          <a:xfrm>
            <a:off x="9684868" y="2697480"/>
            <a:ext cx="0" cy="210312"/>
          </a:xfrm>
          <a:prstGeom prst="line">
            <a:avLst/>
          </a:prstGeom>
          <a:noFill/>
          <a:ln w="25400">
            <a:solidFill>
              <a:srgbClr val="9AA5AB"/>
            </a:solidFill>
            <a:prstDash val="solid"/>
            <a:tailEnd type="triangle"/>
          </a:ln>
        </p:spPr>
      </p:sp>
      <p:sp>
        <p:nvSpPr>
          <p:cNvPr id="14" name="Shape 11"/>
          <p:cNvSpPr/>
          <p:nvPr/>
        </p:nvSpPr>
        <p:spPr>
          <a:xfrm>
            <a:off x="7726680" y="2926080"/>
            <a:ext cx="3916375" cy="896112"/>
          </a:xfrm>
          <a:prstGeom prst="roundRect">
            <a:avLst>
              <a:gd name="adj" fmla="val 8163"/>
            </a:avLst>
          </a:prstGeom>
          <a:solidFill>
            <a:schemeClr val="bg2"/>
          </a:solidFill>
          <a:ln/>
        </p:spPr>
      </p:sp>
      <p:sp>
        <p:nvSpPr>
          <p:cNvPr id="15" name="Shape 12"/>
          <p:cNvSpPr/>
          <p:nvPr/>
        </p:nvSpPr>
        <p:spPr>
          <a:xfrm>
            <a:off x="7909560" y="3182112"/>
            <a:ext cx="384048" cy="384048"/>
          </a:xfrm>
          <a:prstGeom prst="ellipse">
            <a:avLst/>
          </a:prstGeom>
          <a:solidFill>
            <a:schemeClr val="accent1"/>
          </a:solidFill>
          <a:ln w="19050">
            <a:solidFill>
              <a:srgbClr val="FFFFFF"/>
            </a:solidFill>
            <a:prstDash val="solid"/>
          </a:ln>
        </p:spPr>
      </p:sp>
      <p:sp>
        <p:nvSpPr>
          <p:cNvPr id="16" name="Text 13"/>
          <p:cNvSpPr txBox="1"/>
          <p:nvPr/>
        </p:nvSpPr>
        <p:spPr>
          <a:xfrm>
            <a:off x="7909560" y="31821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7" name="Text 14"/>
          <p:cNvSpPr txBox="1"/>
          <p:nvPr/>
        </p:nvSpPr>
        <p:spPr>
          <a:xfrm>
            <a:off x="8458200" y="3044952"/>
            <a:ext cx="3047695" cy="347472"/>
          </a:xfrm>
          <a:prstGeom prst="rect">
            <a:avLst/>
          </a:prstGeom>
          <a:noFill/>
          <a:ln/>
        </p:spPr>
        <p:txBody>
          <a:bodyPr wrap="square" lIns="0" tIns="0" rIns="0" bIns="0" rtlCol="0" anchor="t"/>
          <a:lstStyle/>
          <a:p>
            <a:pPr indent="0" marL="0">
              <a:buNone/>
            </a:pPr>
            <a:r>
              <a:rPr lang="en-US" sz="1700" b="1" dirty="0">
                <a:solidFill>
                  <a:schemeClr val="tx2"/>
                </a:solidFill>
              </a:rPr>
              <a:t>An den FID angepasst</a:t>
            </a:r>
            <a:endParaRPr lang="en-US" sz="1700" dirty="0"/>
          </a:p>
        </p:txBody>
      </p:sp>
      <p:sp>
        <p:nvSpPr>
          <p:cNvPr id="18" name="Text 15"/>
          <p:cNvSpPr txBox="1"/>
          <p:nvPr/>
        </p:nvSpPr>
        <p:spPr>
          <a:xfrm>
            <a:off x="8458200" y="3401568"/>
            <a:ext cx="3047695" cy="320040"/>
          </a:xfrm>
          <a:prstGeom prst="rect">
            <a:avLst/>
          </a:prstGeom>
          <a:noFill/>
          <a:ln/>
        </p:spPr>
        <p:txBody>
          <a:bodyPr wrap="square" lIns="0" tIns="0" rIns="0" bIns="0" rtlCol="0" anchor="t"/>
          <a:lstStyle/>
          <a:p>
            <a:pPr indent="0" marL="0">
              <a:buNone/>
            </a:pPr>
            <a:r>
              <a:rPr lang="en-US" sz="1400" dirty="0">
                <a:solidFill>
                  <a:srgbClr val="5B6B73"/>
                </a:solidFill>
              </a:rPr>
              <a:t>Lage und Breite gemeinsam</a:t>
            </a:r>
            <a:endParaRPr lang="en-US" sz="1400" dirty="0"/>
          </a:p>
        </p:txBody>
      </p:sp>
      <p:sp>
        <p:nvSpPr>
          <p:cNvPr id="19" name="Shape 16"/>
          <p:cNvSpPr/>
          <p:nvPr/>
        </p:nvSpPr>
        <p:spPr>
          <a:xfrm>
            <a:off x="9684868" y="3840480"/>
            <a:ext cx="0" cy="210312"/>
          </a:xfrm>
          <a:prstGeom prst="line">
            <a:avLst/>
          </a:prstGeom>
          <a:noFill/>
          <a:ln w="25400">
            <a:solidFill>
              <a:srgbClr val="9AA5AB"/>
            </a:solidFill>
            <a:prstDash val="solid"/>
            <a:tailEnd type="triangle"/>
          </a:ln>
        </p:spPr>
      </p:sp>
      <p:sp>
        <p:nvSpPr>
          <p:cNvPr id="20" name="Shape 17"/>
          <p:cNvSpPr/>
          <p:nvPr/>
        </p:nvSpPr>
        <p:spPr>
          <a:xfrm>
            <a:off x="7726680" y="4069080"/>
            <a:ext cx="3916375" cy="896112"/>
          </a:xfrm>
          <a:prstGeom prst="roundRect">
            <a:avLst>
              <a:gd name="adj" fmla="val 8163"/>
            </a:avLst>
          </a:prstGeom>
          <a:solidFill>
            <a:schemeClr val="tx2"/>
          </a:solidFill>
          <a:ln/>
        </p:spPr>
      </p:sp>
      <p:sp>
        <p:nvSpPr>
          <p:cNvPr id="21" name="Shape 18"/>
          <p:cNvSpPr/>
          <p:nvPr/>
        </p:nvSpPr>
        <p:spPr>
          <a:xfrm>
            <a:off x="7909560" y="4325112"/>
            <a:ext cx="384048" cy="384048"/>
          </a:xfrm>
          <a:prstGeom prst="ellipse">
            <a:avLst/>
          </a:prstGeom>
          <a:solidFill>
            <a:schemeClr val="accent2"/>
          </a:solidFill>
          <a:ln w="19050">
            <a:solidFill>
              <a:srgbClr val="FFFFFF"/>
            </a:solidFill>
            <a:prstDash val="solid"/>
          </a:ln>
        </p:spPr>
      </p:sp>
      <p:sp>
        <p:nvSpPr>
          <p:cNvPr id="22" name="Text 19"/>
          <p:cNvSpPr txBox="1"/>
          <p:nvPr/>
        </p:nvSpPr>
        <p:spPr>
          <a:xfrm>
            <a:off x="7909560" y="43251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3" name="Text 20"/>
          <p:cNvSpPr txBox="1"/>
          <p:nvPr/>
        </p:nvSpPr>
        <p:spPr>
          <a:xfrm>
            <a:off x="8458200" y="4187952"/>
            <a:ext cx="3047695" cy="347472"/>
          </a:xfrm>
          <a:prstGeom prst="rect">
            <a:avLst/>
          </a:prstGeom>
          <a:noFill/>
          <a:ln/>
        </p:spPr>
        <p:txBody>
          <a:bodyPr wrap="square" lIns="0" tIns="0" rIns="0" bIns="0" rtlCol="0" anchor="t"/>
          <a:lstStyle/>
          <a:p>
            <a:pPr indent="0" marL="0">
              <a:buNone/>
            </a:pPr>
            <a:r>
              <a:rPr lang="en-US" sz="1700" b="1" dirty="0">
                <a:solidFill>
                  <a:schemeClr val="bg1"/>
                </a:solidFill>
              </a:rPr>
              <a:t>Fläche aufgeteilt</a:t>
            </a:r>
            <a:endParaRPr lang="en-US" sz="1700" dirty="0"/>
          </a:p>
        </p:txBody>
      </p:sp>
      <p:sp>
        <p:nvSpPr>
          <p:cNvPr id="24" name="Text 21"/>
          <p:cNvSpPr txBox="1"/>
          <p:nvPr/>
        </p:nvSpPr>
        <p:spPr>
          <a:xfrm>
            <a:off x="8458200" y="4544568"/>
            <a:ext cx="3047695" cy="320040"/>
          </a:xfrm>
          <a:prstGeom prst="rect">
            <a:avLst/>
          </a:prstGeom>
          <a:noFill/>
          <a:ln/>
        </p:spPr>
        <p:txBody>
          <a:bodyPr wrap="square" lIns="0" tIns="0" rIns="0" bIns="0" rtlCol="0" anchor="t"/>
          <a:lstStyle/>
          <a:p>
            <a:pPr indent="0" marL="0">
              <a:buNone/>
            </a:pPr>
            <a:r>
              <a:rPr lang="en-US" sz="1400" dirty="0">
                <a:solidFill>
                  <a:srgbClr val="CFE0E8"/>
                </a:solidFill>
              </a:rPr>
              <a:t>die Summe bleibt exakt erhalten</a:t>
            </a:r>
            <a:endParaRPr lang="en-US" sz="1400" dirty="0"/>
          </a:p>
        </p:txBody>
      </p:sp>
      <p:sp>
        <p:nvSpPr>
          <p:cNvPr id="25" name="Text 22"/>
          <p:cNvSpPr txBox="1"/>
          <p:nvPr/>
        </p:nvSpPr>
        <p:spPr>
          <a:xfrm>
            <a:off x="7726680" y="5120640"/>
            <a:ext cx="3916375" cy="411480"/>
          </a:xfrm>
          <a:prstGeom prst="rect">
            <a:avLst/>
          </a:prstGeom>
          <a:noFill/>
          <a:ln/>
        </p:spPr>
        <p:txBody>
          <a:bodyPr wrap="square" lIns="0" tIns="0" rIns="0" bIns="0" rtlCol="0" anchor="t"/>
          <a:lstStyle/>
          <a:p>
            <a:pPr indent="0" marL="0">
              <a:buNone/>
            </a:pPr>
            <a:r>
              <a:rPr lang="en-US" sz="2600" dirty="0">
                <a:solidFill>
                  <a:schemeClr val="accent2"/>
                </a:solidFill>
                <a:latin typeface="Segoe UI Semibold" pitchFamily="34" charset="0"/>
                <a:ea typeface="Segoe UI Semibold" pitchFamily="34" charset="-122"/>
                <a:cs typeface="Segoe UI Semibold" pitchFamily="34" charset="-120"/>
              </a:rPr>
              <a:t>98 % Passgenauigkeit</a:t>
            </a:r>
            <a:endParaRPr lang="en-US" sz="3000" dirty="0"/>
          </a:p>
        </p:txBody>
      </p:sp>
      <p:sp>
        <p:nvSpPr>
          <p:cNvPr id="26" name="Text 23"/>
          <p:cNvSpPr txBox="1"/>
          <p:nvPr/>
        </p:nvSpPr>
        <p:spPr>
          <a:xfrm>
            <a:off x="7726680" y="5596128"/>
            <a:ext cx="3916375" cy="685800"/>
          </a:xfrm>
          <a:prstGeom prst="rect">
            <a:avLst/>
          </a:prstGeom>
          <a:noFill/>
          <a:ln/>
        </p:spPr>
        <p:txBody>
          <a:bodyPr wrap="square" lIns="0" tIns="0" rIns="0" bIns="0" rtlCol="0" anchor="t"/>
          <a:lstStyle/>
          <a:p>
            <a:pPr indent="0" marL="0">
              <a:buNone/>
            </a:pPr>
            <a:r>
              <a:rPr lang="en-US" sz="1400" dirty="0">
                <a:solidFill>
                  <a:srgbClr val="5B6B73"/>
                </a:solidFill>
              </a:rPr>
              <a:t>Die Komponenten erklären 98 % des gemessenen FID-Signals (R² = 0,982) – je näher an 100 %, desto verlässlicher der Split.</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6</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51206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IDENTIFIZIERUNG · BIBLIOTHEKSSUCHE</a:t>
            </a:r>
            <a:endParaRPr lang="en-US" sz="1200" dirty="0"/>
          </a:p>
        </p:txBody>
      </p:sp>
      <p:sp>
        <p:nvSpPr>
          <p:cNvPr id="3" name="Text 0"/>
          <p:cNvSpPr/>
          <p:nvPr>
            <p:ph idx="101" type="title" hasCustomPrompt="1"/>
          </p:nvPr>
        </p:nvSpPr>
        <p:spPr>
          <a:xfrm>
            <a:off x="548640" y="676656"/>
            <a:ext cx="11094415" cy="914400"/>
          </a:xfrm>
          <a:prstGeom prst="rect">
            <a:avLst/>
          </a:prstGeom>
          <a:noFill/>
          <a:ln/>
        </p:spPr>
        <p:txBody>
          <a:bodyPr wrap="square" lIns="0" tIns="0" rIns="0" bIns="0" rtlCol="0" anchor="t"/>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Alle Peaks werden in einem Durchgang gesucht – bis 8× schneller, gleiche Treffer</a:t>
            </a:r>
            <a:endParaRPr lang="en-US" sz="2800" dirty="0"/>
          </a:p>
        </p:txBody>
      </p:sp>
      <p:sp>
        <p:nvSpPr>
          <p:cNvPr id="4" name="Text 2"/>
          <p:cNvSpPr txBox="1"/>
          <p:nvPr/>
        </p:nvSpPr>
        <p:spPr>
          <a:xfrm>
            <a:off x="5669280" y="347472"/>
            <a:ext cx="5971032" cy="292608"/>
          </a:xfrm>
          <a:prstGeom prst="rect">
            <a:avLst/>
          </a:prstGeom>
          <a:noFill/>
          <a:ln/>
        </p:spPr>
        <p:txBody>
          <a:bodyPr wrap="square" lIns="0" tIns="0" rIns="0" bIns="0" rtlCol="0" anchor="ctr"/>
          <a:lstStyle/>
          <a:p>
            <a:pPr algn="r" indent="0" marL="0">
              <a:buNone/>
            </a:pPr>
            <a:r>
              <a:rPr lang="en-US" sz="1100" dirty="0">
                <a:solidFill>
                  <a:srgbClr val="A7B3B9"/>
                </a:solidFill>
              </a:rPr>
              <a:t>Daten</a:t>
            </a:r>
            <a:pPr algn="r" indent="0" marL="0">
              <a:buNone/>
            </a:pPr>
            <a:r>
              <a:rPr lang="en-US" sz="1100" dirty="0">
                <a:solidFill>
                  <a:srgbClr val="C9D3D8"/>
                </a:solidFill>
              </a:rPr>
              <a:t>   ·   </a:t>
            </a:r>
            <a:pPr algn="r" indent="0" marL="0">
              <a:buNone/>
            </a:pPr>
            <a:r>
              <a:rPr lang="en-US" sz="1100" dirty="0">
                <a:solidFill>
                  <a:srgbClr val="A7B3B9"/>
                </a:solidFill>
              </a:rPr>
              <a:t>Integration</a:t>
            </a:r>
            <a:pPr algn="r" indent="0" marL="0">
              <a:buNone/>
            </a:pPr>
            <a:r>
              <a:rPr lang="en-US" sz="1100" dirty="0">
                <a:solidFill>
                  <a:srgbClr val="C9D3D8"/>
                </a:solidFill>
              </a:rPr>
              <a:t>   ·   </a:t>
            </a:r>
            <a:pPr algn="r" indent="0" marL="0">
              <a:buNone/>
            </a:pPr>
            <a:r>
              <a:rPr lang="en-US" sz="1100" b="1" dirty="0">
                <a:solidFill>
                  <a:schemeClr val="accent1"/>
                </a:solidFill>
              </a:rPr>
              <a:t>Identifizierung</a:t>
            </a:r>
            <a:pPr algn="r" indent="0" marL="0">
              <a:buNone/>
            </a:pPr>
            <a:r>
              <a:rPr lang="en-US" sz="1100" dirty="0">
                <a:solidFill>
                  <a:srgbClr val="C9D3D8"/>
                </a:solidFill>
              </a:rPr>
              <a:t>   ·   </a:t>
            </a:r>
            <a:pPr algn="r" indent="0" marL="0">
              <a:buNone/>
            </a:pPr>
            <a:r>
              <a:rPr lang="en-US" sz="1100" dirty="0">
                <a:solidFill>
                  <a:srgbClr val="A7B3B9"/>
                </a:solidFill>
              </a:rPr>
              <a:t>Doppelbestimmung</a:t>
            </a:r>
            <a:pPr algn="r" indent="0" marL="0">
              <a:buNone/>
            </a:pPr>
            <a:r>
              <a:rPr lang="en-US" sz="1100" dirty="0">
                <a:solidFill>
                  <a:srgbClr val="C9D3D8"/>
                </a:solidFill>
              </a:rPr>
              <a:t>   ·   </a:t>
            </a:r>
            <a:pPr algn="r" indent="0" marL="0">
              <a:buNone/>
            </a:pPr>
            <a:r>
              <a:rPr lang="en-US" sz="1100" dirty="0">
                <a:solidFill>
                  <a:srgbClr val="A7B3B9"/>
                </a:solidFill>
              </a:rPr>
              <a:t>Reporting</a:t>
            </a:r>
            <a:endParaRPr lang="en-US" sz="1100" dirty="0"/>
          </a:p>
        </p:txBody>
      </p:sp>
      <p:sp>
        <p:nvSpPr>
          <p:cNvPr id="5" name="Shape 3"/>
          <p:cNvSpPr/>
          <p:nvPr/>
        </p:nvSpPr>
        <p:spPr>
          <a:xfrm>
            <a:off x="548640" y="1783080"/>
            <a:ext cx="4937760" cy="1051560"/>
          </a:xfrm>
          <a:prstGeom prst="roundRect">
            <a:avLst>
              <a:gd name="adj" fmla="val 6957"/>
            </a:avLst>
          </a:prstGeom>
          <a:solidFill>
            <a:schemeClr val="bg2"/>
          </a:solidFill>
          <a:ln/>
        </p:spPr>
      </p:sp>
      <p:sp>
        <p:nvSpPr>
          <p:cNvPr id="6" name="Shape 4"/>
          <p:cNvSpPr/>
          <p:nvPr/>
        </p:nvSpPr>
        <p:spPr>
          <a:xfrm>
            <a:off x="777240" y="2011680"/>
            <a:ext cx="594360" cy="594360"/>
          </a:xfrm>
          <a:prstGeom prst="ellipse">
            <a:avLst/>
          </a:prstGeom>
          <a:solidFill>
            <a:schemeClr val="accent1"/>
          </a:solidFill>
          <a:ln/>
        </p:spPr>
      </p:sp>
      <p:pic>
        <p:nvPicPr>
          <p:cNvPr id="7" name="Image 0" descr="Symbol">    </p:cNvPr>
          <p:cNvPicPr>
            <a:picLocks noChangeAspect="1"/>
          </p:cNvPicPr>
          <p:nvPr/>
        </p:nvPicPr>
        <p:blipFill>
          <a:blip r:embed="rId1"/>
          <a:stretch>
            <a:fillRect/>
          </a:stretch>
        </p:blipFill>
        <p:spPr>
          <a:xfrm>
            <a:off x="907999" y="2142439"/>
            <a:ext cx="332842" cy="332842"/>
          </a:xfrm>
          <a:prstGeom prst="rect">
            <a:avLst/>
          </a:prstGeom>
        </p:spPr>
      </p:pic>
      <p:sp>
        <p:nvSpPr>
          <p:cNvPr id="8" name="Text 5"/>
          <p:cNvSpPr txBox="1"/>
          <p:nvPr/>
        </p:nvSpPr>
        <p:spPr>
          <a:xfrm>
            <a:off x="1600200" y="1938528"/>
            <a:ext cx="3749040" cy="365760"/>
          </a:xfrm>
          <a:prstGeom prst="rect">
            <a:avLst/>
          </a:prstGeom>
          <a:noFill/>
          <a:ln/>
        </p:spPr>
        <p:txBody>
          <a:bodyPr wrap="square" lIns="0" tIns="0" rIns="0" bIns="0" rtlCol="0" anchor="t"/>
          <a:lstStyle/>
          <a:p>
            <a:pPr indent="0" marL="0">
              <a:buNone/>
            </a:pPr>
            <a:r>
              <a:rPr lang="en-US" sz="1800" b="1" dirty="0">
                <a:solidFill>
                  <a:schemeClr val="tx2"/>
                </a:solidFill>
              </a:rPr>
              <a:t>Alle Peaks eines Laufs</a:t>
            </a:r>
            <a:endParaRPr lang="en-US" sz="1800" dirty="0"/>
          </a:p>
        </p:txBody>
      </p:sp>
      <p:sp>
        <p:nvSpPr>
          <p:cNvPr id="9" name="Text 6"/>
          <p:cNvSpPr txBox="1"/>
          <p:nvPr/>
        </p:nvSpPr>
        <p:spPr>
          <a:xfrm>
            <a:off x="1600200" y="2331720"/>
            <a:ext cx="3749040" cy="365760"/>
          </a:xfrm>
          <a:prstGeom prst="rect">
            <a:avLst/>
          </a:prstGeom>
          <a:noFill/>
          <a:ln/>
        </p:spPr>
        <p:txBody>
          <a:bodyPr wrap="square" lIns="0" tIns="0" rIns="0" bIns="0" rtlCol="0" anchor="t"/>
          <a:lstStyle/>
          <a:p>
            <a:pPr indent="0" marL="0">
              <a:buNone/>
            </a:pPr>
            <a:r>
              <a:rPr lang="en-US" sz="1400" dirty="0">
                <a:solidFill>
                  <a:srgbClr val="5B6B73"/>
                </a:solidFill>
              </a:rPr>
              <a:t>Spektren nach Abzug des Untergrunds</a:t>
            </a:r>
            <a:endParaRPr lang="en-US" sz="1400" dirty="0"/>
          </a:p>
        </p:txBody>
      </p:sp>
      <p:sp>
        <p:nvSpPr>
          <p:cNvPr id="10" name="Shape 7"/>
          <p:cNvSpPr/>
          <p:nvPr/>
        </p:nvSpPr>
        <p:spPr>
          <a:xfrm>
            <a:off x="3017520" y="2852928"/>
            <a:ext cx="0" cy="283464"/>
          </a:xfrm>
          <a:prstGeom prst="line">
            <a:avLst/>
          </a:prstGeom>
          <a:noFill/>
          <a:ln w="25400">
            <a:solidFill>
              <a:srgbClr val="9AA5AB"/>
            </a:solidFill>
            <a:prstDash val="solid"/>
            <a:tailEnd type="triangle"/>
          </a:ln>
        </p:spPr>
      </p:sp>
      <p:sp>
        <p:nvSpPr>
          <p:cNvPr id="11" name="Shape 8"/>
          <p:cNvSpPr/>
          <p:nvPr/>
        </p:nvSpPr>
        <p:spPr>
          <a:xfrm>
            <a:off x="548640" y="3154680"/>
            <a:ext cx="4937760" cy="1051560"/>
          </a:xfrm>
          <a:prstGeom prst="roundRect">
            <a:avLst>
              <a:gd name="adj" fmla="val 6957"/>
            </a:avLst>
          </a:prstGeom>
          <a:solidFill>
            <a:schemeClr val="bg2"/>
          </a:solidFill>
          <a:ln/>
        </p:spPr>
      </p:sp>
      <p:sp>
        <p:nvSpPr>
          <p:cNvPr id="12" name="Shape 9"/>
          <p:cNvSpPr/>
          <p:nvPr/>
        </p:nvSpPr>
        <p:spPr>
          <a:xfrm>
            <a:off x="777240" y="3383280"/>
            <a:ext cx="594360" cy="594360"/>
          </a:xfrm>
          <a:prstGeom prst="ellipse">
            <a:avLst/>
          </a:prstGeom>
          <a:solidFill>
            <a:schemeClr val="accent1"/>
          </a:solidFill>
          <a:ln/>
        </p:spPr>
      </p:sp>
      <p:pic>
        <p:nvPicPr>
          <p:cNvPr id="13" name="Image 1" descr="Symbol">    </p:cNvPr>
          <p:cNvPicPr>
            <a:picLocks noChangeAspect="1"/>
          </p:cNvPicPr>
          <p:nvPr/>
        </p:nvPicPr>
        <p:blipFill>
          <a:blip r:embed="rId2"/>
          <a:stretch>
            <a:fillRect/>
          </a:stretch>
        </p:blipFill>
        <p:spPr>
          <a:xfrm>
            <a:off x="907999" y="3514039"/>
            <a:ext cx="332842" cy="332842"/>
          </a:xfrm>
          <a:prstGeom prst="rect">
            <a:avLst/>
          </a:prstGeom>
        </p:spPr>
      </p:pic>
      <p:sp>
        <p:nvSpPr>
          <p:cNvPr id="14" name="Text 10"/>
          <p:cNvSpPr txBox="1"/>
          <p:nvPr/>
        </p:nvSpPr>
        <p:spPr>
          <a:xfrm>
            <a:off x="1600200" y="3310128"/>
            <a:ext cx="3749040" cy="365760"/>
          </a:xfrm>
          <a:prstGeom prst="rect">
            <a:avLst/>
          </a:prstGeom>
          <a:noFill/>
          <a:ln/>
        </p:spPr>
        <p:txBody>
          <a:bodyPr wrap="square" lIns="0" tIns="0" rIns="0" bIns="0" rtlCol="0" anchor="t"/>
          <a:lstStyle/>
          <a:p>
            <a:pPr indent="0" marL="0">
              <a:buNone/>
            </a:pPr>
            <a:r>
              <a:rPr lang="en-US" sz="1800" b="1" dirty="0">
                <a:solidFill>
                  <a:schemeClr val="tx2"/>
                </a:solidFill>
              </a:rPr>
              <a:t>Alle Bibliotheken auf einmal</a:t>
            </a:r>
            <a:endParaRPr lang="en-US" sz="1800" dirty="0"/>
          </a:p>
        </p:txBody>
      </p:sp>
      <p:sp>
        <p:nvSpPr>
          <p:cNvPr id="15" name="Text 11"/>
          <p:cNvSpPr txBox="1"/>
          <p:nvPr/>
        </p:nvSpPr>
        <p:spPr>
          <a:xfrm>
            <a:off x="1600200" y="3703320"/>
            <a:ext cx="3749040" cy="365760"/>
          </a:xfrm>
          <a:prstGeom prst="rect">
            <a:avLst/>
          </a:prstGeom>
          <a:noFill/>
          <a:ln/>
        </p:spPr>
        <p:txBody>
          <a:bodyPr wrap="square" lIns="0" tIns="0" rIns="0" bIns="0" rtlCol="0" anchor="t"/>
          <a:lstStyle/>
          <a:p>
            <a:pPr indent="0" marL="0">
              <a:buNone/>
            </a:pPr>
            <a:r>
              <a:rPr lang="en-US" sz="1400" dirty="0">
                <a:solidFill>
                  <a:srgbClr val="5B6B73"/>
                </a:solidFill>
              </a:rPr>
              <a:t>13 Bibliotheken · 1,8 Mio. Spektren</a:t>
            </a:r>
            <a:endParaRPr lang="en-US" sz="1400" dirty="0"/>
          </a:p>
        </p:txBody>
      </p:sp>
      <p:sp>
        <p:nvSpPr>
          <p:cNvPr id="16" name="Shape 12"/>
          <p:cNvSpPr/>
          <p:nvPr/>
        </p:nvSpPr>
        <p:spPr>
          <a:xfrm>
            <a:off x="3017520" y="4224528"/>
            <a:ext cx="0" cy="283464"/>
          </a:xfrm>
          <a:prstGeom prst="line">
            <a:avLst/>
          </a:prstGeom>
          <a:noFill/>
          <a:ln w="25400">
            <a:solidFill>
              <a:srgbClr val="9AA5AB"/>
            </a:solidFill>
            <a:prstDash val="solid"/>
            <a:tailEnd type="triangle"/>
          </a:ln>
        </p:spPr>
      </p:sp>
      <p:sp>
        <p:nvSpPr>
          <p:cNvPr id="17" name="Shape 13"/>
          <p:cNvSpPr/>
          <p:nvPr/>
        </p:nvSpPr>
        <p:spPr>
          <a:xfrm>
            <a:off x="548640" y="4526280"/>
            <a:ext cx="4937760" cy="1051560"/>
          </a:xfrm>
          <a:prstGeom prst="roundRect">
            <a:avLst>
              <a:gd name="adj" fmla="val 6957"/>
            </a:avLst>
          </a:prstGeom>
          <a:solidFill>
            <a:schemeClr val="tx2"/>
          </a:solidFill>
          <a:ln/>
        </p:spPr>
      </p:sp>
      <p:sp>
        <p:nvSpPr>
          <p:cNvPr id="18" name="Shape 14"/>
          <p:cNvSpPr/>
          <p:nvPr/>
        </p:nvSpPr>
        <p:spPr>
          <a:xfrm>
            <a:off x="777240" y="4754880"/>
            <a:ext cx="594360" cy="594360"/>
          </a:xfrm>
          <a:prstGeom prst="ellipse">
            <a:avLst/>
          </a:prstGeom>
          <a:solidFill>
            <a:srgbClr val="24607A"/>
          </a:solidFill>
          <a:ln/>
        </p:spPr>
      </p:sp>
      <p:pic>
        <p:nvPicPr>
          <p:cNvPr id="19" name="Image 2" descr="Symbol">    </p:cNvPr>
          <p:cNvPicPr>
            <a:picLocks noChangeAspect="1"/>
          </p:cNvPicPr>
          <p:nvPr/>
        </p:nvPicPr>
        <p:blipFill>
          <a:blip r:embed="rId3"/>
          <a:stretch>
            <a:fillRect/>
          </a:stretch>
        </p:blipFill>
        <p:spPr>
          <a:xfrm>
            <a:off x="907999" y="4885639"/>
            <a:ext cx="332842" cy="332842"/>
          </a:xfrm>
          <a:prstGeom prst="rect">
            <a:avLst/>
          </a:prstGeom>
        </p:spPr>
      </p:pic>
      <p:sp>
        <p:nvSpPr>
          <p:cNvPr id="20" name="Text 15"/>
          <p:cNvSpPr txBox="1"/>
          <p:nvPr/>
        </p:nvSpPr>
        <p:spPr>
          <a:xfrm>
            <a:off x="1600200" y="4681728"/>
            <a:ext cx="3749040" cy="365760"/>
          </a:xfrm>
          <a:prstGeom prst="rect">
            <a:avLst/>
          </a:prstGeom>
          <a:noFill/>
          <a:ln/>
        </p:spPr>
        <p:txBody>
          <a:bodyPr wrap="square" lIns="0" tIns="0" rIns="0" bIns="0" rtlCol="0" anchor="t"/>
          <a:lstStyle/>
          <a:p>
            <a:pPr indent="0" marL="0">
              <a:buNone/>
            </a:pPr>
            <a:r>
              <a:rPr lang="en-US" sz="1800" b="1" dirty="0">
                <a:solidFill>
                  <a:schemeClr val="bg1"/>
                </a:solidFill>
              </a:rPr>
              <a:t>Trefferliste je Peak</a:t>
            </a:r>
            <a:endParaRPr lang="en-US" sz="1800" dirty="0"/>
          </a:p>
        </p:txBody>
      </p:sp>
      <p:sp>
        <p:nvSpPr>
          <p:cNvPr id="21" name="Text 16"/>
          <p:cNvSpPr txBox="1"/>
          <p:nvPr/>
        </p:nvSpPr>
        <p:spPr>
          <a:xfrm>
            <a:off x="1600200" y="5074920"/>
            <a:ext cx="3749040" cy="365760"/>
          </a:xfrm>
          <a:prstGeom prst="rect">
            <a:avLst/>
          </a:prstGeom>
          <a:noFill/>
          <a:ln/>
        </p:spPr>
        <p:txBody>
          <a:bodyPr wrap="square" lIns="0" tIns="0" rIns="0" bIns="0" rtlCol="0" anchor="t"/>
          <a:lstStyle/>
          <a:p>
            <a:pPr indent="0" marL="0">
              <a:buNone/>
            </a:pPr>
            <a:r>
              <a:rPr lang="en-US" sz="1400" dirty="0">
                <a:solidFill>
                  <a:srgbClr val="CFE0E8"/>
                </a:solidFill>
              </a:rPr>
              <a:t>TIC-Treffer benennt den FID-Peak</a:t>
            </a:r>
            <a:endParaRPr lang="en-US" sz="1400" dirty="0"/>
          </a:p>
        </p:txBody>
      </p:sp>
      <p:graphicFrame>
        <p:nvGraphicFramePr>
          <p:cNvPr id="22" name="Chart 0" descr=""/>
          <p:cNvGraphicFramePr/>
          <p:nvPr/>
        </p:nvGraphicFramePr>
        <p:xfrm>
          <a:off x="6035040" y="1783080"/>
          <a:ext cx="5608015" cy="2514600"/>
        </p:xfrm>
        <a:graphic xmlns:a="http://schemas.openxmlformats.org/drawingml/2006/main">
          <a:graphicData uri="http://schemas.openxmlformats.org/drawingml/2006/chart">
            <c:chart xmlns:c="http://schemas.openxmlformats.org/drawingml/2006/chart" r:id="rId4"/>
          </a:graphicData>
        </a:graphic>
      </p:graphicFrame>
      <p:sp>
        <p:nvSpPr>
          <p:cNvPr id="23" name="Text 17"/>
          <p:cNvSpPr txBox="1"/>
          <p:nvPr/>
        </p:nvSpPr>
        <p:spPr>
          <a:xfrm>
            <a:off x="6035040" y="4434840"/>
            <a:ext cx="5608015" cy="685800"/>
          </a:xfrm>
          <a:prstGeom prst="rect">
            <a:avLst/>
          </a:prstGeom>
          <a:noFill/>
          <a:ln/>
        </p:spPr>
        <p:txBody>
          <a:bodyPr wrap="square" lIns="0" tIns="0" rIns="0" bIns="0" rtlCol="0" anchor="ctr"/>
          <a:lstStyle/>
          <a:p>
            <a:pPr indent="0" marL="0">
              <a:buNone/>
            </a:pPr>
            <a:r>
              <a:rPr lang="en-US" sz="4400" dirty="0">
                <a:solidFill>
                  <a:schemeClr val="accent2"/>
                </a:solidFill>
                <a:latin typeface="Segoe UI Semibold" pitchFamily="34" charset="0"/>
                <a:ea typeface="Segoe UI Semibold" pitchFamily="34" charset="-122"/>
                <a:cs typeface="Segoe UI Semibold" pitchFamily="34" charset="-120"/>
              </a:rPr>
              <a:t>8×</a:t>
            </a:r>
            <a:pPr indent="0" marL="0">
              <a:buNone/>
            </a:pPr>
            <a:r>
              <a:rPr lang="en-US" sz="1800" b="1" dirty="0">
                <a:solidFill>
                  <a:schemeClr val="tx1"/>
                </a:solidFill>
              </a:rPr>
              <a:t>  schneller pro Peak</a:t>
            </a:r>
            <a:endParaRPr lang="en-US" sz="1600" dirty="0"/>
          </a:p>
        </p:txBody>
      </p:sp>
      <p:sp>
        <p:nvSpPr>
          <p:cNvPr id="24" name="Text 18"/>
          <p:cNvSpPr txBox="1"/>
          <p:nvPr/>
        </p:nvSpPr>
        <p:spPr>
          <a:xfrm>
            <a:off x="6035040" y="5193792"/>
            <a:ext cx="5608015" cy="365760"/>
          </a:xfrm>
          <a:prstGeom prst="rect">
            <a:avLst/>
          </a:prstGeom>
          <a:noFill/>
          <a:ln/>
        </p:spPr>
        <p:txBody>
          <a:bodyPr wrap="square" lIns="0" tIns="0" rIns="0" bIns="0" rtlCol="0" anchor="t"/>
          <a:lstStyle/>
          <a:p>
            <a:pPr indent="0" marL="0">
              <a:buNone/>
            </a:pPr>
            <a:r>
              <a:rPr lang="en-US" sz="1500" b="1" dirty="0">
                <a:solidFill>
                  <a:schemeClr val="accent3"/>
                </a:solidFill>
              </a:rPr>
              <a:t>Identische Treffer, Scores und Reihenfolge.</a:t>
            </a:r>
            <a:endParaRPr lang="en-US" sz="1500" dirty="0"/>
          </a:p>
        </p:txBody>
      </p:sp>
      <p:sp>
        <p:nvSpPr>
          <p:cNvPr id="25" name="Text 19"/>
          <p:cNvSpPr txBox="1"/>
          <p:nvPr/>
        </p:nvSpPr>
        <p:spPr>
          <a:xfrm>
            <a:off x="6035040" y="5623560"/>
            <a:ext cx="5608015" cy="457200"/>
          </a:xfrm>
          <a:prstGeom prst="rect">
            <a:avLst/>
          </a:prstGeom>
          <a:noFill/>
          <a:ln/>
        </p:spPr>
        <p:txBody>
          <a:bodyPr wrap="square" lIns="0" tIns="0" rIns="0" bIns="0" rtlCol="0" anchor="t"/>
          <a:lstStyle/>
          <a:p>
            <a:pPr indent="0" marL="0">
              <a:buNone/>
            </a:pPr>
            <a:r>
              <a:rPr lang="en-US" sz="1200" i="1" dirty="0">
                <a:solidFill>
                  <a:srgbClr val="5B6B73"/>
                </a:solidFill>
              </a:rPr>
              <a:t>Gemessen an 375 Peaks aus 6 Läufen; ein einzelner Lauf (87 Peaks) wird 4,5× schneller.</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51206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DOPPELBESTIMMUNG</a:t>
            </a:r>
            <a:endParaRPr lang="en-US" sz="1200" dirty="0"/>
          </a:p>
        </p:txBody>
      </p:sp>
      <p:sp>
        <p:nvSpPr>
          <p:cNvPr id="3" name="Text 0"/>
          <p:cNvSpPr/>
          <p:nvPr>
            <p:ph idx="101" type="title" hasCustomPrompt="1"/>
          </p:nvPr>
        </p:nvSpPr>
        <p:spPr>
          <a:xfrm>
            <a:off x="548640" y="676656"/>
            <a:ext cx="11094415" cy="914400"/>
          </a:xfrm>
          <a:prstGeom prst="rect">
            <a:avLst/>
          </a:prstGeom>
          <a:noFill/>
          <a:ln/>
        </p:spPr>
        <p:txBody>
          <a:bodyPr wrap="square" lIns="0" tIns="0" rIns="0" bIns="0" rtlCol="0" anchor="t"/>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Aus Bestimmung A und B wird automatisch eine gemeinsame Substanzliste</a:t>
            </a:r>
            <a:endParaRPr lang="en-US" sz="2800" dirty="0"/>
          </a:p>
        </p:txBody>
      </p:sp>
      <p:sp>
        <p:nvSpPr>
          <p:cNvPr id="4" name="Text 2"/>
          <p:cNvSpPr txBox="1"/>
          <p:nvPr/>
        </p:nvSpPr>
        <p:spPr>
          <a:xfrm>
            <a:off x="5669280" y="347472"/>
            <a:ext cx="5971032" cy="292608"/>
          </a:xfrm>
          <a:prstGeom prst="rect">
            <a:avLst/>
          </a:prstGeom>
          <a:noFill/>
          <a:ln/>
        </p:spPr>
        <p:txBody>
          <a:bodyPr wrap="square" lIns="0" tIns="0" rIns="0" bIns="0" rtlCol="0" anchor="ctr"/>
          <a:lstStyle/>
          <a:p>
            <a:pPr algn="r" indent="0" marL="0">
              <a:buNone/>
            </a:pPr>
            <a:r>
              <a:rPr lang="en-US" sz="1100" dirty="0">
                <a:solidFill>
                  <a:srgbClr val="A7B3B9"/>
                </a:solidFill>
              </a:rPr>
              <a:t>Daten</a:t>
            </a:r>
            <a:pPr algn="r" indent="0" marL="0">
              <a:buNone/>
            </a:pPr>
            <a:r>
              <a:rPr lang="en-US" sz="1100" dirty="0">
                <a:solidFill>
                  <a:srgbClr val="C9D3D8"/>
                </a:solidFill>
              </a:rPr>
              <a:t>   ·   </a:t>
            </a:r>
            <a:pPr algn="r" indent="0" marL="0">
              <a:buNone/>
            </a:pPr>
            <a:r>
              <a:rPr lang="en-US" sz="1100" dirty="0">
                <a:solidFill>
                  <a:srgbClr val="A7B3B9"/>
                </a:solidFill>
              </a:rPr>
              <a:t>Integration</a:t>
            </a:r>
            <a:pPr algn="r" indent="0" marL="0">
              <a:buNone/>
            </a:pPr>
            <a:r>
              <a:rPr lang="en-US" sz="1100" dirty="0">
                <a:solidFill>
                  <a:srgbClr val="C9D3D8"/>
                </a:solidFill>
              </a:rPr>
              <a:t>   ·   </a:t>
            </a:r>
            <a:pPr algn="r" indent="0" marL="0">
              <a:buNone/>
            </a:pPr>
            <a:r>
              <a:rPr lang="en-US" sz="1100" dirty="0">
                <a:solidFill>
                  <a:srgbClr val="A7B3B9"/>
                </a:solidFill>
              </a:rPr>
              <a:t>Identifizierung</a:t>
            </a:r>
            <a:pPr algn="r" indent="0" marL="0">
              <a:buNone/>
            </a:pPr>
            <a:r>
              <a:rPr lang="en-US" sz="1100" dirty="0">
                <a:solidFill>
                  <a:srgbClr val="C9D3D8"/>
                </a:solidFill>
              </a:rPr>
              <a:t>   ·   </a:t>
            </a:r>
            <a:pPr algn="r" indent="0" marL="0">
              <a:buNone/>
            </a:pPr>
            <a:r>
              <a:rPr lang="en-US" sz="1100" b="1" dirty="0">
                <a:solidFill>
                  <a:schemeClr val="accent1"/>
                </a:solidFill>
              </a:rPr>
              <a:t>Doppelbestimmung</a:t>
            </a:r>
            <a:pPr algn="r" indent="0" marL="0">
              <a:buNone/>
            </a:pPr>
            <a:r>
              <a:rPr lang="en-US" sz="1100" dirty="0">
                <a:solidFill>
                  <a:srgbClr val="C9D3D8"/>
                </a:solidFill>
              </a:rPr>
              <a:t>   ·   </a:t>
            </a:r>
            <a:pPr algn="r" indent="0" marL="0">
              <a:buNone/>
            </a:pPr>
            <a:r>
              <a:rPr lang="en-US" sz="1100" dirty="0">
                <a:solidFill>
                  <a:srgbClr val="A7B3B9"/>
                </a:solidFill>
              </a:rPr>
              <a:t>Reporting</a:t>
            </a:r>
            <a:endParaRPr lang="en-US" sz="1100" dirty="0"/>
          </a:p>
        </p:txBody>
      </p:sp>
      <p:sp>
        <p:nvSpPr>
          <p:cNvPr id="5" name="Shape 3"/>
          <p:cNvSpPr/>
          <p:nvPr/>
        </p:nvSpPr>
        <p:spPr>
          <a:xfrm>
            <a:off x="548640" y="1783080"/>
            <a:ext cx="2846756" cy="502920"/>
          </a:xfrm>
          <a:prstGeom prst="homePlate">
            <a:avLst/>
          </a:prstGeom>
          <a:solidFill>
            <a:schemeClr val="tx2"/>
          </a:solidFill>
          <a:ln w="25400">
            <a:solidFill>
              <a:srgbClr val="FFFFFF"/>
            </a:solidFill>
            <a:prstDash val="solid"/>
          </a:ln>
        </p:spPr>
      </p:sp>
      <p:sp>
        <p:nvSpPr>
          <p:cNvPr id="6" name="Text 4"/>
          <p:cNvSpPr txBox="1"/>
          <p:nvPr/>
        </p:nvSpPr>
        <p:spPr>
          <a:xfrm>
            <a:off x="822960" y="1783080"/>
            <a:ext cx="2298116" cy="502920"/>
          </a:xfrm>
          <a:prstGeom prst="rect">
            <a:avLst/>
          </a:prstGeom>
          <a:noFill/>
          <a:ln/>
        </p:spPr>
        <p:txBody>
          <a:bodyPr wrap="square" lIns="0" tIns="0" rIns="0" bIns="0" rtlCol="0" anchor="ctr"/>
          <a:lstStyle/>
          <a:p>
            <a:pPr algn="ctr" indent="0" marL="0">
              <a:buNone/>
            </a:pPr>
            <a:r>
              <a:rPr lang="en-US" sz="1600" b="1" dirty="0">
                <a:solidFill>
                  <a:schemeClr val="bg1"/>
                </a:solidFill>
              </a:rPr>
              <a:t>1  Zeit angleichen</a:t>
            </a:r>
            <a:endParaRPr lang="en-US" sz="1600" dirty="0"/>
          </a:p>
        </p:txBody>
      </p:sp>
      <p:sp>
        <p:nvSpPr>
          <p:cNvPr id="7" name="Shape 5"/>
          <p:cNvSpPr/>
          <p:nvPr/>
        </p:nvSpPr>
        <p:spPr>
          <a:xfrm>
            <a:off x="3322244" y="1783080"/>
            <a:ext cx="2846756" cy="502920"/>
          </a:xfrm>
          <a:prstGeom prst="chevron">
            <a:avLst/>
          </a:prstGeom>
          <a:solidFill>
            <a:schemeClr val="tx2"/>
          </a:solidFill>
          <a:ln w="25400">
            <a:solidFill>
              <a:srgbClr val="FFFFFF"/>
            </a:solidFill>
            <a:prstDash val="solid"/>
          </a:ln>
        </p:spPr>
      </p:sp>
      <p:sp>
        <p:nvSpPr>
          <p:cNvPr id="8" name="Text 6"/>
          <p:cNvSpPr txBox="1"/>
          <p:nvPr/>
        </p:nvSpPr>
        <p:spPr>
          <a:xfrm>
            <a:off x="3596564" y="1783080"/>
            <a:ext cx="2298116" cy="502920"/>
          </a:xfrm>
          <a:prstGeom prst="rect">
            <a:avLst/>
          </a:prstGeom>
          <a:noFill/>
          <a:ln/>
        </p:spPr>
        <p:txBody>
          <a:bodyPr wrap="square" lIns="0" tIns="0" rIns="0" bIns="0" rtlCol="0" anchor="ctr"/>
          <a:lstStyle/>
          <a:p>
            <a:pPr algn="ctr" indent="0" marL="0">
              <a:buNone/>
            </a:pPr>
            <a:r>
              <a:rPr lang="en-US" sz="1600" b="1" dirty="0">
                <a:solidFill>
                  <a:schemeClr val="bg1"/>
                </a:solidFill>
              </a:rPr>
              <a:t>2  Peaks paaren</a:t>
            </a:r>
            <a:endParaRPr lang="en-US" sz="1600" dirty="0"/>
          </a:p>
        </p:txBody>
      </p:sp>
      <p:sp>
        <p:nvSpPr>
          <p:cNvPr id="9" name="Shape 7"/>
          <p:cNvSpPr/>
          <p:nvPr/>
        </p:nvSpPr>
        <p:spPr>
          <a:xfrm>
            <a:off x="6095848" y="1783080"/>
            <a:ext cx="2846756" cy="502920"/>
          </a:xfrm>
          <a:prstGeom prst="chevron">
            <a:avLst/>
          </a:prstGeom>
          <a:solidFill>
            <a:schemeClr val="tx2"/>
          </a:solidFill>
          <a:ln w="25400">
            <a:solidFill>
              <a:srgbClr val="FFFFFF"/>
            </a:solidFill>
            <a:prstDash val="solid"/>
          </a:ln>
        </p:spPr>
      </p:sp>
      <p:sp>
        <p:nvSpPr>
          <p:cNvPr id="10" name="Text 8"/>
          <p:cNvSpPr txBox="1"/>
          <p:nvPr/>
        </p:nvSpPr>
        <p:spPr>
          <a:xfrm>
            <a:off x="6370168" y="1783080"/>
            <a:ext cx="2298116" cy="502920"/>
          </a:xfrm>
          <a:prstGeom prst="rect">
            <a:avLst/>
          </a:prstGeom>
          <a:noFill/>
          <a:ln/>
        </p:spPr>
        <p:txBody>
          <a:bodyPr wrap="square" lIns="0" tIns="0" rIns="0" bIns="0" rtlCol="0" anchor="ctr"/>
          <a:lstStyle/>
          <a:p>
            <a:pPr algn="ctr" indent="0" marL="0">
              <a:buNone/>
            </a:pPr>
            <a:r>
              <a:rPr lang="en-US" sz="1600" b="1" dirty="0">
                <a:solidFill>
                  <a:schemeClr val="bg1"/>
                </a:solidFill>
              </a:rPr>
              <a:t>3  Lücken füllen</a:t>
            </a:r>
            <a:endParaRPr lang="en-US" sz="1600" dirty="0"/>
          </a:p>
        </p:txBody>
      </p:sp>
      <p:sp>
        <p:nvSpPr>
          <p:cNvPr id="11" name="Shape 9"/>
          <p:cNvSpPr/>
          <p:nvPr/>
        </p:nvSpPr>
        <p:spPr>
          <a:xfrm>
            <a:off x="8869451" y="1783080"/>
            <a:ext cx="2846756" cy="502920"/>
          </a:xfrm>
          <a:prstGeom prst="chevron">
            <a:avLst/>
          </a:prstGeom>
          <a:solidFill>
            <a:schemeClr val="accent3"/>
          </a:solidFill>
          <a:ln w="25400">
            <a:solidFill>
              <a:srgbClr val="FFFFFF"/>
            </a:solidFill>
            <a:prstDash val="solid"/>
          </a:ln>
        </p:spPr>
      </p:sp>
      <p:sp>
        <p:nvSpPr>
          <p:cNvPr id="12" name="Text 10"/>
          <p:cNvSpPr txBox="1"/>
          <p:nvPr/>
        </p:nvSpPr>
        <p:spPr>
          <a:xfrm>
            <a:off x="9143771" y="1783080"/>
            <a:ext cx="2298116" cy="502920"/>
          </a:xfrm>
          <a:prstGeom prst="rect">
            <a:avLst/>
          </a:prstGeom>
          <a:noFill/>
          <a:ln/>
        </p:spPr>
        <p:txBody>
          <a:bodyPr wrap="square" lIns="0" tIns="0" rIns="0" bIns="0" rtlCol="0" anchor="ctr"/>
          <a:lstStyle/>
          <a:p>
            <a:pPr algn="ctr" indent="0" marL="0">
              <a:buNone/>
            </a:pPr>
            <a:r>
              <a:rPr lang="en-US" sz="1600" b="1" dirty="0">
                <a:solidFill>
                  <a:schemeClr val="bg1"/>
                </a:solidFill>
              </a:rPr>
              <a:t>4  Ampel vergeben</a:t>
            </a:r>
            <a:endParaRPr lang="en-US" sz="1600" dirty="0"/>
          </a:p>
        </p:txBody>
      </p:sp>
      <p:pic>
        <p:nvPicPr>
          <p:cNvPr id="13" name="Image 0" descr="Schema Zeitangleich und Paarung von A und B">    </p:cNvPr>
          <p:cNvPicPr>
            <a:picLocks noChangeAspect="1"/>
          </p:cNvPicPr>
          <p:nvPr/>
        </p:nvPicPr>
        <p:blipFill>
          <a:blip r:embed="rId1"/>
          <a:stretch>
            <a:fillRect/>
          </a:stretch>
        </p:blipFill>
        <p:spPr>
          <a:xfrm>
            <a:off x="548640" y="2971800"/>
            <a:ext cx="5120640" cy="2987040"/>
          </a:xfrm>
          <a:prstGeom prst="rect">
            <a:avLst/>
          </a:prstGeom>
        </p:spPr>
      </p:pic>
      <p:sp>
        <p:nvSpPr>
          <p:cNvPr id="15" name="Text 12"/>
          <p:cNvSpPr txBox="1"/>
          <p:nvPr/>
        </p:nvSpPr>
        <p:spPr>
          <a:xfrm>
            <a:off x="548640" y="2560320"/>
            <a:ext cx="5486400" cy="320040"/>
          </a:xfrm>
          <a:prstGeom prst="rect">
            <a:avLst/>
          </a:prstGeom>
          <a:noFill/>
          <a:ln/>
        </p:spPr>
        <p:txBody>
          <a:bodyPr wrap="square" lIns="0" tIns="0" rIns="0" bIns="0" rtlCol="0" anchor="t"/>
          <a:lstStyle/>
          <a:p>
            <a:pPr indent="0" marL="0">
              <a:buNone/>
            </a:pPr>
            <a:r>
              <a:rPr lang="en-US" sz="1500" b="1" dirty="0">
                <a:solidFill>
                  <a:schemeClr val="tx2"/>
                </a:solidFill>
              </a:rPr>
              <a:t>Paare bilden, fehlenden Peak ergänzen</a:t>
            </a:r>
            <a:endParaRPr lang="en-US" sz="1500" dirty="0"/>
          </a:p>
        </p:txBody>
      </p:sp>
      <p:sp>
        <p:nvSpPr>
          <p:cNvPr id="16" name="Text 13"/>
          <p:cNvSpPr txBox="1"/>
          <p:nvPr/>
        </p:nvSpPr>
        <p:spPr>
          <a:xfrm>
            <a:off x="548640" y="6050280"/>
            <a:ext cx="6766560" cy="292608"/>
          </a:xfrm>
          <a:prstGeom prst="rect">
            <a:avLst/>
          </a:prstGeom>
          <a:noFill/>
          <a:ln/>
        </p:spPr>
        <p:txBody>
          <a:bodyPr wrap="square" lIns="0" tIns="0" rIns="0" bIns="0" rtlCol="0" anchor="t"/>
          <a:lstStyle/>
          <a:p>
            <a:pPr indent="0" marL="0">
              <a:buNone/>
            </a:pPr>
            <a:r>
              <a:rPr lang="en-US" sz="1200" i="1" dirty="0">
                <a:solidFill>
                  <a:srgbClr val="5B6B73"/>
                </a:solidFill>
              </a:rPr>
              <a:t>Ergänzt wird nur mit Beleg im Signal – sonst „nicht nachweisbar“, nie Fläche 0.</a:t>
            </a:r>
            <a:endParaRPr lang="en-US" sz="1200" dirty="0"/>
          </a:p>
        </p:txBody>
      </p:sp>
      <p:sp>
        <p:nvSpPr>
          <p:cNvPr id="17" name="Text 14"/>
          <p:cNvSpPr txBox="1"/>
          <p:nvPr/>
        </p:nvSpPr>
        <p:spPr>
          <a:xfrm>
            <a:off x="7406640" y="2560320"/>
            <a:ext cx="3276295" cy="274320"/>
          </a:xfrm>
          <a:prstGeom prst="rect">
            <a:avLst/>
          </a:prstGeom>
          <a:noFill/>
          <a:ln/>
        </p:spPr>
        <p:txBody>
          <a:bodyPr wrap="square" lIns="0" tIns="0" rIns="0" bIns="0" rtlCol="0" anchor="t"/>
          <a:lstStyle/>
          <a:p>
            <a:pPr indent="0" marL="0">
              <a:buNone/>
            </a:pPr>
            <a:r>
              <a:rPr lang="en-US" sz="1200" b="1" spc="200" kern="0" dirty="0">
                <a:solidFill>
                  <a:srgbClr val="5B6B73"/>
                </a:solidFill>
              </a:rPr>
              <a:t>AMPEL JE SUBSTANZ</a:t>
            </a:r>
            <a:endParaRPr lang="en-US" sz="1200" dirty="0"/>
          </a:p>
        </p:txBody>
      </p:sp>
      <p:sp>
        <p:nvSpPr>
          <p:cNvPr id="18" name="Shape 15"/>
          <p:cNvSpPr/>
          <p:nvPr/>
        </p:nvSpPr>
        <p:spPr>
          <a:xfrm>
            <a:off x="7406640" y="3054096"/>
            <a:ext cx="365760" cy="365760"/>
          </a:xfrm>
          <a:prstGeom prst="ellipse">
            <a:avLst/>
          </a:prstGeom>
          <a:solidFill>
            <a:schemeClr val="accent3"/>
          </a:solidFill>
          <a:ln/>
        </p:spPr>
      </p:sp>
      <p:sp>
        <p:nvSpPr>
          <p:cNvPr id="19" name="Text 16"/>
          <p:cNvSpPr txBox="1"/>
          <p:nvPr/>
        </p:nvSpPr>
        <p:spPr>
          <a:xfrm>
            <a:off x="7955279" y="3017520"/>
            <a:ext cx="3657600" cy="438912"/>
          </a:xfrm>
          <a:prstGeom prst="rect">
            <a:avLst/>
          </a:prstGeom>
          <a:noFill/>
          <a:ln/>
        </p:spPr>
        <p:txBody>
          <a:bodyPr wrap="square" lIns="0" tIns="0" rIns="0" bIns="0" rtlCol="0" anchor="ctr"/>
          <a:lstStyle/>
          <a:p>
            <a:pPr indent="0" marL="0">
              <a:buNone/>
            </a:pPr>
            <a:r>
              <a:rPr lang="en-US" sz="1600" b="1" dirty="0">
                <a:solidFill>
                  <a:schemeClr val="tx1"/>
                </a:solidFill>
              </a:rPr>
              <a:t>grün  </a:t>
            </a:r>
            <a:pPr indent="0" marL="0">
              <a:buNone/>
            </a:pPr>
            <a:r>
              <a:rPr lang="en-US" sz="1600" dirty="0">
                <a:solidFill>
                  <a:schemeClr val="tx1"/>
                </a:solidFill>
              </a:rPr>
              <a:t>bestätigt</a:t>
            </a:r>
            <a:endParaRPr lang="en-US" sz="1600" dirty="0"/>
          </a:p>
        </p:txBody>
      </p:sp>
      <p:sp>
        <p:nvSpPr>
          <p:cNvPr id="20" name="Shape 17"/>
          <p:cNvSpPr/>
          <p:nvPr/>
        </p:nvSpPr>
        <p:spPr>
          <a:xfrm>
            <a:off x="7406640" y="3712464"/>
            <a:ext cx="365760" cy="365760"/>
          </a:xfrm>
          <a:prstGeom prst="ellipse">
            <a:avLst/>
          </a:prstGeom>
          <a:solidFill>
            <a:schemeClr val="accent4"/>
          </a:solidFill>
          <a:ln/>
        </p:spPr>
      </p:sp>
      <p:sp>
        <p:nvSpPr>
          <p:cNvPr id="21" name="Text 18"/>
          <p:cNvSpPr txBox="1"/>
          <p:nvPr/>
        </p:nvSpPr>
        <p:spPr>
          <a:xfrm>
            <a:off x="7955279" y="3675888"/>
            <a:ext cx="3657600" cy="438912"/>
          </a:xfrm>
          <a:prstGeom prst="rect">
            <a:avLst/>
          </a:prstGeom>
          <a:noFill/>
          <a:ln/>
        </p:spPr>
        <p:txBody>
          <a:bodyPr wrap="square" lIns="0" tIns="0" rIns="0" bIns="0" rtlCol="0" anchor="ctr"/>
          <a:lstStyle/>
          <a:p>
            <a:pPr indent="0" marL="0">
              <a:buNone/>
            </a:pPr>
            <a:r>
              <a:rPr lang="en-US" sz="1600" b="1" dirty="0">
                <a:solidFill>
                  <a:schemeClr val="tx1"/>
                </a:solidFill>
              </a:rPr>
              <a:t>gelb  </a:t>
            </a:r>
            <a:pPr indent="0" marL="0">
              <a:buNone/>
            </a:pPr>
            <a:r>
              <a:rPr lang="en-US" sz="1600" dirty="0">
                <a:solidFill>
                  <a:schemeClr val="tx1"/>
                </a:solidFill>
              </a:rPr>
              <a:t>automatisch stimmig</a:t>
            </a:r>
            <a:endParaRPr lang="en-US" sz="1600" dirty="0"/>
          </a:p>
        </p:txBody>
      </p:sp>
      <p:sp>
        <p:nvSpPr>
          <p:cNvPr id="22" name="Shape 19"/>
          <p:cNvSpPr/>
          <p:nvPr/>
        </p:nvSpPr>
        <p:spPr>
          <a:xfrm>
            <a:off x="7406640" y="4370832"/>
            <a:ext cx="365760" cy="365760"/>
          </a:xfrm>
          <a:prstGeom prst="ellipse">
            <a:avLst/>
          </a:prstGeom>
          <a:solidFill>
            <a:schemeClr val="accent5"/>
          </a:solidFill>
          <a:ln/>
        </p:spPr>
      </p:sp>
      <p:sp>
        <p:nvSpPr>
          <p:cNvPr id="23" name="Text 20"/>
          <p:cNvSpPr txBox="1"/>
          <p:nvPr/>
        </p:nvSpPr>
        <p:spPr>
          <a:xfrm>
            <a:off x="7955279" y="4334256"/>
            <a:ext cx="3657600" cy="438912"/>
          </a:xfrm>
          <a:prstGeom prst="rect">
            <a:avLst/>
          </a:prstGeom>
          <a:noFill/>
          <a:ln/>
        </p:spPr>
        <p:txBody>
          <a:bodyPr wrap="square" lIns="0" tIns="0" rIns="0" bIns="0" rtlCol="0" anchor="ctr"/>
          <a:lstStyle/>
          <a:p>
            <a:pPr indent="0" marL="0">
              <a:buNone/>
            </a:pPr>
            <a:r>
              <a:rPr lang="en-US" sz="1600" b="1" dirty="0">
                <a:solidFill>
                  <a:schemeClr val="tx1"/>
                </a:solidFill>
              </a:rPr>
              <a:t>rot  </a:t>
            </a:r>
            <a:pPr indent="0" marL="0">
              <a:buNone/>
            </a:pPr>
            <a:r>
              <a:rPr lang="en-US" sz="1600" dirty="0">
                <a:solidFill>
                  <a:schemeClr val="tx1"/>
                </a:solidFill>
              </a:rPr>
              <a:t>Analytiker entscheidet</a:t>
            </a:r>
            <a:endParaRPr lang="en-US" sz="1600" dirty="0"/>
          </a:p>
        </p:txBody>
      </p:sp>
      <p:sp>
        <p:nvSpPr>
          <p:cNvPr id="24" name="Shape 21"/>
          <p:cNvSpPr/>
          <p:nvPr/>
        </p:nvSpPr>
        <p:spPr>
          <a:xfrm>
            <a:off x="7406640" y="5029200"/>
            <a:ext cx="365760" cy="365760"/>
          </a:xfrm>
          <a:prstGeom prst="ellipse">
            <a:avLst/>
          </a:prstGeom>
          <a:solidFill>
            <a:srgbClr val="9AA5AB"/>
          </a:solidFill>
          <a:ln/>
        </p:spPr>
      </p:sp>
      <p:sp>
        <p:nvSpPr>
          <p:cNvPr id="25" name="Text 22"/>
          <p:cNvSpPr txBox="1"/>
          <p:nvPr/>
        </p:nvSpPr>
        <p:spPr>
          <a:xfrm>
            <a:off x="7955279" y="4992624"/>
            <a:ext cx="3657600" cy="438912"/>
          </a:xfrm>
          <a:prstGeom prst="rect">
            <a:avLst/>
          </a:prstGeom>
          <a:noFill/>
          <a:ln/>
        </p:spPr>
        <p:txBody>
          <a:bodyPr wrap="square" lIns="0" tIns="0" rIns="0" bIns="0" rtlCol="0" anchor="ctr"/>
          <a:lstStyle/>
          <a:p>
            <a:pPr indent="0" marL="0">
              <a:buNone/>
            </a:pPr>
            <a:r>
              <a:rPr lang="en-US" sz="1600" b="1" dirty="0">
                <a:solidFill>
                  <a:schemeClr val="tx1"/>
                </a:solidFill>
              </a:rPr>
              <a:t>grau  </a:t>
            </a:r>
            <a:pPr indent="0" marL="0">
              <a:buNone/>
            </a:pPr>
            <a:r>
              <a:rPr lang="en-US" sz="1600" dirty="0">
                <a:solidFill>
                  <a:schemeClr val="tx1"/>
                </a:solidFill>
              </a:rPr>
              <a:t>nicht berichtet</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51206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DOPPELBESTIMMUNG · IM ALLTAG</a:t>
            </a:r>
            <a:endParaRPr lang="en-US" sz="1200" dirty="0"/>
          </a:p>
        </p:txBody>
      </p:sp>
      <p:sp>
        <p:nvSpPr>
          <p:cNvPr id="3" name="Text 0"/>
          <p:cNvSpPr/>
          <p:nvPr>
            <p:ph idx="101" type="title" hasCustomPrompt="1"/>
          </p:nvPr>
        </p:nvSpPr>
        <p:spPr>
          <a:xfrm>
            <a:off x="548640" y="676656"/>
            <a:ext cx="11094415" cy="914400"/>
          </a:xfrm>
          <a:prstGeom prst="rect">
            <a:avLst/>
          </a:prstGeom>
          <a:noFill/>
          <a:ln/>
        </p:spPr>
        <p:txBody>
          <a:bodyPr wrap="square" lIns="0" tIns="0" rIns="0" bIns="0" rtlCol="0" anchor="t"/>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Nur die Ausnahmen landen beim Analytiker</a:t>
            </a:r>
            <a:endParaRPr lang="en-US" sz="2800" dirty="0"/>
          </a:p>
        </p:txBody>
      </p:sp>
      <p:sp>
        <p:nvSpPr>
          <p:cNvPr id="4" name="Text 2"/>
          <p:cNvSpPr txBox="1"/>
          <p:nvPr/>
        </p:nvSpPr>
        <p:spPr>
          <a:xfrm>
            <a:off x="5669280" y="347472"/>
            <a:ext cx="5971032" cy="292608"/>
          </a:xfrm>
          <a:prstGeom prst="rect">
            <a:avLst/>
          </a:prstGeom>
          <a:noFill/>
          <a:ln/>
        </p:spPr>
        <p:txBody>
          <a:bodyPr wrap="square" lIns="0" tIns="0" rIns="0" bIns="0" rtlCol="0" anchor="ctr"/>
          <a:lstStyle/>
          <a:p>
            <a:pPr algn="r" indent="0" marL="0">
              <a:buNone/>
            </a:pPr>
            <a:r>
              <a:rPr lang="en-US" sz="1100" dirty="0">
                <a:solidFill>
                  <a:srgbClr val="A7B3B9"/>
                </a:solidFill>
              </a:rPr>
              <a:t>Daten</a:t>
            </a:r>
            <a:pPr algn="r" indent="0" marL="0">
              <a:buNone/>
            </a:pPr>
            <a:r>
              <a:rPr lang="en-US" sz="1100" dirty="0">
                <a:solidFill>
                  <a:srgbClr val="C9D3D8"/>
                </a:solidFill>
              </a:rPr>
              <a:t>   ·   </a:t>
            </a:r>
            <a:pPr algn="r" indent="0" marL="0">
              <a:buNone/>
            </a:pPr>
            <a:r>
              <a:rPr lang="en-US" sz="1100" dirty="0">
                <a:solidFill>
                  <a:srgbClr val="A7B3B9"/>
                </a:solidFill>
              </a:rPr>
              <a:t>Integration</a:t>
            </a:r>
            <a:pPr algn="r" indent="0" marL="0">
              <a:buNone/>
            </a:pPr>
            <a:r>
              <a:rPr lang="en-US" sz="1100" dirty="0">
                <a:solidFill>
                  <a:srgbClr val="C9D3D8"/>
                </a:solidFill>
              </a:rPr>
              <a:t>   ·   </a:t>
            </a:r>
            <a:pPr algn="r" indent="0" marL="0">
              <a:buNone/>
            </a:pPr>
            <a:r>
              <a:rPr lang="en-US" sz="1100" dirty="0">
                <a:solidFill>
                  <a:srgbClr val="A7B3B9"/>
                </a:solidFill>
              </a:rPr>
              <a:t>Identifizierung</a:t>
            </a:r>
            <a:pPr algn="r" indent="0" marL="0">
              <a:buNone/>
            </a:pPr>
            <a:r>
              <a:rPr lang="en-US" sz="1100" dirty="0">
                <a:solidFill>
                  <a:srgbClr val="C9D3D8"/>
                </a:solidFill>
              </a:rPr>
              <a:t>   ·   </a:t>
            </a:r>
            <a:pPr algn="r" indent="0" marL="0">
              <a:buNone/>
            </a:pPr>
            <a:r>
              <a:rPr lang="en-US" sz="1100" b="1" dirty="0">
                <a:solidFill>
                  <a:schemeClr val="accent1"/>
                </a:solidFill>
              </a:rPr>
              <a:t>Doppelbestimmung</a:t>
            </a:r>
            <a:pPr algn="r" indent="0" marL="0">
              <a:buNone/>
            </a:pPr>
            <a:r>
              <a:rPr lang="en-US" sz="1100" dirty="0">
                <a:solidFill>
                  <a:srgbClr val="C9D3D8"/>
                </a:solidFill>
              </a:rPr>
              <a:t>   ·   </a:t>
            </a:r>
            <a:pPr algn="r" indent="0" marL="0">
              <a:buNone/>
            </a:pPr>
            <a:r>
              <a:rPr lang="en-US" sz="1100" dirty="0">
                <a:solidFill>
                  <a:srgbClr val="A7B3B9"/>
                </a:solidFill>
              </a:rPr>
              <a:t>Reporting</a:t>
            </a:r>
            <a:endParaRPr lang="en-US" sz="1100" dirty="0"/>
          </a:p>
        </p:txBody>
      </p:sp>
      <p:pic>
        <p:nvPicPr>
          <p:cNvPr id="5" name="Image 0" descr="Arbeitsblatt der Doppelbestimmung">    </p:cNvPr>
          <p:cNvPicPr>
            <a:picLocks noChangeAspect="1"/>
          </p:cNvPicPr>
          <p:nvPr/>
        </p:nvPicPr>
        <p:blipFill>
          <a:blip r:embed="rId1"/>
          <a:stretch>
            <a:fillRect/>
          </a:stretch>
        </p:blipFill>
        <p:spPr>
          <a:xfrm>
            <a:off x="548640" y="1783080"/>
            <a:ext cx="6949440" cy="3453003"/>
          </a:xfrm>
          <a:prstGeom prst="rect">
            <a:avLst/>
          </a:prstGeom>
          <a:effectLst>
            <a:outerShdw sx="100000" sy="100000" kx="0" ky="0" algn="bl" rotWithShape="0" blurRad="76200" dist="25400" dir="5400000">
              <a:srgbClr val="000000">
                <a:alpha val="18000"/>
              </a:srgbClr>
            </a:outerShdw>
          </a:effectLst>
        </p:spPr>
      </p:pic>
      <p:sp>
        <p:nvSpPr>
          <p:cNvPr id="6" name="Shape 3"/>
          <p:cNvSpPr/>
          <p:nvPr/>
        </p:nvSpPr>
        <p:spPr>
          <a:xfrm>
            <a:off x="548640" y="1783080"/>
            <a:ext cx="6949440" cy="3453003"/>
          </a:xfrm>
          <a:prstGeom prst="rect">
            <a:avLst/>
          </a:prstGeom>
          <a:ln w="9525">
            <a:solidFill>
              <a:srgbClr val="D3DDE2"/>
            </a:solidFill>
            <a:prstDash val="solid"/>
          </a:ln>
        </p:spPr>
      </p:sp>
      <p:sp>
        <p:nvSpPr>
          <p:cNvPr id="7" name="Text 4"/>
          <p:cNvSpPr txBox="1"/>
          <p:nvPr/>
        </p:nvSpPr>
        <p:spPr>
          <a:xfrm>
            <a:off x="548640" y="5309235"/>
            <a:ext cx="6949440" cy="292608"/>
          </a:xfrm>
          <a:prstGeom prst="rect">
            <a:avLst/>
          </a:prstGeom>
          <a:noFill/>
          <a:ln/>
        </p:spPr>
        <p:txBody>
          <a:bodyPr wrap="square" lIns="0" tIns="0" rIns="0" bIns="0" rtlCol="0" anchor="t"/>
          <a:lstStyle/>
          <a:p>
            <a:pPr indent="0" marL="0">
              <a:buNone/>
            </a:pPr>
            <a:r>
              <a:rPr lang="en-US" sz="1200" i="1" dirty="0">
                <a:solidFill>
                  <a:srgbClr val="5B6B73"/>
                </a:solidFill>
              </a:rPr>
              <a:t>Paar 07/11: 69 Substanzen – 5 rot, 9 gelb, 11 grün, 44 grau</a:t>
            </a:r>
            <a:endParaRPr lang="en-US" sz="1200" dirty="0"/>
          </a:p>
        </p:txBody>
      </p:sp>
      <p:sp>
        <p:nvSpPr>
          <p:cNvPr id="26" name="Text 14"/>
          <p:cNvSpPr txBox="1"/>
          <p:nvPr/>
        </p:nvSpPr>
        <p:spPr>
          <a:xfrm>
            <a:off x="7909560" y="1783080"/>
            <a:ext cx="3730752" cy="3291840"/>
          </a:xfrm>
          <a:prstGeom prst="rect">
            <a:avLst/>
          </a:prstGeom>
          <a:noFill/>
          <a:ln/>
        </p:spPr>
        <p:txBody>
          <a:bodyPr wrap="square" lIns="0" tIns="0" rIns="0" bIns="0" rtlCol="0" anchor="t"/>
          <a:lstStyle/>
          <a:p>
            <a:pPr marL="203200" indent="-203200">
              <a:spcAft>
                <a:spcPts val="1200"/>
              </a:spcAft>
              <a:buSzPct val="100000"/>
              <a:buChar char="•"/>
            </a:pPr>
            <a:r>
              <a:rPr lang="en-US" sz="1500" dirty="0" b="1">
                <a:solidFill>
                  <a:schemeClr val="tx1"/>
                </a:solidFill>
              </a:rPr>
              <a:t>Mittelwert der Doppelbestimmung</a:t>
            </a:r>
            <a:r>
              <a:rPr lang="en-US" sz="1500" dirty="0" b="0">
                <a:solidFill>
                  <a:schemeClr val="tx1"/>
                </a:solidFill>
              </a:rPr>
              <a:t> – je Substanz automatisch berechnet, mit der Abweichung zwischen A und B</a:t>
            </a:r>
            <a:endParaRPr lang="en-US" sz="1500" dirty="0"/>
          </a:p>
          <a:p>
            <a:pPr marL="203200" indent="-203200">
              <a:spcAft>
                <a:spcPts val="1200"/>
              </a:spcAft>
              <a:buSzPct val="100000"/>
              <a:buChar char="•"/>
            </a:pPr>
            <a:r>
              <a:rPr lang="en-US" sz="1500" dirty="0" b="1">
                <a:solidFill>
                  <a:schemeClr val="tx1"/>
                </a:solidFill>
              </a:rPr>
              <a:t>Einfache Kontrolle und Anpassung</a:t>
            </a:r>
            <a:r>
              <a:rPr lang="en-US" sz="1500" dirty="0" b="0">
                <a:solidFill>
                  <a:schemeClr val="tx1"/>
                </a:solidFill>
              </a:rPr>
              <a:t> – Peaks und Substanzen direkt im Arbeitsblatt prüfen und ändern, Chromatogramm und Spektrum daneben</a:t>
            </a:r>
            <a:endParaRPr lang="en-US" sz="1500" dirty="0"/>
          </a:p>
          <a:p>
            <a:pPr marL="203200" indent="-203200">
              <a:spcAft>
                <a:spcPts val="1200"/>
              </a:spcAft>
              <a:buSzPct val="100000"/>
              <a:buChar char="•"/>
            </a:pPr>
            <a:r>
              <a:rPr lang="en-US" sz="1500" dirty="0" b="1">
                <a:solidFill>
                  <a:schemeClr val="tx1"/>
                </a:solidFill>
              </a:rPr>
              <a:t>Anpassbare Regeln</a:t>
            </a:r>
            <a:r>
              <a:rPr lang="en-US" sz="1500" dirty="0" b="0">
                <a:solidFill>
                  <a:schemeClr val="tx1"/>
                </a:solidFill>
              </a:rPr>
              <a:t> – z. B. die erlaubte Abweichung zwischen A und B oder die geforderte Spektrenähnlichkeit</a:t>
            </a:r>
            <a:endParaRPr lang="en-US" sz="1500" dirty="0"/>
          </a:p>
        </p:txBody>
      </p:sp>
      <p:sp>
        <p:nvSpPr>
          <p:cNvPr id="15" name="Text 12"/>
          <p:cNvSpPr txBox="1"/>
          <p:nvPr/>
        </p:nvSpPr>
        <p:spPr>
          <a:xfrm>
            <a:off x="7909560" y="4526280"/>
            <a:ext cx="3733495" cy="640080"/>
          </a:xfrm>
          <a:prstGeom prst="rect">
            <a:avLst/>
          </a:prstGeom>
          <a:noFill/>
          <a:ln/>
        </p:spPr>
        <p:txBody>
          <a:bodyPr wrap="square" lIns="0" tIns="0" rIns="0" bIns="0" rtlCol="0" anchor="t"/>
          <a:lstStyle/>
          <a:p>
            <a:pPr indent="0" marL="0">
              <a:buNone/>
            </a:pPr>
            <a:r>
              <a:rPr lang="en-US" sz="1500" b="1" dirty="0">
                <a:solidFill>
                  <a:schemeClr val="tx2"/>
                </a:solidFill>
              </a:rPr>
              <a:t>Jede Entscheidung protokolliert und rückgängig zu machen.</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51206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0-KLICK-REPORTING · AUTOMATION</a:t>
            </a:r>
            <a:endParaRPr lang="en-US" sz="1200" dirty="0"/>
          </a:p>
        </p:txBody>
      </p:sp>
      <p:sp>
        <p:nvSpPr>
          <p:cNvPr id="3" name="Text 0"/>
          <p:cNvSpPr/>
          <p:nvPr>
            <p:ph idx="101" type="title" hasCustomPrompt="1"/>
          </p:nvPr>
        </p:nvSpPr>
        <p:spPr>
          <a:xfrm>
            <a:off x="548640" y="676656"/>
            <a:ext cx="11094415" cy="914400"/>
          </a:xfrm>
          <a:prstGeom prst="rect">
            <a:avLst/>
          </a:prstGeom>
          <a:noFill/>
          <a:ln/>
        </p:spPr>
        <p:txBody>
          <a:bodyPr wrap="square" lIns="0" tIns="0" rIns="0" bIns="0" rtlCol="0" anchor="t"/>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0-Klick-Report: Analyse bis Bericht ohne einen Mausklick</a:t>
            </a:r>
            <a:endParaRPr lang="en-US" sz="2800" dirty="0"/>
          </a:p>
        </p:txBody>
      </p:sp>
      <p:sp>
        <p:nvSpPr>
          <p:cNvPr id="4" name="Text 2"/>
          <p:cNvSpPr txBox="1"/>
          <p:nvPr/>
        </p:nvSpPr>
        <p:spPr>
          <a:xfrm>
            <a:off x="5669280" y="347472"/>
            <a:ext cx="5971032" cy="292608"/>
          </a:xfrm>
          <a:prstGeom prst="rect">
            <a:avLst/>
          </a:prstGeom>
          <a:noFill/>
          <a:ln/>
        </p:spPr>
        <p:txBody>
          <a:bodyPr wrap="square" lIns="0" tIns="0" rIns="0" bIns="0" rtlCol="0" anchor="ctr"/>
          <a:lstStyle/>
          <a:p>
            <a:pPr algn="r" indent="0" marL="0">
              <a:buNone/>
            </a:pPr>
            <a:r>
              <a:rPr lang="en-US" sz="1100" dirty="0">
                <a:solidFill>
                  <a:srgbClr val="A7B3B9"/>
                </a:solidFill>
              </a:rPr>
              <a:t>Daten</a:t>
            </a:r>
            <a:pPr algn="r" indent="0" marL="0">
              <a:buNone/>
            </a:pPr>
            <a:r>
              <a:rPr lang="en-US" sz="1100" dirty="0">
                <a:solidFill>
                  <a:srgbClr val="C9D3D8"/>
                </a:solidFill>
              </a:rPr>
              <a:t>   ·   </a:t>
            </a:r>
            <a:pPr algn="r" indent="0" marL="0">
              <a:buNone/>
            </a:pPr>
            <a:r>
              <a:rPr lang="en-US" sz="1100" dirty="0">
                <a:solidFill>
                  <a:srgbClr val="A7B3B9"/>
                </a:solidFill>
              </a:rPr>
              <a:t>Integration</a:t>
            </a:r>
            <a:pPr algn="r" indent="0" marL="0">
              <a:buNone/>
            </a:pPr>
            <a:r>
              <a:rPr lang="en-US" sz="1100" dirty="0">
                <a:solidFill>
                  <a:srgbClr val="C9D3D8"/>
                </a:solidFill>
              </a:rPr>
              <a:t>   ·   </a:t>
            </a:r>
            <a:pPr algn="r" indent="0" marL="0">
              <a:buNone/>
            </a:pPr>
            <a:r>
              <a:rPr lang="en-US" sz="1100" dirty="0">
                <a:solidFill>
                  <a:srgbClr val="A7B3B9"/>
                </a:solidFill>
              </a:rPr>
              <a:t>Identifizierung</a:t>
            </a:r>
            <a:pPr algn="r" indent="0" marL="0">
              <a:buNone/>
            </a:pPr>
            <a:r>
              <a:rPr lang="en-US" sz="1100" dirty="0">
                <a:solidFill>
                  <a:srgbClr val="C9D3D8"/>
                </a:solidFill>
              </a:rPr>
              <a:t>   ·   </a:t>
            </a:r>
            <a:pPr algn="r" indent="0" marL="0">
              <a:buNone/>
            </a:pPr>
            <a:r>
              <a:rPr lang="en-US" sz="1100" dirty="0">
                <a:solidFill>
                  <a:srgbClr val="A7B3B9"/>
                </a:solidFill>
              </a:rPr>
              <a:t>Doppelbestimmung</a:t>
            </a:r>
            <a:pPr algn="r" indent="0" marL="0">
              <a:buNone/>
            </a:pPr>
            <a:r>
              <a:rPr lang="en-US" sz="1100" dirty="0">
                <a:solidFill>
                  <a:srgbClr val="C9D3D8"/>
                </a:solidFill>
              </a:rPr>
              <a:t>   ·   </a:t>
            </a:r>
            <a:pPr algn="r" indent="0" marL="0">
              <a:buNone/>
            </a:pPr>
            <a:r>
              <a:rPr lang="en-US" sz="1100" b="1" dirty="0">
                <a:solidFill>
                  <a:schemeClr val="accent1"/>
                </a:solidFill>
              </a:rPr>
              <a:t>Reporting</a:t>
            </a:r>
            <a:endParaRPr lang="en-US" sz="1100" dirty="0"/>
          </a:p>
        </p:txBody>
      </p:sp>
      <p:sp>
        <p:nvSpPr>
          <p:cNvPr id="5" name="Shape 3"/>
          <p:cNvSpPr/>
          <p:nvPr/>
        </p:nvSpPr>
        <p:spPr>
          <a:xfrm>
            <a:off x="548640" y="1783080"/>
            <a:ext cx="2011680" cy="1828800"/>
          </a:xfrm>
          <a:prstGeom prst="roundRect">
            <a:avLst>
              <a:gd name="adj" fmla="val 4000"/>
            </a:avLst>
          </a:prstGeom>
          <a:solidFill>
            <a:schemeClr val="tx2"/>
          </a:solidFill>
          <a:ln/>
        </p:spPr>
      </p:sp>
      <p:sp>
        <p:nvSpPr>
          <p:cNvPr id="6" name="Shape 4"/>
          <p:cNvSpPr/>
          <p:nvPr/>
        </p:nvSpPr>
        <p:spPr>
          <a:xfrm>
            <a:off x="777240" y="2011680"/>
            <a:ext cx="548640" cy="548640"/>
          </a:xfrm>
          <a:prstGeom prst="ellipse">
            <a:avLst/>
          </a:prstGeom>
          <a:solidFill>
            <a:srgbClr val="24607A"/>
          </a:solidFill>
          <a:ln/>
        </p:spPr>
      </p:sp>
      <p:pic>
        <p:nvPicPr>
          <p:cNvPr id="7" name="Image 0" descr="Symbol">    </p:cNvPr>
          <p:cNvPicPr>
            <a:picLocks noChangeAspect="1"/>
          </p:cNvPicPr>
          <p:nvPr/>
        </p:nvPicPr>
        <p:blipFill>
          <a:blip r:embed="rId1"/>
          <a:stretch>
            <a:fillRect/>
          </a:stretch>
        </p:blipFill>
        <p:spPr>
          <a:xfrm>
            <a:off x="897941" y="2132381"/>
            <a:ext cx="307238" cy="307238"/>
          </a:xfrm>
          <a:prstGeom prst="rect">
            <a:avLst/>
          </a:prstGeom>
        </p:spPr>
      </p:pic>
      <p:sp>
        <p:nvSpPr>
          <p:cNvPr id="8" name="Text 5"/>
          <p:cNvSpPr txBox="1"/>
          <p:nvPr/>
        </p:nvSpPr>
        <p:spPr>
          <a:xfrm>
            <a:off x="777240" y="2679192"/>
            <a:ext cx="1645920" cy="347472"/>
          </a:xfrm>
          <a:prstGeom prst="rect">
            <a:avLst/>
          </a:prstGeom>
          <a:noFill/>
          <a:ln/>
        </p:spPr>
        <p:txBody>
          <a:bodyPr wrap="square" lIns="0" tIns="0" rIns="0" bIns="0" rtlCol="0" anchor="t"/>
          <a:lstStyle/>
          <a:p>
            <a:pPr indent="0" marL="0">
              <a:buNone/>
            </a:pPr>
            <a:r>
              <a:rPr lang="en-US" sz="1700" b="1" dirty="0">
                <a:solidFill>
                  <a:schemeClr val="bg1"/>
                </a:solidFill>
              </a:rPr>
              <a:t>Messung fertig</a:t>
            </a:r>
            <a:endParaRPr lang="en-US" sz="1700" dirty="0"/>
          </a:p>
        </p:txBody>
      </p:sp>
      <p:sp>
        <p:nvSpPr>
          <p:cNvPr id="9" name="Text 6"/>
          <p:cNvSpPr txBox="1"/>
          <p:nvPr/>
        </p:nvSpPr>
        <p:spPr>
          <a:xfrm>
            <a:off x="777240" y="3026664"/>
            <a:ext cx="1645920" cy="502920"/>
          </a:xfrm>
          <a:prstGeom prst="rect">
            <a:avLst/>
          </a:prstGeom>
          <a:noFill/>
          <a:ln/>
        </p:spPr>
        <p:txBody>
          <a:bodyPr wrap="square" lIns="0" tIns="0" rIns="0" bIns="0" rtlCol="0" anchor="t"/>
          <a:lstStyle/>
          <a:p>
            <a:pPr indent="0" marL="0">
              <a:buNone/>
            </a:pPr>
            <a:r>
              <a:rPr lang="en-US" sz="1300" dirty="0">
                <a:solidFill>
                  <a:srgbClr val="CFE0E8"/>
                </a:solidFill>
              </a:rPr>
              <a:t>im Messordner erkannt</a:t>
            </a:r>
            <a:endParaRPr lang="en-US" sz="1300" dirty="0"/>
          </a:p>
        </p:txBody>
      </p:sp>
      <p:sp>
        <p:nvSpPr>
          <p:cNvPr id="10" name="Shape 7"/>
          <p:cNvSpPr/>
          <p:nvPr/>
        </p:nvSpPr>
        <p:spPr>
          <a:xfrm>
            <a:off x="2587752" y="2697480"/>
            <a:ext cx="204140" cy="0"/>
          </a:xfrm>
          <a:prstGeom prst="line">
            <a:avLst/>
          </a:prstGeom>
          <a:noFill/>
          <a:ln w="25400">
            <a:solidFill>
              <a:srgbClr val="9AA5AB"/>
            </a:solidFill>
            <a:prstDash val="solid"/>
            <a:tailEnd type="triangle"/>
          </a:ln>
        </p:spPr>
      </p:sp>
      <p:sp>
        <p:nvSpPr>
          <p:cNvPr id="11" name="Shape 8"/>
          <p:cNvSpPr/>
          <p:nvPr/>
        </p:nvSpPr>
        <p:spPr>
          <a:xfrm>
            <a:off x="2819324" y="1783080"/>
            <a:ext cx="2011680" cy="1828800"/>
          </a:xfrm>
          <a:prstGeom prst="roundRect">
            <a:avLst>
              <a:gd name="adj" fmla="val 4000"/>
            </a:avLst>
          </a:prstGeom>
          <a:solidFill>
            <a:schemeClr val="tx2"/>
          </a:solidFill>
          <a:ln/>
        </p:spPr>
      </p:sp>
      <p:sp>
        <p:nvSpPr>
          <p:cNvPr id="12" name="Shape 9"/>
          <p:cNvSpPr/>
          <p:nvPr/>
        </p:nvSpPr>
        <p:spPr>
          <a:xfrm>
            <a:off x="3047924" y="2011680"/>
            <a:ext cx="548640" cy="548640"/>
          </a:xfrm>
          <a:prstGeom prst="ellipse">
            <a:avLst/>
          </a:prstGeom>
          <a:solidFill>
            <a:srgbClr val="24607A"/>
          </a:solidFill>
          <a:ln/>
        </p:spPr>
      </p:sp>
      <p:pic>
        <p:nvPicPr>
          <p:cNvPr id="13" name="Image 1" descr="Symbol">    </p:cNvPr>
          <p:cNvPicPr>
            <a:picLocks noChangeAspect="1"/>
          </p:cNvPicPr>
          <p:nvPr/>
        </p:nvPicPr>
        <p:blipFill>
          <a:blip r:embed="rId2"/>
          <a:stretch>
            <a:fillRect/>
          </a:stretch>
        </p:blipFill>
        <p:spPr>
          <a:xfrm>
            <a:off x="3168625" y="2132381"/>
            <a:ext cx="307238" cy="307238"/>
          </a:xfrm>
          <a:prstGeom prst="rect">
            <a:avLst/>
          </a:prstGeom>
        </p:spPr>
      </p:pic>
      <p:sp>
        <p:nvSpPr>
          <p:cNvPr id="14" name="Text 10"/>
          <p:cNvSpPr txBox="1"/>
          <p:nvPr/>
        </p:nvSpPr>
        <p:spPr>
          <a:xfrm>
            <a:off x="3047924" y="2679192"/>
            <a:ext cx="1645920" cy="347472"/>
          </a:xfrm>
          <a:prstGeom prst="rect">
            <a:avLst/>
          </a:prstGeom>
          <a:noFill/>
          <a:ln/>
        </p:spPr>
        <p:txBody>
          <a:bodyPr wrap="square" lIns="0" tIns="0" rIns="0" bIns="0" rtlCol="0" anchor="t"/>
          <a:lstStyle/>
          <a:p>
            <a:pPr indent="0" marL="0">
              <a:buNone/>
            </a:pPr>
            <a:r>
              <a:rPr lang="en-US" sz="1700" b="1" dirty="0">
                <a:solidFill>
                  <a:schemeClr val="bg1"/>
                </a:solidFill>
              </a:rPr>
              <a:t>Probe komplett</a:t>
            </a:r>
            <a:endParaRPr lang="en-US" sz="1700" dirty="0"/>
          </a:p>
        </p:txBody>
      </p:sp>
      <p:sp>
        <p:nvSpPr>
          <p:cNvPr id="15" name="Text 11"/>
          <p:cNvSpPr txBox="1"/>
          <p:nvPr/>
        </p:nvSpPr>
        <p:spPr>
          <a:xfrm>
            <a:off x="3047924" y="3026664"/>
            <a:ext cx="1645920" cy="502920"/>
          </a:xfrm>
          <a:prstGeom prst="rect">
            <a:avLst/>
          </a:prstGeom>
          <a:noFill/>
          <a:ln/>
        </p:spPr>
        <p:txBody>
          <a:bodyPr wrap="square" lIns="0" tIns="0" rIns="0" bIns="0" rtlCol="0" anchor="t"/>
          <a:lstStyle/>
          <a:p>
            <a:pPr indent="0" marL="0">
              <a:buNone/>
            </a:pPr>
            <a:r>
              <a:rPr lang="en-US" sz="1300" dirty="0">
                <a:solidFill>
                  <a:srgbClr val="CFE0E8"/>
                </a:solidFill>
              </a:rPr>
              <a:t>A, B und Blanks vorhanden</a:t>
            </a:r>
            <a:endParaRPr lang="en-US" sz="1300" dirty="0"/>
          </a:p>
        </p:txBody>
      </p:sp>
      <p:sp>
        <p:nvSpPr>
          <p:cNvPr id="16" name="Shape 12"/>
          <p:cNvSpPr/>
          <p:nvPr/>
        </p:nvSpPr>
        <p:spPr>
          <a:xfrm>
            <a:off x="4858436" y="2697480"/>
            <a:ext cx="204140" cy="0"/>
          </a:xfrm>
          <a:prstGeom prst="line">
            <a:avLst/>
          </a:prstGeom>
          <a:noFill/>
          <a:ln w="25400">
            <a:solidFill>
              <a:srgbClr val="9AA5AB"/>
            </a:solidFill>
            <a:prstDash val="solid"/>
            <a:tailEnd type="triangle"/>
          </a:ln>
        </p:spPr>
      </p:sp>
      <p:sp>
        <p:nvSpPr>
          <p:cNvPr id="17" name="Shape 13"/>
          <p:cNvSpPr/>
          <p:nvPr/>
        </p:nvSpPr>
        <p:spPr>
          <a:xfrm>
            <a:off x="5090008" y="1783080"/>
            <a:ext cx="2011680" cy="1828800"/>
          </a:xfrm>
          <a:prstGeom prst="roundRect">
            <a:avLst>
              <a:gd name="adj" fmla="val 4000"/>
            </a:avLst>
          </a:prstGeom>
          <a:solidFill>
            <a:schemeClr val="tx2"/>
          </a:solidFill>
          <a:ln/>
        </p:spPr>
      </p:sp>
      <p:sp>
        <p:nvSpPr>
          <p:cNvPr id="18" name="Shape 14"/>
          <p:cNvSpPr/>
          <p:nvPr/>
        </p:nvSpPr>
        <p:spPr>
          <a:xfrm>
            <a:off x="5318608" y="2011680"/>
            <a:ext cx="548640" cy="548640"/>
          </a:xfrm>
          <a:prstGeom prst="ellipse">
            <a:avLst/>
          </a:prstGeom>
          <a:solidFill>
            <a:srgbClr val="24607A"/>
          </a:solidFill>
          <a:ln/>
        </p:spPr>
      </p:sp>
      <p:pic>
        <p:nvPicPr>
          <p:cNvPr id="19" name="Image 2" descr="Symbol">    </p:cNvPr>
          <p:cNvPicPr>
            <a:picLocks noChangeAspect="1"/>
          </p:cNvPicPr>
          <p:nvPr/>
        </p:nvPicPr>
        <p:blipFill>
          <a:blip r:embed="rId3"/>
          <a:stretch>
            <a:fillRect/>
          </a:stretch>
        </p:blipFill>
        <p:spPr>
          <a:xfrm>
            <a:off x="5439308" y="2132381"/>
            <a:ext cx="307238" cy="307238"/>
          </a:xfrm>
          <a:prstGeom prst="rect">
            <a:avLst/>
          </a:prstGeom>
        </p:spPr>
      </p:pic>
      <p:sp>
        <p:nvSpPr>
          <p:cNvPr id="20" name="Text 15"/>
          <p:cNvSpPr txBox="1"/>
          <p:nvPr/>
        </p:nvSpPr>
        <p:spPr>
          <a:xfrm>
            <a:off x="5318608" y="2679192"/>
            <a:ext cx="1645920" cy="347472"/>
          </a:xfrm>
          <a:prstGeom prst="rect">
            <a:avLst/>
          </a:prstGeom>
          <a:noFill/>
          <a:ln/>
        </p:spPr>
        <p:txBody>
          <a:bodyPr wrap="square" lIns="0" tIns="0" rIns="0" bIns="0" rtlCol="0" anchor="t"/>
          <a:lstStyle/>
          <a:p>
            <a:pPr indent="0" marL="0">
              <a:buNone/>
            </a:pPr>
            <a:r>
              <a:rPr lang="en-US" sz="1700" b="1" dirty="0">
                <a:solidFill>
                  <a:schemeClr val="bg1"/>
                </a:solidFill>
              </a:rPr>
              <a:t>Auswertung</a:t>
            </a:r>
            <a:endParaRPr lang="en-US" sz="1700" dirty="0"/>
          </a:p>
        </p:txBody>
      </p:sp>
      <p:sp>
        <p:nvSpPr>
          <p:cNvPr id="21" name="Text 16"/>
          <p:cNvSpPr txBox="1"/>
          <p:nvPr/>
        </p:nvSpPr>
        <p:spPr>
          <a:xfrm>
            <a:off x="5318608" y="3026664"/>
            <a:ext cx="1645920" cy="502920"/>
          </a:xfrm>
          <a:prstGeom prst="rect">
            <a:avLst/>
          </a:prstGeom>
          <a:noFill/>
          <a:ln/>
        </p:spPr>
        <p:txBody>
          <a:bodyPr wrap="square" lIns="0" tIns="0" rIns="0" bIns="0" rtlCol="0" anchor="t"/>
          <a:lstStyle/>
          <a:p>
            <a:pPr indent="0" marL="0">
              <a:buNone/>
            </a:pPr>
            <a:r>
              <a:rPr lang="en-US" sz="1300" dirty="0">
                <a:solidFill>
                  <a:srgbClr val="CFE0E8"/>
                </a:solidFill>
              </a:rPr>
              <a:t>mit der hinterlegten Methode</a:t>
            </a:r>
            <a:endParaRPr lang="en-US" sz="1300" dirty="0"/>
          </a:p>
        </p:txBody>
      </p:sp>
      <p:sp>
        <p:nvSpPr>
          <p:cNvPr id="22" name="Shape 17"/>
          <p:cNvSpPr/>
          <p:nvPr/>
        </p:nvSpPr>
        <p:spPr>
          <a:xfrm>
            <a:off x="7129120" y="2697480"/>
            <a:ext cx="204140" cy="0"/>
          </a:xfrm>
          <a:prstGeom prst="line">
            <a:avLst/>
          </a:prstGeom>
          <a:noFill/>
          <a:ln w="25400">
            <a:solidFill>
              <a:srgbClr val="9AA5AB"/>
            </a:solidFill>
            <a:prstDash val="solid"/>
            <a:tailEnd type="triangle"/>
          </a:ln>
        </p:spPr>
      </p:sp>
      <p:sp>
        <p:nvSpPr>
          <p:cNvPr id="23" name="Shape 18"/>
          <p:cNvSpPr/>
          <p:nvPr/>
        </p:nvSpPr>
        <p:spPr>
          <a:xfrm>
            <a:off x="7360691" y="1783080"/>
            <a:ext cx="2011680" cy="1828800"/>
          </a:xfrm>
          <a:prstGeom prst="roundRect">
            <a:avLst>
              <a:gd name="adj" fmla="val 4000"/>
            </a:avLst>
          </a:prstGeom>
          <a:solidFill>
            <a:schemeClr val="tx2"/>
          </a:solidFill>
          <a:ln/>
        </p:spPr>
      </p:sp>
      <p:sp>
        <p:nvSpPr>
          <p:cNvPr id="24" name="Shape 19"/>
          <p:cNvSpPr/>
          <p:nvPr/>
        </p:nvSpPr>
        <p:spPr>
          <a:xfrm>
            <a:off x="7589291" y="2011680"/>
            <a:ext cx="548640" cy="548640"/>
          </a:xfrm>
          <a:prstGeom prst="ellipse">
            <a:avLst/>
          </a:prstGeom>
          <a:solidFill>
            <a:srgbClr val="24607A"/>
          </a:solidFill>
          <a:ln/>
        </p:spPr>
      </p:sp>
      <p:pic>
        <p:nvPicPr>
          <p:cNvPr id="25" name="Image 3" descr="Symbol">    </p:cNvPr>
          <p:cNvPicPr>
            <a:picLocks noChangeAspect="1"/>
          </p:cNvPicPr>
          <p:nvPr/>
        </p:nvPicPr>
        <p:blipFill>
          <a:blip r:embed="rId4"/>
          <a:stretch>
            <a:fillRect/>
          </a:stretch>
        </p:blipFill>
        <p:spPr>
          <a:xfrm>
            <a:off x="7709992" y="2132381"/>
            <a:ext cx="307238" cy="307238"/>
          </a:xfrm>
          <a:prstGeom prst="rect">
            <a:avLst/>
          </a:prstGeom>
        </p:spPr>
      </p:pic>
      <p:sp>
        <p:nvSpPr>
          <p:cNvPr id="26" name="Text 20"/>
          <p:cNvSpPr txBox="1"/>
          <p:nvPr/>
        </p:nvSpPr>
        <p:spPr>
          <a:xfrm>
            <a:off x="7589291" y="2679192"/>
            <a:ext cx="1645920" cy="347472"/>
          </a:xfrm>
          <a:prstGeom prst="rect">
            <a:avLst/>
          </a:prstGeom>
          <a:noFill/>
          <a:ln/>
        </p:spPr>
        <p:txBody>
          <a:bodyPr wrap="square" lIns="0" tIns="0" rIns="0" bIns="0" rtlCol="0" anchor="t"/>
          <a:lstStyle/>
          <a:p>
            <a:pPr indent="0" marL="0">
              <a:buNone/>
            </a:pPr>
            <a:r>
              <a:rPr lang="en-US" sz="1700" b="1" dirty="0">
                <a:solidFill>
                  <a:schemeClr val="bg1"/>
                </a:solidFill>
              </a:rPr>
              <a:t>Prüfung</a:t>
            </a:r>
            <a:endParaRPr lang="en-US" sz="1700" dirty="0"/>
          </a:p>
        </p:txBody>
      </p:sp>
      <p:sp>
        <p:nvSpPr>
          <p:cNvPr id="27" name="Text 21"/>
          <p:cNvSpPr txBox="1"/>
          <p:nvPr/>
        </p:nvSpPr>
        <p:spPr>
          <a:xfrm>
            <a:off x="7589291" y="3026664"/>
            <a:ext cx="1645920" cy="502920"/>
          </a:xfrm>
          <a:prstGeom prst="rect">
            <a:avLst/>
          </a:prstGeom>
          <a:noFill/>
          <a:ln/>
        </p:spPr>
        <p:txBody>
          <a:bodyPr wrap="square" lIns="0" tIns="0" rIns="0" bIns="0" rtlCol="0" anchor="t"/>
          <a:lstStyle/>
          <a:p>
            <a:pPr indent="0" marL="0">
              <a:buNone/>
            </a:pPr>
            <a:r>
              <a:rPr lang="en-US" sz="1300" dirty="0">
                <a:solidFill>
                  <a:srgbClr val="CFE0E8"/>
                </a:solidFill>
              </a:rPr>
              <a:t>durch Regeln und den Analytiker</a:t>
            </a:r>
            <a:endParaRPr lang="en-US" sz="1300" dirty="0"/>
          </a:p>
        </p:txBody>
      </p:sp>
      <p:sp>
        <p:nvSpPr>
          <p:cNvPr id="28" name="Shape 22"/>
          <p:cNvSpPr/>
          <p:nvPr/>
        </p:nvSpPr>
        <p:spPr>
          <a:xfrm>
            <a:off x="9399803" y="2697480"/>
            <a:ext cx="204140" cy="0"/>
          </a:xfrm>
          <a:prstGeom prst="line">
            <a:avLst/>
          </a:prstGeom>
          <a:noFill/>
          <a:ln w="25400">
            <a:solidFill>
              <a:srgbClr val="9AA5AB"/>
            </a:solidFill>
            <a:prstDash val="solid"/>
            <a:tailEnd type="triangle"/>
          </a:ln>
        </p:spPr>
      </p:sp>
      <p:sp>
        <p:nvSpPr>
          <p:cNvPr id="29" name="Shape 23"/>
          <p:cNvSpPr/>
          <p:nvPr/>
        </p:nvSpPr>
        <p:spPr>
          <a:xfrm>
            <a:off x="9631375" y="1783080"/>
            <a:ext cx="2011680" cy="1828800"/>
          </a:xfrm>
          <a:prstGeom prst="roundRect">
            <a:avLst>
              <a:gd name="adj" fmla="val 4000"/>
            </a:avLst>
          </a:prstGeom>
          <a:solidFill>
            <a:schemeClr val="accent2"/>
          </a:solidFill>
          <a:ln/>
        </p:spPr>
      </p:sp>
      <p:sp>
        <p:nvSpPr>
          <p:cNvPr id="30" name="Shape 24"/>
          <p:cNvSpPr/>
          <p:nvPr/>
        </p:nvSpPr>
        <p:spPr>
          <a:xfrm>
            <a:off x="9859975" y="2011680"/>
            <a:ext cx="548640" cy="548640"/>
          </a:xfrm>
          <a:prstGeom prst="ellipse">
            <a:avLst/>
          </a:prstGeom>
          <a:solidFill>
            <a:srgbClr val="B04E00"/>
          </a:solidFill>
          <a:ln/>
        </p:spPr>
      </p:sp>
      <p:pic>
        <p:nvPicPr>
          <p:cNvPr id="31" name="Image 4" descr="Symbol">    </p:cNvPr>
          <p:cNvPicPr>
            <a:picLocks noChangeAspect="1"/>
          </p:cNvPicPr>
          <p:nvPr/>
        </p:nvPicPr>
        <p:blipFill>
          <a:blip r:embed="rId5"/>
          <a:stretch>
            <a:fillRect/>
          </a:stretch>
        </p:blipFill>
        <p:spPr>
          <a:xfrm>
            <a:off x="9980676" y="2132381"/>
            <a:ext cx="307238" cy="307238"/>
          </a:xfrm>
          <a:prstGeom prst="rect">
            <a:avLst/>
          </a:prstGeom>
        </p:spPr>
      </p:pic>
      <p:sp>
        <p:nvSpPr>
          <p:cNvPr id="32" name="Text 25"/>
          <p:cNvSpPr txBox="1"/>
          <p:nvPr/>
        </p:nvSpPr>
        <p:spPr>
          <a:xfrm>
            <a:off x="9859975" y="2679192"/>
            <a:ext cx="1645920" cy="347472"/>
          </a:xfrm>
          <a:prstGeom prst="rect">
            <a:avLst/>
          </a:prstGeom>
          <a:noFill/>
          <a:ln/>
        </p:spPr>
        <p:txBody>
          <a:bodyPr wrap="square" lIns="0" tIns="0" rIns="0" bIns="0" rtlCol="0" anchor="t"/>
          <a:lstStyle/>
          <a:p>
            <a:pPr indent="0" marL="0">
              <a:buNone/>
            </a:pPr>
            <a:r>
              <a:rPr lang="en-US" sz="1700" b="1" dirty="0">
                <a:solidFill>
                  <a:schemeClr val="bg1"/>
                </a:solidFill>
              </a:rPr>
              <a:t>Auslieferung</a:t>
            </a:r>
            <a:endParaRPr lang="en-US" sz="1700" dirty="0"/>
          </a:p>
        </p:txBody>
      </p:sp>
      <p:sp>
        <p:nvSpPr>
          <p:cNvPr id="33" name="Text 26"/>
          <p:cNvSpPr txBox="1"/>
          <p:nvPr/>
        </p:nvSpPr>
        <p:spPr>
          <a:xfrm>
            <a:off x="9859975" y="3026664"/>
            <a:ext cx="1645920" cy="502920"/>
          </a:xfrm>
          <a:prstGeom prst="rect">
            <a:avLst/>
          </a:prstGeom>
          <a:noFill/>
          <a:ln/>
        </p:spPr>
        <p:txBody>
          <a:bodyPr wrap="square" lIns="0" tIns="0" rIns="0" bIns="0" rtlCol="0" anchor="t"/>
          <a:lstStyle/>
          <a:p>
            <a:pPr indent="0" marL="0">
              <a:buNone/>
            </a:pPr>
            <a:r>
              <a:rPr lang="en-US" sz="1300" dirty="0">
                <a:solidFill>
                  <a:srgbClr val="FFE9DA"/>
                </a:solidFill>
              </a:rPr>
              <a:t>Excel, Word, PDF im Zielordner</a:t>
            </a:r>
            <a:endParaRPr lang="en-US" sz="1300" dirty="0"/>
          </a:p>
        </p:txBody>
      </p:sp>
      <p:pic>
        <p:nvPicPr>
          <p:cNvPr id="34" name="Image 5" descr="Workflow-Editor">    </p:cNvPr>
          <p:cNvPicPr>
            <a:picLocks noChangeAspect="1"/>
          </p:cNvPicPr>
          <p:nvPr/>
        </p:nvPicPr>
        <p:blipFill>
          <a:blip r:embed="rId6"/>
          <a:stretch>
            <a:fillRect/>
          </a:stretch>
        </p:blipFill>
        <p:spPr>
          <a:xfrm>
            <a:off x="548640" y="3977639"/>
            <a:ext cx="7589520" cy="1603592"/>
          </a:xfrm>
          <a:prstGeom prst="rect">
            <a:avLst/>
          </a:prstGeom>
          <a:effectLst>
            <a:outerShdw sx="100000" sy="100000" kx="0" ky="0" algn="bl" rotWithShape="0" blurRad="76200" dist="25400" dir="5400000">
              <a:srgbClr val="000000">
                <a:alpha val="18000"/>
              </a:srgbClr>
            </a:outerShdw>
          </a:effectLst>
        </p:spPr>
      </p:pic>
      <p:sp>
        <p:nvSpPr>
          <p:cNvPr id="35" name="Shape 27"/>
          <p:cNvSpPr/>
          <p:nvPr/>
        </p:nvSpPr>
        <p:spPr>
          <a:xfrm>
            <a:off x="548640" y="3977639"/>
            <a:ext cx="7589520" cy="1603592"/>
          </a:xfrm>
          <a:prstGeom prst="rect">
            <a:avLst/>
          </a:prstGeom>
          <a:ln w="9525">
            <a:solidFill>
              <a:srgbClr val="D3DDE2"/>
            </a:solidFill>
            <a:prstDash val="solid"/>
          </a:ln>
        </p:spPr>
      </p:sp>
      <p:sp>
        <p:nvSpPr>
          <p:cNvPr id="36" name="Text 28"/>
          <p:cNvSpPr txBox="1"/>
          <p:nvPr/>
        </p:nvSpPr>
        <p:spPr>
          <a:xfrm>
            <a:off x="548640" y="5654384"/>
            <a:ext cx="7589520" cy="292608"/>
          </a:xfrm>
          <a:prstGeom prst="rect">
            <a:avLst/>
          </a:prstGeom>
          <a:noFill/>
          <a:ln/>
        </p:spPr>
        <p:txBody>
          <a:bodyPr wrap="square" lIns="0" tIns="0" rIns="0" bIns="0" rtlCol="0" anchor="t"/>
          <a:lstStyle/>
          <a:p>
            <a:pPr indent="0" marL="0">
              <a:buNone/>
            </a:pPr>
            <a:r>
              <a:rPr lang="en-US" sz="1200" i="1" dirty="0">
                <a:solidFill>
                  <a:srgbClr val="5B6B73"/>
                </a:solidFill>
              </a:rPr>
              <a:t>Workflow „NIAS“: nur vom Analytiker akzeptierte Reports gehen in den Zielordner</a:t>
            </a:r>
            <a:endParaRPr lang="en-US" sz="1200" dirty="0"/>
          </a:p>
        </p:txBody>
      </p:sp>
      <p:sp>
        <p:nvSpPr>
          <p:cNvPr id="37" name="Shape 29"/>
          <p:cNvSpPr/>
          <p:nvPr/>
        </p:nvSpPr>
        <p:spPr>
          <a:xfrm>
            <a:off x="8503920" y="3977639"/>
            <a:ext cx="3136392" cy="1874519"/>
          </a:xfrm>
          <a:prstGeom prst="roundRect">
            <a:avLst>
              <a:gd name="adj" fmla="val 4562"/>
            </a:avLst>
          </a:prstGeom>
          <a:solidFill>
            <a:schemeClr val="bg2"/>
          </a:solidFill>
          <a:ln/>
        </p:spPr>
      </p:sp>
      <p:sp>
        <p:nvSpPr>
          <p:cNvPr id="38" name="Shape 30"/>
          <p:cNvSpPr/>
          <p:nvPr/>
        </p:nvSpPr>
        <p:spPr>
          <a:xfrm>
            <a:off x="8732520" y="4160520"/>
            <a:ext cx="457200" cy="457200"/>
          </a:xfrm>
          <a:prstGeom prst="ellipse">
            <a:avLst/>
          </a:prstGeom>
          <a:solidFill>
            <a:schemeClr val="accent1"/>
          </a:solidFill>
          <a:ln/>
        </p:spPr>
      </p:sp>
      <p:pic>
        <p:nvPicPr>
          <p:cNvPr id="39" name="Image 6" descr="Symbol">    </p:cNvPr>
          <p:cNvPicPr>
            <a:picLocks noChangeAspect="1"/>
          </p:cNvPicPr>
          <p:nvPr/>
        </p:nvPicPr>
        <p:blipFill>
          <a:blip r:embed="rId7"/>
          <a:stretch>
            <a:fillRect/>
          </a:stretch>
        </p:blipFill>
        <p:spPr>
          <a:xfrm>
            <a:off x="8833104" y="4261104"/>
            <a:ext cx="256032" cy="256032"/>
          </a:xfrm>
          <a:prstGeom prst="rect">
            <a:avLst/>
          </a:prstGeom>
        </p:spPr>
      </p:pic>
      <p:sp>
        <p:nvSpPr>
          <p:cNvPr id="40" name="Text 31"/>
          <p:cNvSpPr txBox="1"/>
          <p:nvPr/>
        </p:nvSpPr>
        <p:spPr>
          <a:xfrm>
            <a:off x="9372600" y="4224528"/>
            <a:ext cx="2103120" cy="365760"/>
          </a:xfrm>
          <a:prstGeom prst="rect">
            <a:avLst/>
          </a:prstGeom>
          <a:noFill/>
          <a:ln/>
        </p:spPr>
        <p:txBody>
          <a:bodyPr wrap="square" lIns="0" tIns="0" rIns="0" bIns="0" rtlCol="0" anchor="t"/>
          <a:lstStyle/>
          <a:p>
            <a:pPr indent="0" marL="0">
              <a:buNone/>
            </a:pPr>
            <a:r>
              <a:rPr lang="en-US" sz="1700" dirty="0" b="1">
                <a:solidFill>
                  <a:schemeClr val="tx1"/>
                </a:solidFill>
              </a:rPr>
              <a:t>Ganze Batches</a:t>
            </a:r>
            <a:endParaRPr lang="en-US" sz="1500" dirty="0"/>
          </a:p>
        </p:txBody>
      </p:sp>
      <p:sp>
        <p:nvSpPr>
          <p:cNvPr id="41" name="Text 31"/>
          <p:cNvSpPr txBox="1"/>
          <p:nvPr/>
        </p:nvSpPr>
        <p:spPr>
          <a:xfrm>
            <a:off x="8732520" y="4773168"/>
            <a:ext cx="2724912" cy="960120"/>
          </a:xfrm>
          <a:prstGeom prst="rect">
            <a:avLst/>
          </a:prstGeom>
          <a:noFill/>
          <a:ln/>
        </p:spPr>
        <p:txBody>
          <a:bodyPr wrap="square" lIns="0" tIns="0" rIns="0" bIns="0" rtlCol="0" anchor="t"/>
          <a:lstStyle/>
          <a:p>
            <a:pPr indent="0" marL="0">
              <a:buNone/>
            </a:pPr>
            <a:r>
              <a:rPr lang="en-US" sz="1400" dirty="0">
                <a:solidFill>
                  <a:schemeClr val="tx1"/>
                </a:solidFill>
              </a:rPr>
              <a:t>Alle Proben eines Batches am Stück: Report je Probe, dazu Batch-Report (Word/PDF) und Excel-Übersicht.</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51206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0-KLICK-REPORTING · REPORT²</a:t>
            </a:r>
            <a:endParaRPr lang="en-US" sz="1200" dirty="0"/>
          </a:p>
        </p:txBody>
      </p:sp>
      <p:sp>
        <p:nvSpPr>
          <p:cNvPr id="3" name="Text 0"/>
          <p:cNvSpPr/>
          <p:nvPr>
            <p:ph idx="101" type="title" hasCustomPrompt="1"/>
          </p:nvPr>
        </p:nvSpPr>
        <p:spPr>
          <a:xfrm>
            <a:off x="548640" y="676656"/>
            <a:ext cx="11094415" cy="914400"/>
          </a:xfrm>
          <a:prstGeom prst="rect">
            <a:avLst/>
          </a:prstGeom>
          <a:noFill/>
          <a:ln/>
        </p:spPr>
        <p:txBody>
          <a:bodyPr wrap="square" lIns="0" tIns="0" rIns="0" bIns="0" rtlCol="0" anchor="t"/>
          <a:lstStyle/>
          <a:p>
            <a:pPr algn="l" indent="0" marL="0">
              <a:buNone/>
            </a:pPr>
            <a:r>
              <a:rPr lang="en-US" sz="2800" dirty="0">
                <a:solidFill>
                  <a:schemeClr val="tx1"/>
                </a:solidFill>
                <a:latin typeface="Segoe UI Semibold" pitchFamily="34" charset="0"/>
                <a:ea typeface="Segoe UI Semibold" pitchFamily="34" charset="-122"/>
                <a:cs typeface="Segoe UI Semibold" pitchFamily="34" charset="-120"/>
              </a:rPr>
              <a:t>Jeder Report wird vom Analytiker geprüft und akzeptiert</a:t>
            </a:r>
            <a:endParaRPr lang="en-US" sz="2800" dirty="0"/>
          </a:p>
        </p:txBody>
      </p:sp>
      <p:sp>
        <p:nvSpPr>
          <p:cNvPr id="4" name="Text 2"/>
          <p:cNvSpPr txBox="1"/>
          <p:nvPr/>
        </p:nvSpPr>
        <p:spPr>
          <a:xfrm>
            <a:off x="5669280" y="347472"/>
            <a:ext cx="5971032" cy="292608"/>
          </a:xfrm>
          <a:prstGeom prst="rect">
            <a:avLst/>
          </a:prstGeom>
          <a:noFill/>
          <a:ln/>
        </p:spPr>
        <p:txBody>
          <a:bodyPr wrap="square" lIns="0" tIns="0" rIns="0" bIns="0" rtlCol="0" anchor="ctr"/>
          <a:lstStyle/>
          <a:p>
            <a:pPr algn="r" indent="0" marL="0">
              <a:buNone/>
            </a:pPr>
            <a:r>
              <a:rPr lang="en-US" sz="1100" dirty="0">
                <a:solidFill>
                  <a:srgbClr val="A7B3B9"/>
                </a:solidFill>
              </a:rPr>
              <a:t>Daten</a:t>
            </a:r>
            <a:pPr algn="r" indent="0" marL="0">
              <a:buNone/>
            </a:pPr>
            <a:r>
              <a:rPr lang="en-US" sz="1100" dirty="0">
                <a:solidFill>
                  <a:srgbClr val="C9D3D8"/>
                </a:solidFill>
              </a:rPr>
              <a:t>   ·   </a:t>
            </a:r>
            <a:pPr algn="r" indent="0" marL="0">
              <a:buNone/>
            </a:pPr>
            <a:r>
              <a:rPr lang="en-US" sz="1100" dirty="0">
                <a:solidFill>
                  <a:srgbClr val="A7B3B9"/>
                </a:solidFill>
              </a:rPr>
              <a:t>Integration</a:t>
            </a:r>
            <a:pPr algn="r" indent="0" marL="0">
              <a:buNone/>
            </a:pPr>
            <a:r>
              <a:rPr lang="en-US" sz="1100" dirty="0">
                <a:solidFill>
                  <a:srgbClr val="C9D3D8"/>
                </a:solidFill>
              </a:rPr>
              <a:t>   ·   </a:t>
            </a:r>
            <a:pPr algn="r" indent="0" marL="0">
              <a:buNone/>
            </a:pPr>
            <a:r>
              <a:rPr lang="en-US" sz="1100" dirty="0">
                <a:solidFill>
                  <a:srgbClr val="A7B3B9"/>
                </a:solidFill>
              </a:rPr>
              <a:t>Identifizierung</a:t>
            </a:r>
            <a:pPr algn="r" indent="0" marL="0">
              <a:buNone/>
            </a:pPr>
            <a:r>
              <a:rPr lang="en-US" sz="1100" dirty="0">
                <a:solidFill>
                  <a:srgbClr val="C9D3D8"/>
                </a:solidFill>
              </a:rPr>
              <a:t>   ·   </a:t>
            </a:r>
            <a:pPr algn="r" indent="0" marL="0">
              <a:buNone/>
            </a:pPr>
            <a:r>
              <a:rPr lang="en-US" sz="1100" dirty="0">
                <a:solidFill>
                  <a:srgbClr val="A7B3B9"/>
                </a:solidFill>
              </a:rPr>
              <a:t>Doppelbestimmung</a:t>
            </a:r>
            <a:pPr algn="r" indent="0" marL="0">
              <a:buNone/>
            </a:pPr>
            <a:r>
              <a:rPr lang="en-US" sz="1100" dirty="0">
                <a:solidFill>
                  <a:srgbClr val="C9D3D8"/>
                </a:solidFill>
              </a:rPr>
              <a:t>   ·   </a:t>
            </a:r>
            <a:pPr algn="r" indent="0" marL="0">
              <a:buNone/>
            </a:pPr>
            <a:r>
              <a:rPr lang="en-US" sz="1100" b="1" dirty="0">
                <a:solidFill>
                  <a:schemeClr val="accent1"/>
                </a:solidFill>
              </a:rPr>
              <a:t>Reporting</a:t>
            </a:r>
            <a:endParaRPr lang="en-US" sz="1100" dirty="0"/>
          </a:p>
        </p:txBody>
      </p:sp>
      <p:pic>
        <p:nvPicPr>
          <p:cNvPr id="5" name="Image 0" descr="Report²-Panel mit Vorschau">    </p:cNvPr>
          <p:cNvPicPr>
            <a:picLocks noChangeAspect="1"/>
          </p:cNvPicPr>
          <p:nvPr/>
        </p:nvPicPr>
        <p:blipFill>
          <a:blip r:embed="rId1"/>
          <a:stretch>
            <a:fillRect/>
          </a:stretch>
        </p:blipFill>
        <p:spPr>
          <a:xfrm>
            <a:off x="548640" y="1783080"/>
            <a:ext cx="6766560" cy="3362135"/>
          </a:xfrm>
          <a:prstGeom prst="rect">
            <a:avLst/>
          </a:prstGeom>
          <a:effectLst>
            <a:outerShdw sx="100000" sy="100000" kx="0" ky="0" algn="bl" rotWithShape="0" blurRad="76200" dist="25400" dir="5400000">
              <a:srgbClr val="000000">
                <a:alpha val="18000"/>
              </a:srgbClr>
            </a:outerShdw>
          </a:effectLst>
        </p:spPr>
      </p:pic>
      <p:sp>
        <p:nvSpPr>
          <p:cNvPr id="6" name="Shape 3"/>
          <p:cNvSpPr/>
          <p:nvPr/>
        </p:nvSpPr>
        <p:spPr>
          <a:xfrm>
            <a:off x="548640" y="1783080"/>
            <a:ext cx="6766560" cy="3362135"/>
          </a:xfrm>
          <a:prstGeom prst="rect">
            <a:avLst/>
          </a:prstGeom>
          <a:ln w="9525">
            <a:solidFill>
              <a:srgbClr val="D3DDE2"/>
            </a:solidFill>
            <a:prstDash val="solid"/>
          </a:ln>
        </p:spPr>
      </p:sp>
      <p:sp>
        <p:nvSpPr>
          <p:cNvPr id="7" name="Text 4"/>
          <p:cNvSpPr txBox="1"/>
          <p:nvPr/>
        </p:nvSpPr>
        <p:spPr>
          <a:xfrm>
            <a:off x="548640" y="5218367"/>
            <a:ext cx="6766560" cy="292608"/>
          </a:xfrm>
          <a:prstGeom prst="rect">
            <a:avLst/>
          </a:prstGeom>
          <a:noFill/>
          <a:ln/>
        </p:spPr>
        <p:txBody>
          <a:bodyPr wrap="square" lIns="0" tIns="0" rIns="0" bIns="0" rtlCol="0" anchor="t"/>
          <a:lstStyle/>
          <a:p>
            <a:pPr indent="0" marL="0">
              <a:buNone/>
            </a:pPr>
            <a:r>
              <a:rPr lang="en-US" sz="1200" i="1" dirty="0">
                <a:solidFill>
                  <a:srgbClr val="5B6B73"/>
                </a:solidFill>
              </a:rPr>
              <a:t>Report² mit Vorschau: akzeptieren mit einem Klick, ablehnen mit Begründung</a:t>
            </a:r>
            <a:endParaRPr lang="en-US" sz="1200" dirty="0"/>
          </a:p>
        </p:txBody>
      </p:sp>
      <p:sp>
        <p:nvSpPr>
          <p:cNvPr id="8" name="Shape 5"/>
          <p:cNvSpPr/>
          <p:nvPr/>
        </p:nvSpPr>
        <p:spPr>
          <a:xfrm>
            <a:off x="7726680" y="1783080"/>
            <a:ext cx="3916375" cy="1051560"/>
          </a:xfrm>
          <a:prstGeom prst="roundRect">
            <a:avLst>
              <a:gd name="adj" fmla="val 8421"/>
            </a:avLst>
          </a:prstGeom>
          <a:solidFill>
            <a:srgbClr val="E3F2EA"/>
          </a:solidFill>
          <a:ln/>
        </p:spPr>
      </p:sp>
      <p:sp>
        <p:nvSpPr>
          <p:cNvPr id="9" name="Shape 6"/>
          <p:cNvSpPr/>
          <p:nvPr/>
        </p:nvSpPr>
        <p:spPr>
          <a:xfrm>
            <a:off x="7909560" y="2057400"/>
            <a:ext cx="502920" cy="502920"/>
          </a:xfrm>
          <a:prstGeom prst="ellipse">
            <a:avLst/>
          </a:prstGeom>
          <a:solidFill>
            <a:schemeClr val="accent3"/>
          </a:solidFill>
          <a:ln/>
        </p:spPr>
      </p:sp>
      <p:pic>
        <p:nvPicPr>
          <p:cNvPr id="10" name="Image 1" descr="Symbol">    </p:cNvPr>
          <p:cNvPicPr>
            <a:picLocks noChangeAspect="1"/>
          </p:cNvPicPr>
          <p:nvPr/>
        </p:nvPicPr>
        <p:blipFill>
          <a:blip r:embed="rId2"/>
          <a:stretch>
            <a:fillRect/>
          </a:stretch>
        </p:blipFill>
        <p:spPr>
          <a:xfrm>
            <a:off x="8020202" y="2167128"/>
            <a:ext cx="281635" cy="281635"/>
          </a:xfrm>
          <a:prstGeom prst="rect">
            <a:avLst/>
          </a:prstGeom>
        </p:spPr>
      </p:pic>
      <p:sp>
        <p:nvSpPr>
          <p:cNvPr id="11" name="Text 7"/>
          <p:cNvSpPr txBox="1"/>
          <p:nvPr/>
        </p:nvSpPr>
        <p:spPr>
          <a:xfrm>
            <a:off x="8595360" y="1892807"/>
            <a:ext cx="2910535" cy="347472"/>
          </a:xfrm>
          <a:prstGeom prst="rect">
            <a:avLst/>
          </a:prstGeom>
          <a:noFill/>
          <a:ln/>
        </p:spPr>
        <p:txBody>
          <a:bodyPr wrap="square" lIns="0" tIns="0" rIns="0" bIns="0" rtlCol="0" anchor="t"/>
          <a:lstStyle/>
          <a:p>
            <a:pPr indent="0" marL="0">
              <a:buNone/>
            </a:pPr>
            <a:r>
              <a:rPr lang="en-US" sz="1700" b="1" dirty="0">
                <a:solidFill>
                  <a:schemeClr val="accent3"/>
                </a:solidFill>
              </a:rPr>
              <a:t>Ohne Befund</a:t>
            </a:r>
            <a:endParaRPr lang="en-US" sz="1700" dirty="0"/>
          </a:p>
        </p:txBody>
      </p:sp>
      <p:sp>
        <p:nvSpPr>
          <p:cNvPr id="12" name="Text 8"/>
          <p:cNvSpPr txBox="1"/>
          <p:nvPr/>
        </p:nvSpPr>
        <p:spPr>
          <a:xfrm>
            <a:off x="8595360" y="2240280"/>
            <a:ext cx="2910535" cy="502920"/>
          </a:xfrm>
          <a:prstGeom prst="rect">
            <a:avLst/>
          </a:prstGeom>
          <a:noFill/>
          <a:ln/>
        </p:spPr>
        <p:txBody>
          <a:bodyPr wrap="square" lIns="0" tIns="0" rIns="0" bIns="0" rtlCol="0" anchor="t"/>
          <a:lstStyle/>
          <a:p>
            <a:pPr indent="0" marL="0">
              <a:buNone/>
            </a:pPr>
            <a:r>
              <a:rPr lang="en-US" sz="1400" dirty="0">
                <a:solidFill>
                  <a:schemeClr val="tx1"/>
                </a:solidFill>
              </a:rPr>
              <a:t>keine Regel greift – kurz prüfen und akzeptieren</a:t>
            </a:r>
            <a:endParaRPr lang="en-US" sz="1400" dirty="0"/>
          </a:p>
        </p:txBody>
      </p:sp>
      <p:sp>
        <p:nvSpPr>
          <p:cNvPr id="13" name="Shape 9"/>
          <p:cNvSpPr/>
          <p:nvPr/>
        </p:nvSpPr>
        <p:spPr>
          <a:xfrm>
            <a:off x="7726680" y="2971800"/>
            <a:ext cx="3916375" cy="1051560"/>
          </a:xfrm>
          <a:prstGeom prst="roundRect">
            <a:avLst>
              <a:gd name="adj" fmla="val 8421"/>
            </a:avLst>
          </a:prstGeom>
          <a:solidFill>
            <a:srgbClr val="FBE7DA"/>
          </a:solidFill>
          <a:ln/>
        </p:spPr>
      </p:sp>
      <p:sp>
        <p:nvSpPr>
          <p:cNvPr id="14" name="Shape 10"/>
          <p:cNvSpPr/>
          <p:nvPr/>
        </p:nvSpPr>
        <p:spPr>
          <a:xfrm>
            <a:off x="7909560" y="3246120"/>
            <a:ext cx="502920" cy="502920"/>
          </a:xfrm>
          <a:prstGeom prst="ellipse">
            <a:avLst/>
          </a:prstGeom>
          <a:solidFill>
            <a:schemeClr val="accent2"/>
          </a:solidFill>
          <a:ln/>
        </p:spPr>
      </p:sp>
      <p:pic>
        <p:nvPicPr>
          <p:cNvPr id="15" name="Image 2" descr="Symbol">    </p:cNvPr>
          <p:cNvPicPr>
            <a:picLocks noChangeAspect="1"/>
          </p:cNvPicPr>
          <p:nvPr/>
        </p:nvPicPr>
        <p:blipFill>
          <a:blip r:embed="rId3"/>
          <a:stretch>
            <a:fillRect/>
          </a:stretch>
        </p:blipFill>
        <p:spPr>
          <a:xfrm>
            <a:off x="8020202" y="3355848"/>
            <a:ext cx="281635" cy="281635"/>
          </a:xfrm>
          <a:prstGeom prst="rect">
            <a:avLst/>
          </a:prstGeom>
        </p:spPr>
      </p:pic>
      <p:sp>
        <p:nvSpPr>
          <p:cNvPr id="16" name="Text 11"/>
          <p:cNvSpPr txBox="1"/>
          <p:nvPr/>
        </p:nvSpPr>
        <p:spPr>
          <a:xfrm>
            <a:off x="8595360" y="3081528"/>
            <a:ext cx="2910535" cy="347472"/>
          </a:xfrm>
          <a:prstGeom prst="rect">
            <a:avLst/>
          </a:prstGeom>
          <a:noFill/>
          <a:ln/>
        </p:spPr>
        <p:txBody>
          <a:bodyPr wrap="square" lIns="0" tIns="0" rIns="0" bIns="0" rtlCol="0" anchor="t"/>
          <a:lstStyle/>
          <a:p>
            <a:pPr indent="0" marL="0">
              <a:buNone/>
            </a:pPr>
            <a:r>
              <a:rPr lang="en-US" sz="1700" b="1" dirty="0">
                <a:solidFill>
                  <a:schemeClr val="accent2"/>
                </a:solidFill>
              </a:rPr>
              <a:t>Control needed</a:t>
            </a:r>
            <a:endParaRPr lang="en-US" sz="1700" dirty="0"/>
          </a:p>
        </p:txBody>
      </p:sp>
      <p:sp>
        <p:nvSpPr>
          <p:cNvPr id="17" name="Text 12"/>
          <p:cNvSpPr txBox="1"/>
          <p:nvPr/>
        </p:nvSpPr>
        <p:spPr>
          <a:xfrm>
            <a:off x="8595360" y="3429000"/>
            <a:ext cx="2910535" cy="502920"/>
          </a:xfrm>
          <a:prstGeom prst="rect">
            <a:avLst/>
          </a:prstGeom>
          <a:noFill/>
          <a:ln/>
        </p:spPr>
        <p:txBody>
          <a:bodyPr wrap="square" lIns="0" tIns="0" rIns="0" bIns="0" rtlCol="0" anchor="t"/>
          <a:lstStyle/>
          <a:p>
            <a:pPr indent="0" marL="0">
              <a:buNone/>
            </a:pPr>
            <a:r>
              <a:rPr lang="en-US" sz="1400" dirty="0">
                <a:solidFill>
                  <a:schemeClr val="tx1"/>
                </a:solidFill>
              </a:rPr>
              <a:t>eine Regel greift – die Stellen sind markiert</a:t>
            </a:r>
            <a:endParaRPr lang="en-US" sz="1400" dirty="0"/>
          </a:p>
        </p:txBody>
      </p:sp>
      <p:sp>
        <p:nvSpPr>
          <p:cNvPr id="18" name="Text 13"/>
          <p:cNvSpPr txBox="1"/>
          <p:nvPr/>
        </p:nvSpPr>
        <p:spPr>
          <a:xfrm>
            <a:off x="7726680" y="4251960"/>
            <a:ext cx="3916375" cy="274320"/>
          </a:xfrm>
          <a:prstGeom prst="rect">
            <a:avLst/>
          </a:prstGeom>
          <a:noFill/>
          <a:ln/>
        </p:spPr>
        <p:txBody>
          <a:bodyPr wrap="square" lIns="0" tIns="0" rIns="0" bIns="0" rtlCol="0" anchor="t"/>
          <a:lstStyle/>
          <a:p>
            <a:pPr indent="0" marL="0">
              <a:buNone/>
            </a:pPr>
            <a:r>
              <a:rPr lang="en-US" sz="1200" b="1" spc="200" kern="0" dirty="0">
                <a:solidFill>
                  <a:srgbClr val="5B6B73"/>
                </a:solidFill>
              </a:rPr>
              <a:t>TYPISCHE REGELN</a:t>
            </a:r>
            <a:endParaRPr lang="en-US" sz="1200" dirty="0"/>
          </a:p>
        </p:txBody>
      </p:sp>
      <p:sp>
        <p:nvSpPr>
          <p:cNvPr id="19" name="Text 14"/>
          <p:cNvSpPr txBox="1"/>
          <p:nvPr/>
        </p:nvSpPr>
        <p:spPr>
          <a:xfrm>
            <a:off x="7726680" y="4572000"/>
            <a:ext cx="3916375" cy="128016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chemeClr val="tx1"/>
                </a:solidFill>
              </a:rPr>
              <a:t>SML überschritten</a:t>
            </a:r>
            <a:endParaRPr lang="en-US" sz="1500" dirty="0"/>
          </a:p>
          <a:p>
            <a:pPr marL="203200" indent="-203200">
              <a:spcAft>
                <a:spcPts val="400"/>
              </a:spcAft>
              <a:buSzPct val="100000"/>
              <a:buChar char="•"/>
            </a:pPr>
            <a:r>
              <a:rPr lang="en-US" sz="1500" dirty="0">
                <a:solidFill>
                  <a:schemeClr val="tx1"/>
                </a:solidFill>
              </a:rPr>
              <a:t>Standard fehlt oder weicht ab</a:t>
            </a:r>
            <a:endParaRPr lang="en-US" sz="1500" dirty="0"/>
          </a:p>
          <a:p>
            <a:pPr marL="203200" indent="-203200">
              <a:spcAft>
                <a:spcPts val="400"/>
              </a:spcAft>
              <a:buSzPct val="100000"/>
              <a:buChar char="•"/>
            </a:pPr>
            <a:r>
              <a:rPr lang="en-US" sz="1500" dirty="0">
                <a:solidFill>
                  <a:schemeClr val="tx1"/>
                </a:solidFill>
              </a:rPr>
              <a:t>rote Substanzen der Doppelbestimmung</a:t>
            </a:r>
            <a:endParaRPr lang="en-US" sz="1500" dirty="0"/>
          </a:p>
          <a:p>
            <a:pPr marL="203200" indent="-203200">
              <a:spcAft>
                <a:spcPts val="400"/>
              </a:spcAft>
              <a:buSzPct val="100000"/>
              <a:buChar char="•"/>
            </a:pPr>
            <a:r>
              <a:rPr lang="en-US" sz="1500" dirty="0">
                <a:solidFill>
                  <a:schemeClr val="tx1"/>
                </a:solidFill>
              </a:rPr>
              <a:t>kein Blank im Batch</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640080"/>
            <a:ext cx="10881360" cy="1005840"/>
          </a:xfrm>
          <a:prstGeom prst="rect">
            <a:avLst/>
          </a:prstGeom>
          <a:noFill/>
          <a:ln/>
        </p:spPr>
        <p:txBody>
          <a:bodyPr wrap="square" lIns="0" tIns="0" rIns="0" bIns="0" rtlCol="0" anchor="t"/>
          <a:lstStyle/>
          <a:p>
            <a:pPr algn="l" indent="0" marL="0">
              <a:buNone/>
            </a:pPr>
            <a:r>
              <a:rPr lang="en-US" sz="3000" dirty="0">
                <a:solidFill>
                  <a:schemeClr val="bg1"/>
                </a:solidFill>
                <a:latin typeface="Segoe UI Semibold" pitchFamily="34" charset="0"/>
                <a:ea typeface="Segoe UI Semibold" pitchFamily="34" charset="-122"/>
                <a:cs typeface="Segoe UI Semibold" pitchFamily="34" charset="-120"/>
              </a:rPr>
              <a:t>Fazit</a:t>
            </a:r>
            <a:endParaRPr lang="en-US" sz="3000" dirty="0"/>
          </a:p>
        </p:txBody>
      </p:sp>
      <p:sp>
        <p:nvSpPr>
          <p:cNvPr id="3" name="Shape 1"/>
          <p:cNvSpPr/>
          <p:nvPr/>
        </p:nvSpPr>
        <p:spPr>
          <a:xfrm>
            <a:off x="640080" y="1554480"/>
            <a:ext cx="5317236" cy="1691640"/>
          </a:xfrm>
          <a:prstGeom prst="roundRect">
            <a:avLst>
              <a:gd name="adj" fmla="val 4324"/>
            </a:avLst>
          </a:prstGeom>
          <a:solidFill>
            <a:srgbClr val="18303D"/>
          </a:solidFill>
          <a:ln/>
        </p:spPr>
      </p:sp>
      <p:sp>
        <p:nvSpPr>
          <p:cNvPr id="4" name="Shape 2"/>
          <p:cNvSpPr/>
          <p:nvPr/>
        </p:nvSpPr>
        <p:spPr>
          <a:xfrm>
            <a:off x="960120" y="1874520"/>
            <a:ext cx="640080" cy="640080"/>
          </a:xfrm>
          <a:prstGeom prst="ellipse">
            <a:avLst/>
          </a:prstGeom>
          <a:solidFill>
            <a:srgbClr val="24485A"/>
          </a:solidFill>
          <a:ln/>
        </p:spPr>
      </p:sp>
      <p:pic>
        <p:nvPicPr>
          <p:cNvPr id="5" name="Image 0" descr="Symbol">    </p:cNvPr>
          <p:cNvPicPr>
            <a:picLocks noChangeAspect="1"/>
          </p:cNvPicPr>
          <p:nvPr/>
        </p:nvPicPr>
        <p:blipFill>
          <a:blip r:embed="rId1"/>
          <a:stretch>
            <a:fillRect/>
          </a:stretch>
        </p:blipFill>
        <p:spPr>
          <a:xfrm>
            <a:off x="1100938" y="2015338"/>
            <a:ext cx="358445" cy="358445"/>
          </a:xfrm>
          <a:prstGeom prst="rect">
            <a:avLst/>
          </a:prstGeom>
        </p:spPr>
      </p:pic>
      <p:sp>
        <p:nvSpPr>
          <p:cNvPr id="6" name="Text 3"/>
          <p:cNvSpPr txBox="1"/>
          <p:nvPr/>
        </p:nvSpPr>
        <p:spPr>
          <a:xfrm>
            <a:off x="1828800" y="1828800"/>
            <a:ext cx="3899916" cy="384048"/>
          </a:xfrm>
          <a:prstGeom prst="rect">
            <a:avLst/>
          </a:prstGeom>
          <a:noFill/>
          <a:ln/>
        </p:spPr>
        <p:txBody>
          <a:bodyPr wrap="square" lIns="0" tIns="0" rIns="0" bIns="0" rtlCol="0" anchor="t"/>
          <a:lstStyle/>
          <a:p>
            <a:pPr indent="0" marL="0">
              <a:buNone/>
            </a:pPr>
            <a:r>
              <a:rPr lang="en-US" sz="2000" b="1" dirty="0">
                <a:solidFill>
                  <a:schemeClr val="bg1"/>
                </a:solidFill>
              </a:rPr>
              <a:t>Effizienter</a:t>
            </a:r>
            <a:endParaRPr lang="en-US" sz="2000" dirty="0"/>
          </a:p>
        </p:txBody>
      </p:sp>
      <p:sp>
        <p:nvSpPr>
          <p:cNvPr id="7" name="Text 4"/>
          <p:cNvSpPr txBox="1"/>
          <p:nvPr/>
        </p:nvSpPr>
        <p:spPr>
          <a:xfrm>
            <a:off x="1828800" y="2267712"/>
            <a:ext cx="3899916" cy="822960"/>
          </a:xfrm>
          <a:prstGeom prst="rect">
            <a:avLst/>
          </a:prstGeom>
          <a:noFill/>
          <a:ln/>
        </p:spPr>
        <p:txBody>
          <a:bodyPr wrap="square" lIns="0" tIns="0" rIns="0" bIns="0" rtlCol="0" anchor="t"/>
          <a:lstStyle/>
          <a:p>
            <a:pPr indent="0" marL="0">
              <a:buNone/>
            </a:pPr>
            <a:r>
              <a:rPr lang="en-US" sz="1500" dirty="0">
                <a:solidFill>
                  <a:srgbClr val="B9C8CF"/>
                </a:solidFill>
              </a:rPr>
              <a:t>Standardisierte Auswertung mit hinterlegter Methode – vom Rohsignal bis zum Report in deutlich kürzerer Zeit.</a:t>
            </a:r>
            <a:endParaRPr lang="en-US" sz="1500" dirty="0"/>
          </a:p>
        </p:txBody>
      </p:sp>
      <p:sp>
        <p:nvSpPr>
          <p:cNvPr id="8" name="Shape 5"/>
          <p:cNvSpPr/>
          <p:nvPr/>
        </p:nvSpPr>
        <p:spPr>
          <a:xfrm>
            <a:off x="6231636" y="1554480"/>
            <a:ext cx="5317236" cy="1691640"/>
          </a:xfrm>
          <a:prstGeom prst="roundRect">
            <a:avLst>
              <a:gd name="adj" fmla="val 4324"/>
            </a:avLst>
          </a:prstGeom>
          <a:solidFill>
            <a:srgbClr val="18303D"/>
          </a:solidFill>
          <a:ln/>
        </p:spPr>
      </p:sp>
      <p:sp>
        <p:nvSpPr>
          <p:cNvPr id="9" name="Shape 6"/>
          <p:cNvSpPr/>
          <p:nvPr/>
        </p:nvSpPr>
        <p:spPr>
          <a:xfrm>
            <a:off x="6551676" y="1874520"/>
            <a:ext cx="640080" cy="640080"/>
          </a:xfrm>
          <a:prstGeom prst="ellipse">
            <a:avLst/>
          </a:prstGeom>
          <a:solidFill>
            <a:srgbClr val="24485A"/>
          </a:solidFill>
          <a:ln/>
        </p:spPr>
      </p:sp>
      <p:pic>
        <p:nvPicPr>
          <p:cNvPr id="10" name="Image 1" descr="Symbol">    </p:cNvPr>
          <p:cNvPicPr>
            <a:picLocks noChangeAspect="1"/>
          </p:cNvPicPr>
          <p:nvPr/>
        </p:nvPicPr>
        <p:blipFill>
          <a:blip r:embed="rId2"/>
          <a:stretch>
            <a:fillRect/>
          </a:stretch>
        </p:blipFill>
        <p:spPr>
          <a:xfrm>
            <a:off x="6692494" y="2015338"/>
            <a:ext cx="358445" cy="358445"/>
          </a:xfrm>
          <a:prstGeom prst="rect">
            <a:avLst/>
          </a:prstGeom>
        </p:spPr>
      </p:pic>
      <p:sp>
        <p:nvSpPr>
          <p:cNvPr id="11" name="Text 7"/>
          <p:cNvSpPr txBox="1"/>
          <p:nvPr/>
        </p:nvSpPr>
        <p:spPr>
          <a:xfrm>
            <a:off x="7420356" y="1828800"/>
            <a:ext cx="3899916" cy="384048"/>
          </a:xfrm>
          <a:prstGeom prst="rect">
            <a:avLst/>
          </a:prstGeom>
          <a:noFill/>
          <a:ln/>
        </p:spPr>
        <p:txBody>
          <a:bodyPr wrap="square" lIns="0" tIns="0" rIns="0" bIns="0" rtlCol="0" anchor="t"/>
          <a:lstStyle/>
          <a:p>
            <a:pPr indent="0" marL="0">
              <a:buNone/>
            </a:pPr>
            <a:r>
              <a:rPr lang="en-US" sz="2000" b="1" dirty="0">
                <a:solidFill>
                  <a:schemeClr val="bg1"/>
                </a:solidFill>
              </a:rPr>
              <a:t>Höhere Qualität</a:t>
            </a:r>
            <a:endParaRPr lang="en-US" sz="2000" dirty="0"/>
          </a:p>
        </p:txBody>
      </p:sp>
      <p:sp>
        <p:nvSpPr>
          <p:cNvPr id="12" name="Text 8"/>
          <p:cNvSpPr txBox="1"/>
          <p:nvPr/>
        </p:nvSpPr>
        <p:spPr>
          <a:xfrm>
            <a:off x="7420356" y="2267712"/>
            <a:ext cx="3899916" cy="822960"/>
          </a:xfrm>
          <a:prstGeom prst="rect">
            <a:avLst/>
          </a:prstGeom>
          <a:noFill/>
          <a:ln/>
        </p:spPr>
        <p:txBody>
          <a:bodyPr wrap="square" lIns="0" tIns="0" rIns="0" bIns="0" rtlCol="0" anchor="t"/>
          <a:lstStyle/>
          <a:p>
            <a:pPr indent="0" marL="0">
              <a:buNone/>
            </a:pPr>
            <a:r>
              <a:rPr lang="en-US" sz="1500" dirty="0">
                <a:solidFill>
                  <a:srgbClr val="B9C8CF"/>
                </a:solidFill>
              </a:rPr>
              <a:t>Jede Probe durchläuft dieselben automatischen Prüfungen: Blanks, Standards, Doppelbestimmung.</a:t>
            </a:r>
            <a:endParaRPr lang="en-US" sz="1500" dirty="0"/>
          </a:p>
        </p:txBody>
      </p:sp>
      <p:sp>
        <p:nvSpPr>
          <p:cNvPr id="13" name="Shape 9"/>
          <p:cNvSpPr/>
          <p:nvPr/>
        </p:nvSpPr>
        <p:spPr>
          <a:xfrm>
            <a:off x="640080" y="3520440"/>
            <a:ext cx="5317236" cy="1691640"/>
          </a:xfrm>
          <a:prstGeom prst="roundRect">
            <a:avLst>
              <a:gd name="adj" fmla="val 4324"/>
            </a:avLst>
          </a:prstGeom>
          <a:solidFill>
            <a:srgbClr val="18303D"/>
          </a:solidFill>
          <a:ln/>
        </p:spPr>
      </p:sp>
      <p:sp>
        <p:nvSpPr>
          <p:cNvPr id="14" name="Shape 10"/>
          <p:cNvSpPr/>
          <p:nvPr/>
        </p:nvSpPr>
        <p:spPr>
          <a:xfrm>
            <a:off x="960120" y="3840480"/>
            <a:ext cx="640080" cy="640080"/>
          </a:xfrm>
          <a:prstGeom prst="ellipse">
            <a:avLst/>
          </a:prstGeom>
          <a:solidFill>
            <a:srgbClr val="24485A"/>
          </a:solidFill>
          <a:ln/>
        </p:spPr>
      </p:sp>
      <p:pic>
        <p:nvPicPr>
          <p:cNvPr id="15" name="Image 2" descr="Symbol">    </p:cNvPr>
          <p:cNvPicPr>
            <a:picLocks noChangeAspect="1"/>
          </p:cNvPicPr>
          <p:nvPr/>
        </p:nvPicPr>
        <p:blipFill>
          <a:blip r:embed="rId3"/>
          <a:stretch>
            <a:fillRect/>
          </a:stretch>
        </p:blipFill>
        <p:spPr>
          <a:xfrm>
            <a:off x="1100938" y="3981298"/>
            <a:ext cx="358445" cy="358445"/>
          </a:xfrm>
          <a:prstGeom prst="rect">
            <a:avLst/>
          </a:prstGeom>
        </p:spPr>
      </p:pic>
      <p:sp>
        <p:nvSpPr>
          <p:cNvPr id="16" name="Text 11"/>
          <p:cNvSpPr txBox="1"/>
          <p:nvPr/>
        </p:nvSpPr>
        <p:spPr>
          <a:xfrm>
            <a:off x="1828800" y="3794760"/>
            <a:ext cx="3899916" cy="384048"/>
          </a:xfrm>
          <a:prstGeom prst="rect">
            <a:avLst/>
          </a:prstGeom>
          <a:noFill/>
          <a:ln/>
        </p:spPr>
        <p:txBody>
          <a:bodyPr wrap="square" lIns="0" tIns="0" rIns="0" bIns="0" rtlCol="0" anchor="t"/>
          <a:lstStyle/>
          <a:p>
            <a:pPr indent="0" marL="0">
              <a:buNone/>
            </a:pPr>
            <a:r>
              <a:rPr lang="en-US" sz="2000" b="1" dirty="0">
                <a:solidFill>
                  <a:schemeClr val="bg1"/>
                </a:solidFill>
              </a:rPr>
              <a:t>Weniger Übertragungsfehler</a:t>
            </a:r>
            <a:endParaRPr lang="en-US" sz="2000" dirty="0"/>
          </a:p>
        </p:txBody>
      </p:sp>
      <p:sp>
        <p:nvSpPr>
          <p:cNvPr id="17" name="Text 12"/>
          <p:cNvSpPr txBox="1"/>
          <p:nvPr/>
        </p:nvSpPr>
        <p:spPr>
          <a:xfrm>
            <a:off x="1828800" y="4233672"/>
            <a:ext cx="3899916" cy="822960"/>
          </a:xfrm>
          <a:prstGeom prst="rect">
            <a:avLst/>
          </a:prstGeom>
          <a:noFill/>
          <a:ln/>
        </p:spPr>
        <p:txBody>
          <a:bodyPr wrap="square" lIns="0" tIns="0" rIns="0" bIns="0" rtlCol="0" anchor="t"/>
          <a:lstStyle/>
          <a:p>
            <a:pPr indent="0" marL="0">
              <a:buNone/>
            </a:pPr>
            <a:r>
              <a:rPr lang="en-US" sz="1500" dirty="0">
                <a:solidFill>
                  <a:srgbClr val="B9C8CF"/>
                </a:solidFill>
              </a:rPr>
              <a:t>Kein Abtippen, Kopieren oder Nacharbeiten in Excel – jede Änderung bleibt nachvollziehbar.</a:t>
            </a:r>
            <a:endParaRPr lang="en-US" sz="1500" dirty="0"/>
          </a:p>
        </p:txBody>
      </p:sp>
      <p:sp>
        <p:nvSpPr>
          <p:cNvPr id="18" name="Shape 13"/>
          <p:cNvSpPr/>
          <p:nvPr/>
        </p:nvSpPr>
        <p:spPr>
          <a:xfrm>
            <a:off x="6231636" y="3520440"/>
            <a:ext cx="5317236" cy="1691640"/>
          </a:xfrm>
          <a:prstGeom prst="roundRect">
            <a:avLst>
              <a:gd name="adj" fmla="val 4324"/>
            </a:avLst>
          </a:prstGeom>
          <a:solidFill>
            <a:srgbClr val="18303D"/>
          </a:solidFill>
          <a:ln/>
        </p:spPr>
      </p:sp>
      <p:sp>
        <p:nvSpPr>
          <p:cNvPr id="19" name="Shape 14"/>
          <p:cNvSpPr/>
          <p:nvPr/>
        </p:nvSpPr>
        <p:spPr>
          <a:xfrm>
            <a:off x="6551676" y="3840480"/>
            <a:ext cx="640080" cy="640080"/>
          </a:xfrm>
          <a:prstGeom prst="ellipse">
            <a:avLst/>
          </a:prstGeom>
          <a:solidFill>
            <a:srgbClr val="24485A"/>
          </a:solidFill>
          <a:ln/>
        </p:spPr>
      </p:sp>
      <p:pic>
        <p:nvPicPr>
          <p:cNvPr id="20" name="Image 3" descr="Symbol">    </p:cNvPr>
          <p:cNvPicPr>
            <a:picLocks noChangeAspect="1"/>
          </p:cNvPicPr>
          <p:nvPr/>
        </p:nvPicPr>
        <p:blipFill>
          <a:blip r:embed="rId4"/>
          <a:stretch>
            <a:fillRect/>
          </a:stretch>
        </p:blipFill>
        <p:spPr>
          <a:xfrm>
            <a:off x="6692494" y="3981298"/>
            <a:ext cx="358445" cy="358445"/>
          </a:xfrm>
          <a:prstGeom prst="rect">
            <a:avLst/>
          </a:prstGeom>
        </p:spPr>
      </p:pic>
      <p:sp>
        <p:nvSpPr>
          <p:cNvPr id="21" name="Text 15"/>
          <p:cNvSpPr txBox="1"/>
          <p:nvPr/>
        </p:nvSpPr>
        <p:spPr>
          <a:xfrm>
            <a:off x="7420356" y="3794760"/>
            <a:ext cx="3899916" cy="384048"/>
          </a:xfrm>
          <a:prstGeom prst="rect">
            <a:avLst/>
          </a:prstGeom>
          <a:noFill/>
          <a:ln/>
        </p:spPr>
        <p:txBody>
          <a:bodyPr wrap="square" lIns="0" tIns="0" rIns="0" bIns="0" rtlCol="0" anchor="t"/>
          <a:lstStyle/>
          <a:p>
            <a:pPr indent="0" marL="0">
              <a:buNone/>
            </a:pPr>
            <a:r>
              <a:rPr lang="en-US" sz="2000" b="1" dirty="0">
                <a:solidFill>
                  <a:schemeClr val="bg1"/>
                </a:solidFill>
              </a:rPr>
              <a:t>Erweiterbar</a:t>
            </a:r>
            <a:endParaRPr lang="en-US" sz="2000" dirty="0"/>
          </a:p>
        </p:txBody>
      </p:sp>
      <p:sp>
        <p:nvSpPr>
          <p:cNvPr id="22" name="Text 16"/>
          <p:cNvSpPr txBox="1"/>
          <p:nvPr/>
        </p:nvSpPr>
        <p:spPr>
          <a:xfrm>
            <a:off x="7420356" y="4233672"/>
            <a:ext cx="3899916" cy="822960"/>
          </a:xfrm>
          <a:prstGeom prst="rect">
            <a:avLst/>
          </a:prstGeom>
          <a:noFill/>
          <a:ln/>
        </p:spPr>
        <p:txBody>
          <a:bodyPr wrap="square" lIns="0" tIns="0" rIns="0" bIns="0" rtlCol="0" anchor="t"/>
          <a:lstStyle/>
          <a:p>
            <a:pPr indent="0" marL="0">
              <a:buNone/>
            </a:pPr>
            <a:r>
              <a:rPr lang="en-US" sz="1500" dirty="0">
                <a:solidFill>
                  <a:srgbClr val="B9C8CF"/>
                </a:solidFill>
              </a:rPr>
              <a:t>Weitere Methoden, Geräte und Report-Vorlagen lassen sich ergänzen.</a:t>
            </a:r>
            <a:endParaRPr lang="en-US" sz="1500" dirty="0"/>
          </a:p>
        </p:txBody>
      </p:sp>
      <p:sp>
        <p:nvSpPr>
          <p:cNvPr id="23" name="Text 17"/>
          <p:cNvSpPr txBox="1"/>
          <p:nvPr/>
        </p:nvSpPr>
        <p:spPr>
          <a:xfrm>
            <a:off x="640080" y="5669280"/>
            <a:ext cx="7315200" cy="365760"/>
          </a:xfrm>
          <a:prstGeom prst="rect">
            <a:avLst/>
          </a:prstGeom>
          <a:noFill/>
          <a:ln/>
        </p:spPr>
        <p:txBody>
          <a:bodyPr wrap="square" lIns="0" tIns="0" rIns="0" bIns="0" rtlCol="0" anchor="t"/>
          <a:lstStyle/>
          <a:p>
            <a:pPr indent="0" marL="0">
              <a:buNone/>
            </a:pPr>
            <a:r>
              <a:rPr lang="en-US" sz="1600" dirty="0">
                <a:solidFill>
                  <a:schemeClr val="accent6"/>
                </a:solidFill>
              </a:rPr>
              <a:t>Fragen und Feedback sind willkommen.</a:t>
            </a:r>
            <a:endParaRPr lang="en-US" sz="1600" dirty="0"/>
          </a:p>
        </p:txBody>
      </p:sp>
    </p:spTree>
  </p:cSld>
  <p:clrMapOvr>
    <a:masterClrMapping/>
  </p:clrMapOvr>
</p:sld>
</file>

<file path=ppt/theme/theme1.xml><?xml version="1.0" encoding="utf-8"?>
<a:theme xmlns:a="http://schemas.openxmlformats.org/drawingml/2006/main" name="GC Workspace">
  <a:themeElements>
    <a:clrScheme name="GC Workspace">
      <a:dk1>
        <a:srgbClr val="0F1C24"/>
      </a:dk1>
      <a:lt1>
        <a:srgbClr val="FFFFFF"/>
      </a:lt1>
      <a:dk2>
        <a:srgbClr val="1B4B5E"/>
      </a:dk2>
      <a:lt2>
        <a:srgbClr val="EEF4F6"/>
      </a:lt2>
      <a:accent1>
        <a:srgbClr val="1F7A99"/>
      </a:accent1>
      <a:accent2>
        <a:srgbClr val="D55E00"/>
      </a:accent2>
      <a:accent3>
        <a:srgbClr val="2E8B57"/>
      </a:accent3>
      <a:accent4>
        <a:srgbClr val="E0A82E"/>
      </a:accent4>
      <a:accent5>
        <a:srgbClr val="C8414B"/>
      </a:accent5>
      <a:accent6>
        <a:srgbClr val="7CC8E0"/>
      </a:accent6>
      <a:hlink>
        <a:srgbClr val="1F7A99"/>
      </a:hlink>
      <a:folHlink>
        <a:srgbClr val="1B4B5E"/>
      </a:folHlink>
    </a:clrScheme>
    <a:fontScheme name="GC Workspa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 Workspace – Feature-Überblick</dc:title>
  <dc:subject>PptxGenJS Presentation</dc:subject>
  <dc:creator>Budischowsky</dc:creator>
  <cp:lastModifiedBy>Budischowsky</cp:lastModifiedBy>
  <cp:revision>1</cp:revision>
  <dcterms:created xsi:type="dcterms:W3CDTF">2026-10-11T08:20:31Z</dcterms:created>
  <dcterms:modified xsi:type="dcterms:W3CDTF">2026-10-11T08:20:31Z</dcterms:modified>
</cp:coreProperties>
</file>